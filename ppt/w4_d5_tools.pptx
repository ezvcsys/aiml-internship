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1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bcc5f64fdca45d40a9d188f028fc5a3b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303B">
              <a:alpha val="6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2743200"/>
            <a:ext cx="9144000" cy="2400300"/>
          </a:xfrm>
          <a:prstGeom prst="rect">
            <a:avLst/>
          </a:prstGeom>
          <a:solidFill>
            <a:srgbClr val="2B303B">
              <a:alpha val="8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 ONBOARDING  ·  AI ENGINEERING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with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</a:t>
            </a:r>
            <a:r>
              <a:rPr lang="en-US" sz="2200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r>
              <a:rPr lang="en-US" sz="2200" b="1" dirty="0">
                <a:solidFill>
                  <a:srgbClr val="4F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r>
              <a:rPr lang="en-US" sz="2200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r>
              <a:rPr lang="en-US" sz="22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Databases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to how modern AI applications are built — from raw language models to retrieval-powered assistants.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Onboarding Series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learning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2296" cy="14173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0664" y="18379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0664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013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Language Models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952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 and how they predict text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160020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82296" cy="141732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57016" y="1837944"/>
            <a:ext cx="365760" cy="365760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57016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50792" y="18013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LLMs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75304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Prompting, strengths, and real limitations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1600200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35624" y="1600200"/>
            <a:ext cx="82296" cy="14173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73368" y="18379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73368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7144" y="18013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91656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that orchestrates everything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3273552"/>
            <a:ext cx="82296" cy="141732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40664" y="3511296"/>
            <a:ext cx="365760" cy="365760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0664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4747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8952" y="402336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text into meaning-rich numbers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19272" y="3273552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319272" y="3273552"/>
            <a:ext cx="82296" cy="14173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557016" y="35112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57016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50792" y="34747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Databases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75304" y="402336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searching by similarity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35624" y="3273552"/>
            <a:ext cx="26151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135624" y="3273552"/>
            <a:ext cx="82296" cy="141732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73368" y="3511296"/>
            <a:ext cx="365760" cy="365760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73368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67144" y="34747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RAG, End-to-End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391656" y="402336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it all into a smart assistant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Large Language Model?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160520" cy="2926080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160520" cy="82296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program trained on enormous amounts of text that learns to </a:t>
            </a: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word</a:t>
            </a:r>
            <a:r>
              <a:rPr lang="en-US" sz="15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by doing that incredibly well, it can write, summarize, answer, and reason.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38928" y="1801368"/>
            <a:ext cx="384048" cy="384048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3892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16733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on huge 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965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code, and websites — billions of examples of human language.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569464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38928" y="2816352"/>
            <a:ext cx="384048" cy="384048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3892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26883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Predicts, doesn't "know"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98094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the most likely next token, one piece at a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584448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3831336"/>
            <a:ext cx="384048" cy="384048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3892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0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General-purpose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9959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handles many tasks with no task-specific programming.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an LLM generate text?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420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42032" cy="5669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text is split into small chunks called tokens (words or word-pieces).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26664" y="1783080"/>
            <a:ext cx="411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56432" y="1783080"/>
            <a:ext cx="25420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56432" y="1783080"/>
            <a:ext cx="2542032" cy="566928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85032" y="190195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5032" y="24963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85032" y="28803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(the transformer) scores which token is most likely to come next.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0176" y="1783080"/>
            <a:ext cx="411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9944" y="1783080"/>
            <a:ext cx="25420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9944" y="1783080"/>
            <a:ext cx="2542032" cy="5669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38544" y="190195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38544" y="24963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38544" y="28803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a token, adds it to the text, and repeats — building the answer word by word.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8138160" cy="713232"/>
          </a:xfrm>
          <a:prstGeom prst="rect">
            <a:avLst/>
          </a:prstGeom>
          <a:solidFill>
            <a:srgbClr val="EFE7D6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406908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7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skill come from?  </a:t>
            </a: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teaches general language from raw text; fine-tuning then shapes the model to be helpful and follow instructions.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well — and knowing the limits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977640" cy="54864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8952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prompting habits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267712"/>
            <a:ext cx="34290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7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3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exactly what you want and the format.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37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3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relevant facts it needs to answer.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37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</a:t>
            </a:r>
            <a:endParaRPr lang="en-US" sz="13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input and ideal output guides the style.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37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role</a:t>
            </a:r>
            <a:endParaRPr lang="en-US" sz="13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helpful tutor…" steers tone and depth.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77640" cy="3127248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77640" cy="5486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19472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to remember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6048" y="2267712"/>
            <a:ext cx="34290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state wrong things very confidently.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3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know events after its training date.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window</a:t>
            </a:r>
            <a:endParaRPr lang="en-US" sz="135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"see" so much text at once.</a:t>
            </a:r>
            <a:endParaRPr lang="en-US" sz="135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your data</a:t>
            </a:r>
            <a:endParaRPr lang="en-US" sz="13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box, it can't read your files or live systems.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LangChain?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1051560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2296" cy="105156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a framework that connects an LLM to everything around it</a:t>
            </a:r>
            <a:r>
              <a:rPr lang="en-US" sz="150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data, external tools, memory, and multi-step logic — so you can build real applications, not just one-off chats.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exists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261518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664" y="339242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0664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6152" y="33741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Glue between pieces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867912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models, data, and tools into one workflow.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3154680"/>
            <a:ext cx="261518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57016" y="339242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57016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32504" y="33741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components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75304" y="3867912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building blocks instead of custom plumbing.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35624" y="3154680"/>
            <a:ext cx="261518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373368" y="339242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7336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48856" y="3374136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fast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91656" y="3867912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like chatbots and RAG are ready to use.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building blocks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15184" cy="82296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0664" y="17556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0664" y="215798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LLMs (and embedding models) you call.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19272" y="1554480"/>
            <a:ext cx="2615184" cy="82296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57016" y="17556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7016" y="215798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that fill in variables.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35624" y="1554480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35624" y="1554480"/>
            <a:ext cx="2615184" cy="82296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73368" y="17556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3368" y="215798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linked together into a pipeline.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2615184" cy="82296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0664" y="33284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" y="373075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conversation remember earlier turns.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19272" y="3127248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319272" y="3127248"/>
            <a:ext cx="2615184" cy="82296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57016" y="33284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57016" y="373075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relevant documents from your data.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35624" y="3127248"/>
            <a:ext cx="26151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35624" y="3127248"/>
            <a:ext cx="2615184" cy="82296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73368" y="33284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&amp; Tools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3368" y="373075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LLM decide and call external actions.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 AS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embeddings?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turns a piece of text into a list of numbers (a vector) that captures its </a:t>
            </a:r>
            <a:r>
              <a:rPr lang="en-US" sz="1450" b="1" dirty="0">
                <a:solidFill>
                  <a:srgbClr val="C07F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73152" cy="713232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0664" y="2304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 meaning, similar vector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25968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"dog" and "puppy" land close together; "car" is far away.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0358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73152" cy="713232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0664" y="3127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Created by a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reads text and outputs the numbers.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87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73152" cy="713232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0664" y="3950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Enables search by meaning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4242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vectors to find related content — not just keywords.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64608" y="1572768"/>
            <a:ext cx="3776472" cy="3108960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/agent/turn1/workspace/images/image-f3458af08ddb728ca2f44195fa9b67b5.jpg"/>
          <p:cNvPicPr>
            <a:picLocks noChangeAspect="1"/>
          </p:cNvPicPr>
          <p:nvPr/>
        </p:nvPicPr>
        <p:blipFill>
          <a:blip r:embed="rId3"/>
          <a:srcRect l="1696" r="1696"/>
          <a:stretch/>
        </p:blipFill>
        <p:spPr>
          <a:xfrm>
            <a:off x="4864608" y="1572768"/>
            <a:ext cx="3776472" cy="2606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56048" y="420624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that mean similar things cluster together in space.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&amp; 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vector database?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868680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2296" cy="8686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09344"/>
            <a:ext cx="7680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 stores millions of embeddings and finds the closest ones to a query — fast. </a:t>
            </a:r>
            <a:r>
              <a:rPr lang="en-US" sz="140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"memory" your AI app searches through.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22376" y="280720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22376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2728" y="26609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Similarity 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52728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items whose vectors are nearest to your query vector.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542032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82896" y="2807208"/>
            <a:ext cx="384048" cy="384048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82896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13248" y="26609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Approximate (ANN)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indexing finds close matches in milliseconds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02736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2376" y="386791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2376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52728" y="3721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filters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52728" y="4032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meaning search with filters like date or category.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602736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882896" y="3867912"/>
            <a:ext cx="384048" cy="384048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82896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13248" y="3721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to millions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4032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store and serve very large collections of vectors.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 vector databases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8138160" cy="457200"/>
          </a:xfrm>
          <a:prstGeom prst="rect">
            <a:avLst/>
          </a:prstGeom>
          <a:solidFill>
            <a:srgbClr val="2B30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7512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04872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0872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7512" y="2029968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Pinecone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04872" y="2029968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202996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apps with zero ops overhead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8138160" cy="484632"/>
          </a:xfrm>
          <a:prstGeom prst="rect">
            <a:avLst/>
          </a:prstGeom>
          <a:solidFill>
            <a:srgbClr val="FBF9F4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7512" y="251460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Weaviate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04872" y="251460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+ cloud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0872" y="2514600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hybrid (keyword + vector) 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7512" y="299923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04872" y="2999232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/ local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2999232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prototypes and learning projects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483864"/>
            <a:ext cx="8138160" cy="484632"/>
          </a:xfrm>
          <a:prstGeom prst="rect">
            <a:avLst/>
          </a:prstGeom>
          <a:solidFill>
            <a:srgbClr val="FBF9F4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" y="348386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04872" y="3483864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(Meta)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0872" y="3483864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 search you embed in your code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68496"/>
            <a:ext cx="81381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7512" y="3968496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pgvector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04872" y="3968496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extension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90872" y="3968496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vectors to an existing SQL 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 the same core job — store vectors and search by similarity. Pick based on scale, ops, and whether you want managed or self-hosted.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114800" cy="3108960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4114800" cy="82296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 in plain words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LLM answers, we </a:t>
            </a: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relevant facts</a:t>
            </a:r>
            <a:r>
              <a:rPr lang="en-US" sz="15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your own data and hand them to the model as context. The LLM then answers using </a:t>
            </a:r>
            <a:r>
              <a:rPr lang="en-US" sz="1500" b="1" dirty="0">
                <a:solidFill>
                  <a:srgbClr val="4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facts</a:t>
            </a:r>
            <a:r>
              <a:rPr lang="en-US" sz="15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its memory.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teams use RAG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993392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10912" y="2139696"/>
            <a:ext cx="310896" cy="310896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10912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9933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hallucinations  </a:t>
            </a: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retrieved, real content.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706624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10912" y="2852928"/>
            <a:ext cx="310896" cy="310896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10912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13248" y="270662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 to date  </a:t>
            </a: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data, not the model, to add new knowledge.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3419856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10912" y="3566160"/>
            <a:ext cx="310896" cy="310896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10912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13248" y="341985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domain  </a:t>
            </a: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 your docs, wikis, and private data.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4133088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10912" y="4279392"/>
            <a:ext cx="310896" cy="310896"/>
          </a:xfrm>
          <a:prstGeom prst="ellipse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10912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413308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cite sources  </a:t>
            </a: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each answer came from — building trust.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RAG pipeline, step by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INDEX YOUR DATA  (done ahead of time)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18836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1883664" cy="640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225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86584" y="18105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87752" y="1810512"/>
            <a:ext cx="18836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87752" y="1810512"/>
            <a:ext cx="1883664" cy="640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87752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7752" y="23225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pieces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71416" y="18105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72584" y="1810512"/>
            <a:ext cx="18836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72584" y="1810512"/>
            <a:ext cx="1883664" cy="640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72584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72584" y="23225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6248" y="18105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57416" y="1810512"/>
            <a:ext cx="18836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757416" y="1810512"/>
            <a:ext cx="1883664" cy="640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57416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57416" y="23225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vector 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999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775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ANSWER A QUESTION  (at runtime)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328416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328416"/>
            <a:ext cx="1481328" cy="64008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4747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38221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84248" y="3328416"/>
            <a:ext cx="150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75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35124" y="3328416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135124" y="3328416"/>
            <a:ext cx="1481328" cy="64008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135124" y="34747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135124" y="38221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16452" y="3328416"/>
            <a:ext cx="150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75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67328" y="3328416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767328" y="3328416"/>
            <a:ext cx="1481328" cy="64008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767328" y="34747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767328" y="38221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48656" y="3328416"/>
            <a:ext cx="150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75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99532" y="3328416"/>
            <a:ext cx="14813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99532" y="3328416"/>
            <a:ext cx="1481328" cy="64008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99532" y="34747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399532" y="38221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80860" y="3328416"/>
            <a:ext cx="1508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75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31736" y="3328416"/>
            <a:ext cx="1481328" cy="914400"/>
          </a:xfrm>
          <a:prstGeom prst="rect">
            <a:avLst/>
          </a:prstGeom>
          <a:solidFill>
            <a:srgbClr val="2B303B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031736" y="3328416"/>
            <a:ext cx="1481328" cy="64008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031736" y="34747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031736" y="38221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wires these steps together so you don't build the plumbing by hand.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3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e792d3ea9c3e4d842441580c1fd09e3d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303B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PICTURE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75488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pieces work together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1883664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E8A33D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1883664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184708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" y="239572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86584" y="18288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633472" y="1828800"/>
            <a:ext cx="1883664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4FA39A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633472" y="1828800"/>
            <a:ext cx="1883664" cy="45720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33472" y="184708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61488" y="239572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steps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17136" y="18288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764024" y="1828800"/>
            <a:ext cx="1883664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E8A33D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764024" y="1828800"/>
            <a:ext cx="1883664" cy="4572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64024" y="184708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92040" y="239572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context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47688" y="1828800"/>
            <a:ext cx="246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894576" y="1828800"/>
            <a:ext cx="1883664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4FA39A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894576" y="1828800"/>
            <a:ext cx="1883664" cy="457200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894576" y="184708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22592" y="239572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answer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749040"/>
            <a:ext cx="8138160" cy="868680"/>
          </a:xfrm>
          <a:prstGeom prst="rect">
            <a:avLst/>
          </a:prstGeom>
          <a:solidFill>
            <a:srgbClr val="2B303B">
              <a:alpha val="82000"/>
            </a:srgbClr>
          </a:solidFill>
          <a:ln w="12700">
            <a:solidFill>
              <a:srgbClr val="4F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77240" y="382219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provides language skill, the vector database provides relevant knowledge, and LangChain is the conductor connecting them into one helpful application.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07F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where to go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2296" cy="9875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68249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predict text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they can be wrong and don't know your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82296" cy="987552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68249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connects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orchestrates models, data, memory, and tools.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82296" cy="9875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8163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Vectors capture meaning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31455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a vector DB enable search by similarity.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688336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2688336"/>
            <a:ext cx="82296" cy="987552"/>
          </a:xfrm>
          <a:prstGeom prst="rect">
            <a:avLst/>
          </a:prstGeom>
          <a:solidFill>
            <a:srgbClr val="4FA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28163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3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grounds answers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37760" y="31455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real context, then let the LLM generate.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8138160" cy="868680"/>
          </a:xfrm>
          <a:prstGeom prst="rect">
            <a:avLst/>
          </a:prstGeom>
          <a:solidFill>
            <a:srgbClr val="2B303B"/>
          </a:solidFill>
          <a:ln/>
          <a:effectLst>
            <a:outerShdw blurRad="88900" dist="38100" dir="5400000" algn="bl" rotWithShape="0">
              <a:srgbClr val="8C8273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82296" cy="8686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91363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step:  </a:t>
            </a:r>
            <a:r>
              <a:rPr lang="en-US" sz="13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tiny RAG app — load a few docs, embed them, store them, and ask questions. You'll learn more in an afternoon of building than a week of reading.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4964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LangChain · Vector DBs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1290</Words>
  <Application>Microsoft Office PowerPoint</Application>
  <PresentationFormat>On-screen Show (16:9)</PresentationFormat>
  <Paragraphs>251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2026-06-12T05:34:02Z</dcterms:created>
  <dcterms:modified xsi:type="dcterms:W3CDTF">2026-06-12T08:47:10Z</dcterms:modified>
</cp:coreProperties>
</file>