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85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734c606159b8f9317580bf653992d79e.jpg"/>
          <p:cNvPicPr>
            <a:picLocks noChangeAspect="1"/>
          </p:cNvPicPr>
          <p:nvPr/>
        </p:nvPicPr>
        <p:blipFill>
          <a:blip r:embed="rId3">
            <a:alphaModFix amt="92000"/>
          </a:blip>
          <a:srcRect l="23333" r="23333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A1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2296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STUDENT'S INTRODUCTION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5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D6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modern AI creates new content — plus a tour of the models, frameworks, and platforms shaping the field today.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457200" cy="457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· Models · Tools · Responsible use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artificial intelligence that creates brand-new content — text, images, code, audio, or video — instead of just sorting or scoring data that already exists.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EDE6FB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(DISCRIMINATIVE)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boundaries between categories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 or not spam?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predicts, and scores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data that already exists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6D28D9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977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2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something entirely new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2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an email that fits this brief”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2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token-by-token or pixel-by-pixel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F2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novel outputs, not lookups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Things GenAI Can Create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95681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35024" y="2377440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3502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34290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Essays, summaries, answers, translation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71216" y="201168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71216" y="2011680"/>
            <a:ext cx="195681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66160" y="2377440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62656" y="3063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35808" y="34290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Art, designs, and photorealistic visuals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02352" y="201168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02352" y="2011680"/>
            <a:ext cx="195681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797296" y="2377440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9729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93792" y="3063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66944" y="34290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scripts, and debugging help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33488" y="201168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33488" y="2011680"/>
            <a:ext cx="195681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28432" y="2377440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02843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24928" y="3063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98080" y="34290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music, and voice cloning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564624" y="201168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564624" y="2011680"/>
            <a:ext cx="1956816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259568" y="2377440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25956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56064" y="3063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29216" y="342900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clips and animated scenes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05840" y="5074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$1.3T</a:t>
            </a:r>
            <a:r>
              <a:rPr lang="en-US" sz="1700" dirty="0">
                <a:solidFill>
                  <a:srgbClr val="D6CC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projected global value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6766560" y="5074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 power most of it: transformers for text &amp; code, and diffusion models for images &amp; video.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Large Language Models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core, an LLM is a </a:t>
            </a: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predictor</a:t>
            </a:r>
            <a:r>
              <a:rPr lang="en-US" sz="18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Given some text, it guesses the most likely next chunk — over and over.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“The capital of France is ___”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377647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E3D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0" y="3776472"/>
            <a:ext cx="2523744" cy="310896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749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0" y="443484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E3D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0" y="44348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74920" y="4361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020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286000" y="5093208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E3D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0" y="50932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74920" y="5020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3154680"/>
            <a:ext cx="512064" cy="51206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35040" y="3154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75120" y="31089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tokens (~4 chars each)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035040" y="3867912"/>
            <a:ext cx="512064" cy="51206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3867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75120" y="382219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token into a vector of numbers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035040" y="4581144"/>
            <a:ext cx="512064" cy="51206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3504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75120" y="453542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how tokens relate to each other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035040" y="5294376"/>
            <a:ext cx="512064" cy="51206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675120" y="524865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probabilities for the next token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TO GENERATE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Models Are Trained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built in stages — from broad pattern-learning to following instructions the way people expect.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603504" cy="6035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365760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4343400"/>
            <a:ext cx="19682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trillions of tokens from books, websites &amp; code; learn to predict the next token.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74670" y="39319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40430" y="256032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14750" y="2880360"/>
            <a:ext cx="603504" cy="6035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14750" y="2880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96462" y="365760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96462" y="4343400"/>
            <a:ext cx="19682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on a narrower domain such as medicine, law, or customer support.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5020" y="39319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40780" y="256032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5100" y="2880360"/>
            <a:ext cx="603504" cy="6035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15100" y="2880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6812" y="365760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 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6812" y="4343400"/>
            <a:ext cx="19682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to follow commands like “summarize this” or “write code”.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75370" y="39319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041130" y="2560320"/>
            <a:ext cx="2480310" cy="329184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315450" y="2880360"/>
            <a:ext cx="603504" cy="6035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315450" y="2880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97162" y="365760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RLHF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97162" y="4343400"/>
            <a:ext cx="19682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human feedback to rank answers so responses align with what people prefer.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TALKING TO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Basics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clear communication, not coding. Three basics deliver most of the quality.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18872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24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who to be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24328"/>
            <a:ext cx="4206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i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product review analyst.”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18872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813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to 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813048"/>
            <a:ext cx="4206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i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“Classify this review as positive or negative.”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18872" cy="9601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5001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output shape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5001768"/>
            <a:ext cx="4206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i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“Return only a JSON object.”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818120" y="2514600"/>
            <a:ext cx="3703320" cy="3337560"/>
          </a:xfrm>
          <a:prstGeom prst="roundRect">
            <a:avLst>
              <a:gd name="adj" fmla="val 2740"/>
            </a:avLst>
          </a:prstGeom>
          <a:solidFill>
            <a:srgbClr val="6D28D9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924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D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STYLES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320040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00" dirty="0"/>
          </a:p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directly, no examples.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00" dirty="0"/>
          </a:p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few examples to set a pattern.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0D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reason step by step.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Models: The Big Families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 is one huge, general-purpose model trained on broad data, then adapted to many tasks.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2514600" cy="822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reach; powers ChatGPT and many apps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29000" y="25146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29000" y="2514600"/>
            <a:ext cx="2514600" cy="822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20440" y="2624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9319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 and coding; long context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2514600"/>
            <a:ext cx="2514600" cy="822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2624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9319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multimodal with very long context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06840" y="251460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06840" y="2514600"/>
            <a:ext cx="2514600" cy="822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098280" y="2624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982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39319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Open-weight; free to self-host and customize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(Llama, DeepSeek, Mistral) can run on your own hardware; frontier closed models are accessed by API.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APPS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Frameworks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are the “plumbing” that connect a model to data, tools, memory, and other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413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852928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ALL-ROUNDER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integrations and LangGraph for agent workflows — maximum flexibility.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73880" y="2560320"/>
            <a:ext cx="3413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48200" y="2852928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4820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34000" y="28346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LlamaIndex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48200" y="361188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DATA-FIRST 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8200" y="402336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connecting models to your documents: ingest, index, retrieve.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7680" y="2560320"/>
            <a:ext cx="3413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82000" y="2852928"/>
            <a:ext cx="566928" cy="566928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8200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67800" y="28346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Kernel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2000" y="361188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SDK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82000" y="402336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framework with strong C#, Java &amp; .NET support.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RUNS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AI Platforms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clouds offer managed services to run models securely at scale. The best pick usually matches where your data already lives.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413760" cy="3200400"/>
          </a:xfrm>
          <a:prstGeom prst="roundRect">
            <a:avLst>
              <a:gd name="adj" fmla="val 2857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413760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GPT models plus Microsoft-stack security and compliance.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3880" y="2606040"/>
            <a:ext cx="3413760" cy="3200400"/>
          </a:xfrm>
          <a:prstGeom prst="roundRect">
            <a:avLst>
              <a:gd name="adj" fmla="val 2857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73880" y="2606040"/>
            <a:ext cx="3413760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48200" y="29718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Bedrock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48200" y="34747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8200" y="397764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for many models — Claude, Llama, Mistral, Titan — easy to swap.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7680" y="2606040"/>
            <a:ext cx="3413760" cy="3200400"/>
          </a:xfrm>
          <a:prstGeom prst="roundRect">
            <a:avLst>
              <a:gd name="adj" fmla="val 2857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07680" y="2606040"/>
            <a:ext cx="3413760" cy="11887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82000" y="29718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Vertex AI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82000" y="34747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397764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with very long context and tight BigQuery data integration.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TOOLBOX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Tooling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2322576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04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 Face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“GitHub of AI” — thousands of open models, datasets, and the Transformers library.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56248" y="2322576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56248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04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Chroma, FAISS &amp; Qdrant store embeddings for fast semantic search.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32688" y="4425696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like LoRA &amp; QLoRA cheaply adapt a model to your own data.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56248" y="4425696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56248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that filter toxic content, catch hallucinations &amp; redact private data.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ANSWERS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Retrieval-Augmented Generation (RAG)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lets a model look things up in your own knowledge base before answering — grounding responses in real sources.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EDE6FB"/>
          </a:solidFill>
          <a:ln/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19431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4660" y="269748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34740" y="269748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EDE6FB"/>
          </a:solidFill>
          <a:ln/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26180" y="2697480"/>
            <a:ext cx="19431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269748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0" y="269748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EDE6FB"/>
          </a:solidFill>
          <a:ln/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19431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 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26780" y="269748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66860" y="2697480"/>
            <a:ext cx="2125980" cy="1371600"/>
          </a:xfrm>
          <a:prstGeom prst="roundRect">
            <a:avLst>
              <a:gd name="adj" fmla="val 6667"/>
            </a:avLst>
          </a:prstGeom>
          <a:solidFill>
            <a:srgbClr val="6D28D9"/>
          </a:solidFill>
          <a:ln/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58300" y="2697480"/>
            <a:ext cx="19431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writes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answer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hallucinations by citing real sources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34840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up-to-date, domain-specific knowledge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955280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retraining the whole model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REAL WORLD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Use Cases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2677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&amp; summaries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emails, reports, and condense long documents in seconds.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3880" y="20116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73880" y="20116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93920" y="22677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help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93920" y="27889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explain, and debug code across many languages.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7680" y="20116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07680" y="20116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27720" y="22677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&amp; tutoring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27720" y="27889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explanations and practice at any level.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0120" y="43251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Chatbots &amp; support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0120" y="48463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customer questions around the clock.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73880" y="40690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73880" y="40690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93920" y="43251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media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693920" y="48463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images, music, and video from a prompt.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07680" y="4069080"/>
            <a:ext cx="3413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07680" y="4069080"/>
            <a:ext cx="118872" cy="17373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427720" y="432511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analysis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427720" y="48463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compare, and synthesize information fast.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THE LIMITS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Hallucinations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6D28D9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plausible-sounding answer that is simply wrong.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D6C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models predict likely text — not verified facts — always check important outputs.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93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know recent events unless connected to live data.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760720" y="2999232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8932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30906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bias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— including unfair ones — from training data.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760720" y="4078224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8932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416966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understanding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patterns; it doesn't “know” the way a person does.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760720" y="5157216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7F5FC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89320" y="5340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524865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  </a:t>
            </a:r>
            <a:r>
              <a:rPr lang="en-US" sz="13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and prompt-injection attacks are real risks.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IT WELL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&amp; Responsible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goal for trustworthy AI is to be: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13760" cy="1691640"/>
          </a:xfrm>
          <a:prstGeom prst="roundRect">
            <a:avLst>
              <a:gd name="adj" fmla="val 5405"/>
            </a:avLst>
          </a:prstGeom>
          <a:solidFill>
            <a:srgbClr val="EDE6FB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useful and on-task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3880" y="2331720"/>
            <a:ext cx="3413760" cy="1691640"/>
          </a:xfrm>
          <a:prstGeom prst="roundRect">
            <a:avLst>
              <a:gd name="adj" fmla="val 5405"/>
            </a:avLst>
          </a:prstGeom>
          <a:solidFill>
            <a:srgbClr val="EDE6FB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65320" y="26060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2480" y="320040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 and willing to say “I don't know”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7680" y="2331720"/>
            <a:ext cx="3413760" cy="1691640"/>
          </a:xfrm>
          <a:prstGeom prst="roundRect">
            <a:avLst>
              <a:gd name="adj" fmla="val 5405"/>
            </a:avLst>
          </a:prstGeom>
          <a:solidFill>
            <a:srgbClr val="EDE6FB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99120" y="260604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36280" y="320040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unsafe or unfair outcomes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D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HABITS FOR STUDENTS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029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 before you trust or cite them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5029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when work is AI-assisted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bias and unfair assumptions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private or sensitive data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NEXT 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Get Started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956816" cy="33832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98448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984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a chatbot — ChatGPT, Claude, or Gemini.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71216" y="2103120"/>
            <a:ext cx="1956816" cy="33832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29584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958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08376" y="3291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prompting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99816" y="388620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Role-Task-Format pattern on real tasks.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2352" y="2103120"/>
            <a:ext cx="1956816" cy="33832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60720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60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39512" y="3291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small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30952" y="388620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no-cost framework like LangChain on a tiny project.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33488" y="2103120"/>
            <a:ext cx="1956816" cy="33832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91856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99185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70648" y="3291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data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62088" y="388620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documents with a simple RAG pipeline.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564624" y="2103120"/>
            <a:ext cx="1956816" cy="338328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blurRad="114300" dist="38100" dir="5400000" algn="bl" rotWithShape="0">
              <a:srgbClr val="5B21B6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222992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2229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01784" y="3291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responsibly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793224" y="388620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outputs and respect privacy.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starting points: Google's Intro to GenAI, Microsoft's GenAI for Beginners, and the Prompt Engineering Guide.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35f65ba3a0c4d862b2b4c6d7b7e40e34.jpg"/>
          <p:cNvPicPr>
            <a:picLocks noChangeAspect="1"/>
          </p:cNvPicPr>
          <p:nvPr/>
        </p:nvPicPr>
        <p:blipFill>
          <a:blip r:embed="rId3">
            <a:alphaModFix amt="90000"/>
          </a:blip>
          <a:srcRect l="24749" r="24749"/>
          <a:stretch/>
        </p:blipFill>
        <p:spPr>
          <a:xfrm>
            <a:off x="0" y="0"/>
            <a:ext cx="5760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0" y="0"/>
            <a:ext cx="6400800" cy="6858000"/>
          </a:xfrm>
          <a:prstGeom prst="rect">
            <a:avLst/>
          </a:prstGeom>
          <a:solidFill>
            <a:srgbClr val="1A1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2179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7220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217920" y="2267712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1792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creates new content by predicting likely patterns.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3017520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179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0" y="2944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and training stages turn data into capability.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3767328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2179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36941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prompts are the key skill — Role, Task, Format.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4517136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1792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44439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frameworks, and clouds form a connected stack.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5266944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1792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5193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D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outputs and use AI responsibly.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21792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stay curious, and keep verifying.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1298</Words>
  <Application>Microsoft Office PowerPoint</Application>
  <PresentationFormat>Widescreen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2026-06-11T04:21:01Z</dcterms:created>
  <dcterms:modified xsi:type="dcterms:W3CDTF">2026-06-11T08:39:49Z</dcterms:modified>
</cp:coreProperties>
</file>