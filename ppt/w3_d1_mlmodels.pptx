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81820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FFB5A7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C3AED6">
              <a:alpha val="7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55448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4400" dirty="0"/>
          </a:p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Algorithms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828800" y="3291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Beginner's Guide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200400" y="4023360"/>
            <a:ext cx="2743200" cy="347472"/>
          </a:xfrm>
          <a:prstGeom prst="roundRect">
            <a:avLst>
              <a:gd name="adj" fmla="val 50000"/>
            </a:avLst>
          </a:prstGeom>
          <a:solidFill>
            <a:srgbClr val="E8735A">
              <a:alpha val="6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3200400" y="40233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Machine Learning?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E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computers to learn from data without being explicitly programmed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468880" cy="25603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554480" y="1965960"/>
            <a:ext cx="640080" cy="640080"/>
          </a:xfrm>
          <a:prstGeom prst="ellipse">
            <a:avLst/>
          </a:prstGeom>
          <a:solidFill>
            <a:srgbClr val="FFE0D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352" y="20848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 from Data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2004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find patterns in historical data to make predictions on new, unseen data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29000" y="1691640"/>
            <a:ext cx="2468880" cy="25603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343400" y="1965960"/>
            <a:ext cx="640080" cy="640080"/>
          </a:xfrm>
          <a:prstGeom prst="ellipse">
            <a:avLst/>
          </a:prstGeom>
          <a:solidFill>
            <a:srgbClr val="FFE0D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208483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Improve Over Time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657600" y="32004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get better as they are exposed to more data, without manual rule updates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217920" y="1691640"/>
            <a:ext cx="2468880" cy="25603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7132320" y="1965960"/>
            <a:ext cx="640080" cy="640080"/>
          </a:xfrm>
          <a:prstGeom prst="ellipse">
            <a:avLst/>
          </a:prstGeom>
          <a:solidFill>
            <a:srgbClr val="FFE0D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192" y="20848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2788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Automate Decisions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446520" y="320040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spam filters to recommendation engines — ML powers intelligent automation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 of Machine Learning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5E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focuses on supervised learning — the most common starting point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4846320" cy="301752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4846320" cy="777240"/>
          </a:xfrm>
          <a:prstGeom prst="roundRect">
            <a:avLst>
              <a:gd name="adj" fmla="val 17647"/>
            </a:avLst>
          </a:prstGeom>
          <a:solidFill>
            <a:srgbClr val="FFE0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4846320" cy="320040"/>
          </a:xfrm>
          <a:prstGeom prst="rect">
            <a:avLst/>
          </a:prstGeom>
          <a:solidFill>
            <a:srgbClr val="FFE0D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81051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Supervised Learning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25603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labeled data — the algorithm knows the correct answers during training and learns to predict them for new inputs.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200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873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Algorithms covered in this deck: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520440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97280" y="3502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4048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97280" y="38221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160520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41422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Trees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3520440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383280" y="35021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2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3840480"/>
            <a:ext cx="182880" cy="1828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3383280" y="382219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Machines</a:t>
            </a:r>
            <a:endParaRPr lang="en-US" sz="12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4160520"/>
            <a:ext cx="182880" cy="1828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3383280" y="41422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200" dirty="0"/>
          </a:p>
        </p:txBody>
      </p:sp>
      <p:sp>
        <p:nvSpPr>
          <p:cNvPr id="23" name="Shape 14"/>
          <p:cNvSpPr/>
          <p:nvPr/>
        </p:nvSpPr>
        <p:spPr>
          <a:xfrm>
            <a:off x="5760720" y="1645920"/>
            <a:ext cx="2926080" cy="301752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15"/>
          <p:cNvSpPr/>
          <p:nvPr/>
        </p:nvSpPr>
        <p:spPr>
          <a:xfrm>
            <a:off x="5760720" y="1645920"/>
            <a:ext cx="2926080" cy="777240"/>
          </a:xfrm>
          <a:prstGeom prst="roundRect">
            <a:avLst>
              <a:gd name="adj" fmla="val 17647"/>
            </a:avLst>
          </a:prstGeom>
          <a:solidFill>
            <a:srgbClr val="E8DF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16"/>
          <p:cNvSpPr/>
          <p:nvPr/>
        </p:nvSpPr>
        <p:spPr>
          <a:xfrm>
            <a:off x="5760720" y="2103120"/>
            <a:ext cx="2926080" cy="320040"/>
          </a:xfrm>
          <a:prstGeom prst="rect">
            <a:avLst/>
          </a:prstGeom>
          <a:solidFill>
            <a:srgbClr val="E8DFF0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1810512"/>
            <a:ext cx="365760" cy="36576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6446520" y="17830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Unsupervised</a:t>
            </a:r>
            <a:endParaRPr lang="en-US" sz="2000" dirty="0"/>
          </a:p>
        </p:txBody>
      </p:sp>
      <p:sp>
        <p:nvSpPr>
          <p:cNvPr id="28" name="Text 18"/>
          <p:cNvSpPr/>
          <p:nvPr/>
        </p:nvSpPr>
        <p:spPr>
          <a:xfrm>
            <a:off x="5989320" y="25603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hidden patterns in data without labels — the algorithm finds structure on its own.</a:t>
            </a:r>
            <a:endParaRPr lang="en-US" sz="1250" dirty="0"/>
          </a:p>
        </p:txBody>
      </p:sp>
      <p:sp>
        <p:nvSpPr>
          <p:cNvPr id="29" name="Text 19"/>
          <p:cNvSpPr/>
          <p:nvPr/>
        </p:nvSpPr>
        <p:spPr>
          <a:xfrm>
            <a:off x="5989320" y="3337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B6BA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Examples: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5989320" y="361188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E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E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E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 Regression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B5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 straight line through data to predict continuous numerical values — the simplest predictive algorithm.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93192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73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20240" y="2194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number (price, temperature, sales)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7614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73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920240" y="27614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mx + b (best-fit line)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3284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73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332841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error between predictions and actual values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8953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73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Cases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20240" y="389534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 prices, sales forecasting, stock trends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2011680"/>
            <a:ext cx="365760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212080" y="2148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Predicting House Prices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0" y="3840480"/>
            <a:ext cx="137160" cy="137160"/>
          </a:xfrm>
          <a:prstGeom prst="ellipse">
            <a:avLst/>
          </a:prstGeom>
          <a:solidFill>
            <a:srgbClr val="FFB5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943600" y="3566160"/>
            <a:ext cx="137160" cy="137160"/>
          </a:xfrm>
          <a:prstGeom prst="ellipse">
            <a:avLst/>
          </a:prstGeom>
          <a:solidFill>
            <a:srgbClr val="FFB5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217920" y="3383280"/>
            <a:ext cx="137160" cy="137160"/>
          </a:xfrm>
          <a:prstGeom prst="ellipse">
            <a:avLst/>
          </a:prstGeom>
          <a:solidFill>
            <a:srgbClr val="FFB5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400800" y="3657600"/>
            <a:ext cx="137160" cy="137160"/>
          </a:xfrm>
          <a:prstGeom prst="ellipse">
            <a:avLst/>
          </a:prstGeom>
          <a:solidFill>
            <a:srgbClr val="FFB5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675120" y="3200400"/>
            <a:ext cx="137160" cy="137160"/>
          </a:xfrm>
          <a:prstGeom prst="ellipse">
            <a:avLst/>
          </a:prstGeom>
          <a:solidFill>
            <a:srgbClr val="FFB5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6858000" y="3017520"/>
            <a:ext cx="137160" cy="137160"/>
          </a:xfrm>
          <a:prstGeom prst="ellipse">
            <a:avLst/>
          </a:prstGeom>
          <a:solidFill>
            <a:srgbClr val="FFB5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7132320" y="2834640"/>
            <a:ext cx="137160" cy="137160"/>
          </a:xfrm>
          <a:prstGeom prst="ellipse">
            <a:avLst/>
          </a:prstGeom>
          <a:solidFill>
            <a:srgbClr val="FFB5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315200" y="3017520"/>
            <a:ext cx="137160" cy="137160"/>
          </a:xfrm>
          <a:prstGeom prst="ellipse">
            <a:avLst/>
          </a:prstGeom>
          <a:solidFill>
            <a:srgbClr val="FFB5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7589520" y="2651760"/>
            <a:ext cx="137160" cy="137160"/>
          </a:xfrm>
          <a:prstGeom prst="ellipse">
            <a:avLst/>
          </a:prstGeom>
          <a:solidFill>
            <a:srgbClr val="FFB5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863840" y="2560320"/>
            <a:ext cx="137160" cy="137160"/>
          </a:xfrm>
          <a:prstGeom prst="ellipse">
            <a:avLst/>
          </a:prstGeom>
          <a:solidFill>
            <a:srgbClr val="FFB5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 flipV="1">
            <a:off x="5486400" y="2560320"/>
            <a:ext cx="2743200" cy="1463040"/>
          </a:xfrm>
          <a:prstGeom prst="line">
            <a:avLst/>
          </a:prstGeom>
          <a:noFill/>
          <a:ln w="3175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731520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Best-fit line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4343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E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(sq ft) →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 Regression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B5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the name, this is a classification algorithm — it predicts categories (yes/no, spam/not spam) using a probability curve.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3931920" cy="260604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651760"/>
            <a:ext cx="384048" cy="384048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17320" y="26517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input features (e.g., email word count)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914400" y="3090672"/>
            <a:ext cx="384048" cy="384048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91440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17320" y="30906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sigmoid function → output between 0 and 1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14400" y="3529584"/>
            <a:ext cx="384048" cy="384048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14400" y="35295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17320" y="352958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probability of belonging to a class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3968496"/>
            <a:ext cx="384048" cy="384048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14400" y="3968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3968496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(usually 0.5) decides the category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0" y="2057400"/>
            <a:ext cx="3657600" cy="2606040"/>
          </a:xfrm>
          <a:prstGeom prst="roundRect">
            <a:avLst>
              <a:gd name="adj" fmla="val 5263"/>
            </a:avLst>
          </a:prstGeom>
          <a:solidFill>
            <a:srgbClr val="E8DFF0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257800" y="21945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Use Cases</a:t>
            </a:r>
            <a:endParaRPr lang="en-US" sz="16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697480"/>
            <a:ext cx="228600" cy="2286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669280" y="2679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spam detection</a:t>
            </a:r>
            <a:endParaRPr lang="en-US" sz="125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108960"/>
            <a:ext cx="228600" cy="2286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669280" y="3090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diagnosis (positive/negative)</a:t>
            </a:r>
            <a:endParaRPr lang="en-US" sz="125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520440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669280" y="3502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churn prediction</a:t>
            </a:r>
            <a:endParaRPr lang="en-US" sz="12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3931920"/>
            <a:ext cx="228600" cy="2286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66928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 Trees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B5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decisions by asking a series of yes/no questions — like a flowchart. Easy to understand and explain.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7548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828800" y="2240280"/>
            <a:ext cx="2194560" cy="384048"/>
          </a:xfrm>
          <a:prstGeom prst="roundRect">
            <a:avLst>
              <a:gd name="adj" fmla="val 23810"/>
            </a:avLst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1828800" y="2240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income &gt; $50K?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86000" y="2624328"/>
            <a:ext cx="0" cy="228600"/>
          </a:xfrm>
          <a:prstGeom prst="line">
            <a:avLst/>
          </a:prstGeom>
          <a:noFill/>
          <a:ln w="19050">
            <a:solidFill>
              <a:srgbClr val="5E4F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554480" y="2852928"/>
            <a:ext cx="731520" cy="0"/>
          </a:xfrm>
          <a:prstGeom prst="line">
            <a:avLst/>
          </a:prstGeom>
          <a:noFill/>
          <a:ln w="19050">
            <a:solidFill>
              <a:srgbClr val="5E4F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554480" y="2852928"/>
            <a:ext cx="0" cy="182880"/>
          </a:xfrm>
          <a:prstGeom prst="line">
            <a:avLst/>
          </a:prstGeom>
          <a:noFill/>
          <a:ln w="19050">
            <a:solidFill>
              <a:srgbClr val="5E4F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566160" y="2624328"/>
            <a:ext cx="0" cy="228600"/>
          </a:xfrm>
          <a:prstGeom prst="line">
            <a:avLst/>
          </a:prstGeom>
          <a:noFill/>
          <a:ln w="19050">
            <a:solidFill>
              <a:srgbClr val="5E4F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566160" y="2852928"/>
            <a:ext cx="731520" cy="0"/>
          </a:xfrm>
          <a:prstGeom prst="line">
            <a:avLst/>
          </a:prstGeom>
          <a:noFill/>
          <a:ln w="19050">
            <a:solidFill>
              <a:srgbClr val="5E4F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297680" y="2852928"/>
            <a:ext cx="0" cy="182880"/>
          </a:xfrm>
          <a:prstGeom prst="line">
            <a:avLst/>
          </a:prstGeom>
          <a:noFill/>
          <a:ln w="19050">
            <a:solidFill>
              <a:srgbClr val="5E4F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737360" y="26791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0" y="267919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22960" y="3035808"/>
            <a:ext cx="1920240" cy="365760"/>
          </a:xfrm>
          <a:prstGeom prst="roundRect">
            <a:avLst>
              <a:gd name="adj" fmla="val 25000"/>
            </a:avLst>
          </a:prstGeom>
          <a:solidFill>
            <a:srgbClr val="C3AE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30358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score &gt; 700?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3035808"/>
            <a:ext cx="1463040" cy="365760"/>
          </a:xfrm>
          <a:prstGeom prst="roundRect">
            <a:avLst>
              <a:gd name="adj" fmla="val 25000"/>
            </a:avLst>
          </a:prstGeom>
          <a:solidFill>
            <a:srgbClr val="FFB5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566160" y="30358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 Loan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280160" y="3401568"/>
            <a:ext cx="0" cy="182880"/>
          </a:xfrm>
          <a:prstGeom prst="line">
            <a:avLst/>
          </a:prstGeom>
          <a:noFill/>
          <a:ln w="19050">
            <a:solidFill>
              <a:srgbClr val="5E4F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280160" y="3584448"/>
            <a:ext cx="0" cy="0"/>
          </a:xfrm>
          <a:prstGeom prst="line">
            <a:avLst/>
          </a:prstGeom>
          <a:noFill/>
          <a:ln w="19050">
            <a:solidFill>
              <a:srgbClr val="5E4F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286000" y="3401568"/>
            <a:ext cx="0" cy="182880"/>
          </a:xfrm>
          <a:prstGeom prst="line">
            <a:avLst/>
          </a:prstGeom>
          <a:noFill/>
          <a:ln w="19050">
            <a:solidFill>
              <a:srgbClr val="5E4F7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822960" y="3611880"/>
            <a:ext cx="1097280" cy="347472"/>
          </a:xfrm>
          <a:prstGeom prst="roundRect">
            <a:avLst>
              <a:gd name="adj" fmla="val 26316"/>
            </a:avLst>
          </a:prstGeom>
          <a:solidFill>
            <a:srgbClr val="4CAF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822960" y="36118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✓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20240" y="3611880"/>
            <a:ext cx="1097280" cy="347472"/>
          </a:xfrm>
          <a:prstGeom prst="roundRect">
            <a:avLst>
              <a:gd name="adj" fmla="val 26316"/>
            </a:avLst>
          </a:prstGeom>
          <a:solidFill>
            <a:srgbClr val="FF980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1920240" y="36118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69280" y="2011680"/>
            <a:ext cx="3017520" cy="146304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852160" y="2148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52160" y="246888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interpret and visualize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numerical &amp; categorical data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scaling needed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669280" y="3703320"/>
            <a:ext cx="3017520" cy="1005840"/>
          </a:xfrm>
          <a:prstGeom prst="roundRect">
            <a:avLst>
              <a:gd name="adj" fmla="val 13636"/>
            </a:avLst>
          </a:prstGeom>
          <a:solidFill>
            <a:srgbClr val="FFE0D6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852160" y="37947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873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Out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852160" y="40690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overfit easily — use pruning or ensemble methods like Random Forest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K-Nearest Neighbors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B5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E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who your neighbors are, and I'll tell you who you are"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4114800" cy="27889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Classifying a New Point (K=3)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2743200"/>
            <a:ext cx="182880" cy="182880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828800" y="3017520"/>
            <a:ext cx="182880" cy="182880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645920" y="3474720"/>
            <a:ext cx="182880" cy="182880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194560" y="3291840"/>
            <a:ext cx="182880" cy="182880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188720" y="3200400"/>
            <a:ext cx="182880" cy="182880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920240" y="3749040"/>
            <a:ext cx="182880" cy="182880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0" y="2651760"/>
            <a:ext cx="182880" cy="182880"/>
          </a:xfrm>
          <a:prstGeom prst="ellipse">
            <a:avLst/>
          </a:prstGeom>
          <a:solidFill>
            <a:srgbClr val="C3AE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474720" y="2926080"/>
            <a:ext cx="182880" cy="182880"/>
          </a:xfrm>
          <a:prstGeom prst="ellipse">
            <a:avLst/>
          </a:prstGeom>
          <a:solidFill>
            <a:srgbClr val="C3AE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0" y="2468880"/>
            <a:ext cx="182880" cy="182880"/>
          </a:xfrm>
          <a:prstGeom prst="ellipse">
            <a:avLst/>
          </a:prstGeom>
          <a:solidFill>
            <a:srgbClr val="C3AE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017520" y="3108960"/>
            <a:ext cx="182880" cy="182880"/>
          </a:xfrm>
          <a:prstGeom prst="ellipse">
            <a:avLst/>
          </a:prstGeom>
          <a:solidFill>
            <a:srgbClr val="C3AE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840480" y="2743200"/>
            <a:ext cx="182880" cy="182880"/>
          </a:xfrm>
          <a:prstGeom prst="ellipse">
            <a:avLst/>
          </a:prstGeom>
          <a:solidFill>
            <a:srgbClr val="C3AE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291840" y="3474720"/>
            <a:ext cx="182880" cy="182880"/>
          </a:xfrm>
          <a:prstGeom prst="ellipse">
            <a:avLst/>
          </a:prstGeom>
          <a:solidFill>
            <a:srgbClr val="C3AE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468880" y="2971800"/>
            <a:ext cx="228600" cy="228600"/>
          </a:xfrm>
          <a:prstGeom prst="ellipse">
            <a:avLst/>
          </a:prstGeom>
          <a:solidFill>
            <a:srgbClr val="FFD700"/>
          </a:solidFill>
          <a:ln w="25400">
            <a:solidFill>
              <a:srgbClr val="3D2E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2468880" y="29718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920240" y="2560320"/>
            <a:ext cx="1371600" cy="1097280"/>
          </a:xfrm>
          <a:prstGeom prst="ellipse">
            <a:avLst/>
          </a:prstGeom>
          <a:noFill/>
          <a:ln w="12700">
            <a:solidFill>
              <a:srgbClr val="5E4F7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1097280" y="4251960"/>
            <a:ext cx="137160" cy="137160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1280160" y="4224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103120" y="4251960"/>
            <a:ext cx="137160" cy="137160"/>
          </a:xfrm>
          <a:prstGeom prst="ellipse">
            <a:avLst/>
          </a:prstGeom>
          <a:solidFill>
            <a:srgbClr val="C3AE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286000" y="42245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108960" y="4251960"/>
            <a:ext cx="137160" cy="13716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3D2E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91840" y="422452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point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1965960"/>
            <a:ext cx="3657600" cy="27889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257800" y="2103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303520" y="2606040"/>
            <a:ext cx="384048" cy="384048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530352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806440" y="26060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value for K (number of neighbors)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303520" y="3108960"/>
            <a:ext cx="384048" cy="384048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5303520" y="3108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806440" y="31089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distance to all data points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303520" y="3611880"/>
            <a:ext cx="384048" cy="384048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53035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5806440" y="36118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K closest data points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303520" y="4114800"/>
            <a:ext cx="384048" cy="384048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303520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5806440" y="4114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 decides the class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Vector Machines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B5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optimal boundary that best separates classes with the maximum margin between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38912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Maximum Margin Classifier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2743200"/>
            <a:ext cx="164592" cy="164592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371600" y="3200400"/>
            <a:ext cx="164592" cy="164592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645920" y="2926080"/>
            <a:ext cx="164592" cy="164592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828800" y="3474720"/>
            <a:ext cx="164592" cy="164592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463040" y="3749040"/>
            <a:ext cx="164592" cy="164592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011680" y="3108960"/>
            <a:ext cx="164592" cy="164592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280160" y="3931920"/>
            <a:ext cx="164592" cy="164592"/>
          </a:xfrm>
          <a:prstGeom prst="ellipse">
            <a:avLst/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474720" y="2560320"/>
            <a:ext cx="164592" cy="164592"/>
          </a:xfrm>
          <a:prstGeom prst="ellipse">
            <a:avLst/>
          </a:prstGeom>
          <a:solidFill>
            <a:srgbClr val="C3AE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0" y="3017520"/>
            <a:ext cx="164592" cy="164592"/>
          </a:xfrm>
          <a:prstGeom prst="ellipse">
            <a:avLst/>
          </a:prstGeom>
          <a:solidFill>
            <a:srgbClr val="C3AE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3840480" y="3291840"/>
            <a:ext cx="164592" cy="164592"/>
          </a:xfrm>
          <a:prstGeom prst="ellipse">
            <a:avLst/>
          </a:prstGeom>
          <a:solidFill>
            <a:srgbClr val="C3AE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91840" y="3566160"/>
            <a:ext cx="164592" cy="164592"/>
          </a:xfrm>
          <a:prstGeom prst="ellipse">
            <a:avLst/>
          </a:prstGeom>
          <a:solidFill>
            <a:srgbClr val="C3AE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4023360" y="2834640"/>
            <a:ext cx="164592" cy="164592"/>
          </a:xfrm>
          <a:prstGeom prst="ellipse">
            <a:avLst/>
          </a:prstGeom>
          <a:solidFill>
            <a:srgbClr val="C3AE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749040" y="3840480"/>
            <a:ext cx="164592" cy="164592"/>
          </a:xfrm>
          <a:prstGeom prst="ellipse">
            <a:avLst/>
          </a:prstGeom>
          <a:solidFill>
            <a:srgbClr val="C3AE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3566160" y="4114800"/>
            <a:ext cx="164592" cy="164592"/>
          </a:xfrm>
          <a:prstGeom prst="ellipse">
            <a:avLst/>
          </a:prstGeom>
          <a:solidFill>
            <a:srgbClr val="C3AE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743200" y="2468880"/>
            <a:ext cx="0" cy="2103120"/>
          </a:xfrm>
          <a:prstGeom prst="line">
            <a:avLst/>
          </a:prstGeom>
          <a:noFill/>
          <a:ln w="25400">
            <a:solidFill>
              <a:srgbClr val="3D2E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286000" y="2468880"/>
            <a:ext cx="0" cy="2103120"/>
          </a:xfrm>
          <a:prstGeom prst="line">
            <a:avLst/>
          </a:prstGeom>
          <a:noFill/>
          <a:ln w="12700">
            <a:solidFill>
              <a:srgbClr val="5E4F7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200400" y="2468880"/>
            <a:ext cx="0" cy="2103120"/>
          </a:xfrm>
          <a:prstGeom prst="line">
            <a:avLst/>
          </a:prstGeom>
          <a:noFill/>
          <a:ln w="12700">
            <a:solidFill>
              <a:srgbClr val="5E4F70"/>
            </a:solidFill>
            <a:prstDash val="dash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148840" y="3063240"/>
            <a:ext cx="256032" cy="256032"/>
          </a:xfrm>
          <a:prstGeom prst="ellipse">
            <a:avLst/>
          </a:prstGeom>
          <a:noFill/>
          <a:ln w="25400">
            <a:solidFill>
              <a:srgbClr val="3D2E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154680" y="2944368"/>
            <a:ext cx="256032" cy="256032"/>
          </a:xfrm>
          <a:prstGeom prst="ellipse">
            <a:avLst/>
          </a:prstGeom>
          <a:noFill/>
          <a:ln w="25400">
            <a:solidFill>
              <a:srgbClr val="3D2E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103120" y="4434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E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margin →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303520" y="2011680"/>
            <a:ext cx="3383280" cy="2743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532120" y="2194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73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Hyperplane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532120" y="24414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boundary that separates classes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532120" y="281635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73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Margin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532120" y="3063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between boundary and nearest points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532120" y="3438144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73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Vectors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532120" y="3685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points that define the boundary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532120" y="4059936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8735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Kernel Trick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532120" y="430682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data to higher dimensions for non-linear separation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5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Naive Bayes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987552"/>
            <a:ext cx="1463040" cy="274320"/>
          </a:xfrm>
          <a:prstGeom prst="roundRect">
            <a:avLst>
              <a:gd name="adj" fmla="val 50000"/>
            </a:avLst>
          </a:prstGeom>
          <a:solidFill>
            <a:srgbClr val="FFB5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987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probabilistic classifier based on Bayes' theorem — assumes features are independent of each other.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3931920" cy="1051560"/>
          </a:xfrm>
          <a:prstGeom prst="roundRect">
            <a:avLst>
              <a:gd name="adj" fmla="val 13043"/>
            </a:avLst>
          </a:prstGeom>
          <a:solidFill>
            <a:srgbClr val="E8DFF0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68680" y="21031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Idea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95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D2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P(class | features) ∝ P(features | class) × P(class)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2697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E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"What's the probability this email is spam, given these words?"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3291840"/>
            <a:ext cx="3931920" cy="1371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6868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Use It?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70332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training and prediction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with small datasets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text classification tasks</a:t>
            </a:r>
            <a:endParaRPr lang="en-US" sz="1150" dirty="0"/>
          </a:p>
          <a:p>
            <a:pPr marL="342900" indent="-342900" algn="l">
              <a:buSzPct val="100000"/>
              <a:buChar char="•"/>
            </a:pPr>
            <a:r>
              <a:rPr lang="en-US" sz="115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high-dimensional data well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0" y="2011680"/>
            <a:ext cx="3657600" cy="26517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3D2E4F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257800" y="2148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D2E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Spam Detection Example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257800" y="2606040"/>
            <a:ext cx="3200400" cy="777240"/>
          </a:xfrm>
          <a:prstGeom prst="roundRect">
            <a:avLst>
              <a:gd name="adj" fmla="val 9412"/>
            </a:avLst>
          </a:prstGeom>
          <a:solidFill>
            <a:srgbClr val="F0E8E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394960" y="265176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100" dirty="0">
                <a:solidFill>
                  <a:srgbClr val="4A3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FREE PRIZE NOW!!!</a:t>
            </a:r>
            <a:endParaRPr lang="en-US" sz="11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5E4F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Words: free, win, prize, click, urgent</a:t>
            </a:r>
            <a:endParaRPr lang="en-US" sz="11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3520440"/>
            <a:ext cx="274320" cy="274320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5257800" y="3931920"/>
            <a:ext cx="3200400" cy="502920"/>
          </a:xfrm>
          <a:prstGeom prst="roundRect">
            <a:avLst>
              <a:gd name="adj" fmla="val 14545"/>
            </a:avLst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6"/>
          <p:cNvSpPr/>
          <p:nvPr/>
        </p:nvSpPr>
        <p:spPr>
          <a:xfrm>
            <a:off x="5257800" y="3931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P(Spam) = 97.3%  →  SPAM ⚠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D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Comparison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algorithm — a quick reference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7863840" cy="28346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Algorithm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Best For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Speed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5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Interpretability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735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D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Predicting continuous values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D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D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Explainable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D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datasets, similarity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D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decision boundaries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3D2E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classification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Fast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D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A3F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0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D2E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C3AED6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640080" y="2743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Choosing the Right Algorithm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F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 Decision Guide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257300" y="2194560"/>
            <a:ext cx="0" cy="274320"/>
          </a:xfrm>
          <a:prstGeom prst="line">
            <a:avLst/>
          </a:prstGeom>
          <a:noFill/>
          <a:ln w="25400">
            <a:solidFill>
              <a:srgbClr val="E873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612648" y="2560320"/>
            <a:ext cx="1289304" cy="777240"/>
          </a:xfrm>
          <a:prstGeom prst="roundRect">
            <a:avLst>
              <a:gd name="adj" fmla="val 11765"/>
            </a:avLst>
          </a:prstGeom>
          <a:solidFill>
            <a:srgbClr val="E8735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12648" y="256032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137160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286000" y="15087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48940" y="2194560"/>
            <a:ext cx="0" cy="274320"/>
          </a:xfrm>
          <a:prstGeom prst="line">
            <a:avLst/>
          </a:prstGeom>
          <a:noFill/>
          <a:ln w="25400">
            <a:solidFill>
              <a:srgbClr val="FFB5A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304288" y="2560320"/>
            <a:ext cx="1289304" cy="777240"/>
          </a:xfrm>
          <a:prstGeom prst="roundRect">
            <a:avLst>
              <a:gd name="adj" fmla="val 11765"/>
            </a:avLst>
          </a:prstGeom>
          <a:solidFill>
            <a:srgbClr val="FFB5A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304288" y="256032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Logistic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Regression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86200" y="137160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977640" y="15087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explainability?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40580" y="2194560"/>
            <a:ext cx="0" cy="274320"/>
          </a:xfrm>
          <a:prstGeom prst="line">
            <a:avLst/>
          </a:prstGeom>
          <a:noFill/>
          <a:ln w="25400">
            <a:solidFill>
              <a:srgbClr val="C3AED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995928" y="2560320"/>
            <a:ext cx="1289304" cy="777240"/>
          </a:xfrm>
          <a:prstGeom prst="roundRect">
            <a:avLst>
              <a:gd name="adj" fmla="val 11765"/>
            </a:avLst>
          </a:prstGeom>
          <a:solidFill>
            <a:srgbClr val="C3AED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995928" y="256032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577840" y="137160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69280" y="15087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32220" y="2194560"/>
            <a:ext cx="0" cy="274320"/>
          </a:xfrm>
          <a:prstGeom prst="line">
            <a:avLst/>
          </a:prstGeom>
          <a:noFill/>
          <a:ln w="25400">
            <a:solidFill>
              <a:srgbClr val="D495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5687568" y="2560320"/>
            <a:ext cx="1289304" cy="777240"/>
          </a:xfrm>
          <a:prstGeom prst="roundRect">
            <a:avLst>
              <a:gd name="adj" fmla="val 11765"/>
            </a:avLst>
          </a:prstGeom>
          <a:solidFill>
            <a:srgbClr val="D4956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687568" y="256032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269480" y="1371600"/>
            <a:ext cx="1508760" cy="2377440"/>
          </a:xfrm>
          <a:prstGeom prst="roundRect">
            <a:avLst>
              <a:gd name="adj" fmla="val 7273"/>
            </a:avLst>
          </a:pr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360920" y="150876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text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23860" y="2194560"/>
            <a:ext cx="0" cy="274320"/>
          </a:xfrm>
          <a:prstGeom prst="line">
            <a:avLst/>
          </a:prstGeom>
          <a:noFill/>
          <a:ln w="25400">
            <a:solidFill>
              <a:srgbClr val="8B6BA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379208" y="2560320"/>
            <a:ext cx="1289304" cy="777240"/>
          </a:xfrm>
          <a:prstGeom prst="roundRect">
            <a:avLst>
              <a:gd name="adj" fmla="val 11765"/>
            </a:avLst>
          </a:prstGeom>
          <a:solidFill>
            <a:srgbClr val="8B6BA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79208" y="2560320"/>
            <a:ext cx="1289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Naive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Bayes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" y="4114800"/>
            <a:ext cx="7863840" cy="640080"/>
          </a:xfrm>
          <a:prstGeom prst="roundRect">
            <a:avLst>
              <a:gd name="adj" fmla="val 14286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206240"/>
            <a:ext cx="320040" cy="32004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234440" y="4114800"/>
            <a:ext cx="7040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E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Start simple (Linear/Logistic Regression), then try more complex models only if needed. Always validate with test data!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758</Words>
  <Application>Microsoft Office PowerPoint</Application>
  <PresentationFormat>On-screen Show (16:9)</PresentationFormat>
  <Paragraphs>184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Prasad KAPPA</dc:creator>
  <cp:lastModifiedBy>Venkata Prasad KAPPA</cp:lastModifiedBy>
  <cp:revision>2</cp:revision>
  <dcterms:created xsi:type="dcterms:W3CDTF">2026-06-01T04:37:39Z</dcterms:created>
  <dcterms:modified xsi:type="dcterms:W3CDTF">2026-06-03T06:52:45Z</dcterms:modified>
</cp:coreProperties>
</file>