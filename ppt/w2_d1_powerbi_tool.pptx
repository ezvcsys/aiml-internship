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8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3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&amp; Visualization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Program — Data Analytics Track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280160"/>
            <a:ext cx="548640" cy="548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280160"/>
            <a:ext cx="457200" cy="4572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920240"/>
            <a:ext cx="457200" cy="457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5"/>
          <p:cNvSpPr/>
          <p:nvPr/>
        </p:nvSpPr>
        <p:spPr>
          <a:xfrm>
            <a:off x="731520" y="4754880"/>
            <a:ext cx="7680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of Data Analytics Series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 we've covered so far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Power BI?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and ecosystem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data connections, Power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1664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and star schema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 &amp; DAX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reports and writing measures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vs Python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tool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Recap: Your Python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23160" cy="3200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60604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wrangling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&amp; grouping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SQL input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423160" cy="3200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57600" y="260604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scatter plots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customization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 output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 layouts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371600"/>
            <a:ext cx="2423160" cy="3200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09360" y="260604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&amp; distributions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themes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top of Matplotlib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gave you the foundation — now let's add Power BI to your toolkit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Power BI?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intelligence platform by Microsoft that transforms raw data into interactive visualizations, reports, and dashboards — without writing code.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BI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create reports without IT dependency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Built-In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handles data transformation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605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Connectors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8872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Excel, APIs, cloud services, and more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3317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 Language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21208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formula language for calculations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2461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Dashboards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21208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refresh and monitoring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605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Ready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21208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security, governance, sharing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3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 BI Ecosystem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23160" cy="3017520"/>
          </a:xfrm>
          <a:prstGeom prst="roundRect">
            <a:avLst>
              <a:gd name="adj" fmla="val 5660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783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0120" y="29718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desktop app for building reports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Power Query, DAX authoring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development tool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1463040"/>
            <a:ext cx="2423160" cy="3017520"/>
          </a:xfrm>
          <a:prstGeom prst="roundRect">
            <a:avLst>
              <a:gd name="adj" fmla="val 5660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7830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61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Service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1880" y="29718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for publishing &amp; sharing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data refresh, dashboards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and workspace management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0" y="1463040"/>
            <a:ext cx="2423160" cy="3017520"/>
          </a:xfrm>
          <a:prstGeom prst="roundRect">
            <a:avLst>
              <a:gd name="adj" fmla="val 5660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17830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Mobile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63640" y="29718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apps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 on the go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Annotate, share, and receive alerts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components work together — build in Desktop, publish to Service, view on Mobile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Desktop: Interface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canvas where you drag and drop visualizations, apply filters, and arrange your report layout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28016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View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0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your loaded tables, check data types, create calculated columns, and verify data quality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51460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803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View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28986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and manage relationships between tables, configure cardinality and cross-filter direction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251460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 Pane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0" y="28986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tables and columns in your data model; drag fields onto visuals to build charts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374904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148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 Pane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71600" y="41330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30+ built-in chart types and configure their properties, colors, and formatting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846320" y="374904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1148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Pane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486400" y="41330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visual-level, page-level, or report-level filters to control what data is displayed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to 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&amp; 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starting 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35331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6200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database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5331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280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/ APIs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web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22199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SharePoint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404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document libraries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22199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2404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Synapse, Blob, Data Lake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22199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1792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Databases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2404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 Modes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" y="3794760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0120" y="3904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4233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loaded into Power BI's in-memory engine. Fastest queries, but data is a snapshot.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83480" y="3904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DirectQuery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83480" y="4233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run live against the source. Always current data, but slower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Query: Data Transformation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"Pandas of Power BI" — a visual, no-code ETL tool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unnecessary fields to keep your model lean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Rows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irrelevant or erroneous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Data Types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dates, numbers, and text are correctly typed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&amp; Merge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apart or combine columns as needed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&amp; Unpivot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data between wide and long formats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Custom Columns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calculated columns using M language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07992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71600" y="4434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 and repeatable — refresh data and all transformations reapply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Modeling &amp; Relationships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Pattern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approach for Power BI models: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(Sales, Transactions)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84048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384048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5448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384048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3464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7452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4924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Cardinality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4924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is the most common relationship type between dimension and fact tables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974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Cross-Filter Direction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4924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filters propagate — single direction is recommended for simplicity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204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Relationships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3492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active relationship between two tables; use USERELATIONSHIP() for alternates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34340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Circular Paths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4924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relationships confuse the engine — keep your model clean and star-shaped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Visualizations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34416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&amp; Column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horizontal for long labels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80360" y="134416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8036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Chart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1764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trends over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forecast lines for predictions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83480" y="134416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834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 &amp; Donut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764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proportions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5-6 slices maximum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86600" y="134416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866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&amp; KPI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1764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metrics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conditional formatting for 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77240" y="308152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&amp; Matrix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data display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supports drill-down hierarchies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880360" y="308152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8036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Visual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803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filled map for regions, bubble for cities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983480" y="308152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8348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Plot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play axis for time animation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9440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86600" y="3081528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08660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Treemap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866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proportions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8660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budget breakdowns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DAX: Data Analysis Expressions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language that powers calculations in Power BI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Measures (Dynamic Calculations)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0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= SUM(Sales[Amount])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= AVERAGE(Sales[OrderValue])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 = TOTALYTD(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SUM(Sales[Amount]), Calendar[Date])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Calculated 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92024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0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0" y="1965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=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Sales[Revenue] - Sales[Cost]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=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Customer[First] &amp; " " &amp; Customer[Last]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Functions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731520"/>
          </a:xfrm>
          <a:prstGeom prst="roundRect">
            <a:avLst>
              <a:gd name="adj" fmla="val 7500"/>
            </a:avLst>
          </a:prstGeom>
          <a:solidFill>
            <a:srgbClr val="F0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Sales = CALCULATE(SUM(Sales[Amount]), Sales[Channel]="Online")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= TOPN(10, Products, [Total Sales])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recalculate dynamically based on filters — Calculated Columns are computed once at refresh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3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 vs Reports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Single-page, high-level overview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Power BI Service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visuals from multiple reports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tile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alerts on metric thresholds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Multi-page, detailed analysis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Power BI Desktop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and filters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tables, charts, maps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drill-through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reports for deep analysis, pin key visuals to dashboards for executive overview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vs Python Tools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Power BI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Python (Pandas + Viz)</a:t>
                      </a:r>
                      <a:endParaRPr lang="en-US" sz="1200" dirty="0"/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drag and drop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requires coding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Query (visual, no-code)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(code-based, very flexible)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 built-in interactive 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customization via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cross-filtering, slicers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Plotly/Dash for interactivity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to web, embed, mobile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static images or host web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millions of rows in-memory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RAM, better for transforms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reporting,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analysis, ML pipelines,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079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4434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complement each other — use Python for data prep &amp; ML, Power BI for business-facing reports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3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371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is a complete BI platform — connect, transform, model, visualize, and share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2057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replaces manual data cleaning with repeatable, visual transformations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and proper relationships are the foundation of a good data model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4440" y="3429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unlocks powerful calculations — start with SUM, AVERAGE, CALCULATE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4440" y="4114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Power BI are complementary — use both in your analytics workflow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731520" y="443484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71600" y="4434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Hands-on Power BI Workshop — bring your own dataset!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1179</Words>
  <Application>Microsoft Office PowerPoint</Application>
  <PresentationFormat>On-screen Show (16:9)</PresentationFormat>
  <Paragraphs>245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2026-05-25T01:57:35Z</dcterms:created>
  <dcterms:modified xsi:type="dcterms:W3CDTF">2026-05-25T02:20:32Z</dcterms:modified>
</cp:coreProperties>
</file>