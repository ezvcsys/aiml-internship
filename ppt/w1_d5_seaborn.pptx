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36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6C75"/>
                </a:solidFill>
              </a:rPr>
              <a:t>●</a:t>
            </a:r>
            <a:r>
              <a:rPr lang="en-US" sz="1000" dirty="0">
                <a:solidFill>
                  <a:srgbClr val="E5C07B"/>
                </a:solidFill>
              </a:rPr>
              <a:t>  ●</a:t>
            </a:r>
            <a:r>
              <a:rPr lang="en-US" sz="1000" dirty="0">
                <a:solidFill>
                  <a:srgbClr val="98C379"/>
                </a:solidFill>
              </a:rPr>
              <a:t>  ●</a:t>
            </a: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terminal — python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Data Visualization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r>
              <a:rPr lang="en-US" sz="22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  </a:t>
            </a:r>
            <a:r>
              <a:rPr lang="en-US" sz="22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Basics to Advanced  |  Building on Pandas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2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Data Visualization?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60320" cy="22860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patterns, trends, and outliers hidden in raw data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60320" cy="22860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52044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5204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2044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data stories that stakeholders understand instantly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560320" cy="22860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30936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0936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hypotheses and verify model outputs visually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DataFrame</a:t>
            </a:r>
            <a:r>
              <a:rPr lang="en-US" sz="13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3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 / Seaborn</a:t>
            </a:r>
            <a:r>
              <a:rPr lang="en-US" sz="13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3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Insights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visualization pipeline starts where Pandas data wrangling ends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 Basics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4572000" cy="329184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77240" y="128016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0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data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np.linspace(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np.sin(x)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with style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y,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'b-'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lw=</a:t>
            </a: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'Sine Wave'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0" y="1188720"/>
            <a:ext cx="3291840" cy="6858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66928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window/canvas holding everything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2011680"/>
            <a:ext cx="3291840" cy="6858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928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0" y="2359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plot area within a figure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2834640"/>
            <a:ext cx="3291840" cy="6858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669280" y="2907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 Interface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0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stateful API for simple plots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3657600"/>
            <a:ext cx="3291840" cy="6858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66928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 Style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0" y="4005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fig, ax = plt.subplots() for more control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Plot Types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3931920" cy="169164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7724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Plot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144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 or continuous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169164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9834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 Chart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12064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plt.bar(x, heights)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8348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 or groups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0360"/>
            <a:ext cx="3931920" cy="169164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7724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 Plot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7240" y="3429000"/>
            <a:ext cx="3474720" cy="36576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1440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plt.scatter(x, y)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two variables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2880360"/>
            <a:ext cx="3931920" cy="169164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9834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983480" y="3429000"/>
            <a:ext cx="3474720" cy="36576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12064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plt.hist(data, bins=20)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8348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a single variable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Customizing Matplotlib Plots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4572000" cy="36576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77240" y="123444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plt.subplots()
</a:t>
            </a: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Styling the plot
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ax.plot(x, y,
  color=</a:t>
            </a:r>
            <a:r>
              <a:rPr lang="en-US" sz="9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'#2ecc71'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linewidth=</a:t>
            </a: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linestyle=</a:t>
            </a:r>
            <a:r>
              <a:rPr lang="en-US" sz="9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'--'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marker=</a:t>
            </a:r>
            <a:r>
              <a:rPr lang="en-US" sz="9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label=</a:t>
            </a:r>
            <a:r>
              <a:rPr lang="en-US" sz="9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'Trend'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Annotations &amp; labels
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</a:t>
            </a:r>
            <a:r>
              <a:rPr lang="en-US" sz="9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'My Chart'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ax.set_xlabel(</a:t>
            </a:r>
            <a:r>
              <a:rPr lang="en-US" sz="9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 Axis'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ax.legend()
ax.grid(</a:t>
            </a: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alpha=</a:t>
            </a: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1188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/ linewidth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0" y="14447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appearance of lines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0" y="1783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 / linestyle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20391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markers and dash patterns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0" y="2377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/ labels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0" y="2633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annotations on axes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0" y="2971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legend()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0" y="32278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identification labels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0" y="3566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grid() / ticks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0" y="3822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lines and scale marks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0" y="4160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plt.style.use()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0" y="4416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themes like 'ggplot'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 to Seaborn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interface built on Matplotlib for statistical graphics — works natively with Pandas DataFrames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931920" cy="27432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7724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Low-level, granular control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syntax for styling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color palette management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raw arrays and lists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other libraries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645920"/>
            <a:ext cx="3931920" cy="27432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89204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892040" y="22402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High-level, concise API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defaults out of the box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statistical aggregation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Pandas DataFrame support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and color palette system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 Plot Types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2651760" cy="374904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1691640"/>
            <a:ext cx="2377440" cy="8686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sns.scatterplot()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with hue/size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2788920"/>
            <a:ext cx="2377440" cy="8686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sns.lineplot()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with confidence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886200"/>
            <a:ext cx="2377440" cy="8686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2296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sns.relplot()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Figure-level relational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29000" y="1051560"/>
            <a:ext cx="2651760" cy="374904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6118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66160" y="1691640"/>
            <a:ext cx="2377440" cy="8686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70332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0332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with KDE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566160" y="2788920"/>
            <a:ext cx="2377440" cy="8686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70332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sns.kdeplot()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70332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density estimate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566160" y="3886200"/>
            <a:ext cx="2377440" cy="8686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70332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70332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and whisker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309360" y="1051560"/>
            <a:ext cx="2651760" cy="374904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4922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Categorical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46520" y="1691640"/>
            <a:ext cx="2377440" cy="8686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58368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sns.barplot()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836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with error bars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46520" y="2788920"/>
            <a:ext cx="2377440" cy="8686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58368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sns.violinplot()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58368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446520" y="3886200"/>
            <a:ext cx="2377440" cy="86868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58368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sns.swarmplot()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58368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points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Matplotlib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4114800" cy="22860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3152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Subplots &amp; GridSpec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plots in one figure
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
    nrows=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ncols=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figsize=(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Advanced layout
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 = fig.add_gridspec(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ax1 = fig.add_subplot(gs[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:])
ax2 = fig.add_subplot(gs[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:, 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3657600"/>
            <a:ext cx="4114800" cy="118872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Plotting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mpl_toolkits.mplot3d </a:t>
            </a: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Axes3D
fig = plt.figure()
ax = fig.add_subplot(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projection=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'3d'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ax.plot_surface(X, Y, Z, cmap=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'viridis'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37760" y="1097280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120640" y="1143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20640" y="1417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plots in grid layouts with shared axes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0" y="1847088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120640" y="18928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GridSpec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120640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subplot sizing with spanning rows and columns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2596896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120640" y="2642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 Surfaces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20640" y="2916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Wireframes, contours, and surface plots with mplot3d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37760" y="3346704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120640" y="3392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Colormaps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120640" y="3666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diverging, and qualitative color schemes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937760" y="4096512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120640" y="4142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416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Arrows, text boxes, and highlights on data points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Seaborn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4114800" cy="182880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Multi-Plot Grids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11430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FacetGrid — split by categories
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sns.FacetGrid(df, col=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'species'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           hue=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'species'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g.map(plt.scatter, 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PairGrid — pairwise relationships
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sns.pairplot(df, hue=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'target'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         diag_kind=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'kde'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4114800" cy="1691640"/>
          </a:xfrm>
          <a:prstGeom prst="rect">
            <a:avLst/>
          </a:prstGeom>
          <a:solidFill>
            <a:srgbClr val="1818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Heatmaps &amp; Correlation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Correlation heatmap
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= df.corr()
sns.heatmap(corr,
  annot=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cmap=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'coolwarm'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center=</a:t>
            </a:r>
            <a:r>
              <a:rPr lang="en-US" sz="9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fmt=</a:t>
            </a:r>
            <a:r>
              <a:rPr lang="en-US" sz="9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'.2f'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37760" y="1051560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120640" y="1097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FacetGrid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2064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grid of plots split by one or more categorical variables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0" y="1801368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120640" y="1847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PairPlot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12064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all pairwise relationships in a dataset at once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37760" y="2551176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120640" y="2596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Heatmaps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20640" y="2871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correlation matrices and 2D data with color intensity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37760" y="3300984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120640" y="3346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12064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sns.set_theme() with darkgrid, whitegrid, ticks, dark, white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937760" y="4050792"/>
            <a:ext cx="3840480" cy="64008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120640" y="4096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Palettes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20640" y="4370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muted, bright, pastel, dark — or custom with sns.color_palette()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508760" cy="164592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data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48840" y="1097280"/>
            <a:ext cx="1508760" cy="164592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148840" y="11887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148840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148840" y="1965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foundational plots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0" y="1097280"/>
            <a:ext cx="1508760" cy="164592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840480" y="11887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840480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840480" y="1965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32120" y="1097280"/>
            <a:ext cx="1508760" cy="164592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532120" y="11887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532120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532120" y="1965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Subplots, 3D, FacetGrids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23760" y="1097280"/>
            <a:ext cx="1508760" cy="164592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223760" y="11887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223760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23760" y="19659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&amp; projects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Essential Resources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matplotlib.org/stable/tutorials</a:t>
            </a: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Official Matplotlib tutorials &amp; gallery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seaborn.pydata.org/tutorial</a:t>
            </a: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Seaborn official guide with examples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kaggle.com/learn/data-visualization</a:t>
            </a: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Free hands-on visualization course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Data Science Handbook (VanderPlas)</a:t>
            </a: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Comprehensive reference book — free online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1005</Words>
  <Application>Microsoft Office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2026-05-22T05:11:15Z</dcterms:created>
  <dcterms:modified xsi:type="dcterms:W3CDTF">2026-05-22T06:47:28Z</dcterms:modified>
</cp:coreProperties>
</file>