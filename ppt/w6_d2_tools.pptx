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3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76042e4f5d5f2213b6c5f246d03a2e5a.jpg"/>
          <p:cNvPicPr>
            <a:picLocks noChangeAspect="1"/>
          </p:cNvPicPr>
          <p:nvPr/>
        </p:nvPicPr>
        <p:blipFill>
          <a:blip r:embed="rId3"/>
          <a:srcRect l="29668" r="29668"/>
          <a:stretch/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7724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PRIMER FOR NEW AI / ML INTERNS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1627632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AI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758952" y="2788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Tools, Prompts &amp; Resources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77240" y="35204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&amp; multi-agent systems, explained in depth with concrete examples.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86384" y="4526280"/>
            <a:ext cx="164592" cy="164592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060704" y="4526280"/>
            <a:ext cx="164592" cy="164592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335024" y="4526280"/>
            <a:ext cx="164592" cy="164592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AI Agent?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language model that can decide and act on its own — not just chat. It takes a goal, plans steps, uses tools, and repeats until the job is done.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0120" y="2606040"/>
            <a:ext cx="457200" cy="4572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6243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5968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 LLM (Chatbot)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one prompt at a time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frozen at training time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take actions or fetch live data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earlier steps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22860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583680" y="2606040"/>
            <a:ext cx="457200" cy="457200"/>
          </a:xfrm>
          <a:prstGeom prst="ellipse">
            <a:avLst/>
          </a:prstGeom>
          <a:solidFill>
            <a:srgbClr val="DCF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0" y="262432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5968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629400" y="3291840"/>
            <a:ext cx="4617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Pursues a goal over many steps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tools to act and fetch fresh data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context and self-corrects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do next on its own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2578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BE2DA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5257800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C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“Book me a cheap flight to Tokyo.”  A chatbot explains how; an agent searches, compares prices, and books it.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AGENTS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Loop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runs the same cycle, over and over, until it reaches the goal.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17320" y="3314700"/>
            <a:ext cx="9354312" cy="0"/>
          </a:xfrm>
          <a:prstGeom prst="line">
            <a:avLst/>
          </a:prstGeom>
          <a:noFill/>
          <a:ln w="31750">
            <a:solidFill>
              <a:srgbClr val="D6C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91540" y="2788920"/>
            <a:ext cx="1051560" cy="1051560"/>
          </a:xfrm>
          <a:prstGeom prst="ellipse">
            <a:avLst/>
          </a:prstGeom>
          <a:solidFill>
            <a:srgbClr val="EC7B61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1540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4320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goal and current context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30118" y="2788920"/>
            <a:ext cx="1051560" cy="1051560"/>
          </a:xfrm>
          <a:prstGeom prst="ellipse">
            <a:avLst/>
          </a:prstGeom>
          <a:solidFill>
            <a:srgbClr val="8C7BCB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30118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58618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12898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and plan the next step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68696" y="2788920"/>
            <a:ext cx="1051560" cy="1051560"/>
          </a:xfrm>
          <a:prstGeom prst="ellipse">
            <a:avLst/>
          </a:prstGeom>
          <a:solidFill>
            <a:srgbClr val="3EA395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568696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97196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51476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to do something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07274" y="2788920"/>
            <a:ext cx="1051560" cy="1051560"/>
          </a:xfrm>
          <a:prstGeom prst="ellipse">
            <a:avLst/>
          </a:prstGeom>
          <a:solidFill>
            <a:srgbClr val="EC7B61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907274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35774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90054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the tool's result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245852" y="2788920"/>
            <a:ext cx="1051560" cy="1051560"/>
          </a:xfrm>
          <a:prstGeom prst="ellipse">
            <a:avLst/>
          </a:prstGeom>
          <a:solidFill>
            <a:srgbClr val="8C7BCB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245852" y="27889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674352" y="40050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28632" y="4389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the goal is met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CF0EC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60120" y="548640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A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weather agent reasons it needs data → calls a weather API → reads the forecast → tells you to pack an umbrella.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an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60920" y="1508760"/>
            <a:ext cx="4160520" cy="45720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/agent/turn1/workspace/images/image-f79a3656931fc8e44709ed369f3885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677293"/>
            <a:ext cx="3886200" cy="22349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554480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68680" y="1737360"/>
            <a:ext cx="420624" cy="420624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463040" y="1645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— the brain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463040" y="1965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Reasons, decides, and writes language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450592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68680" y="2633472"/>
            <a:ext cx="420624" cy="420624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463040" y="254203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Instructions / Prompts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463040" y="28620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and goal that steer behaviour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346704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868680" y="3529584"/>
            <a:ext cx="420624" cy="420624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463040" y="34381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463040" y="375818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it can take in the world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4242816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868680" y="4425696"/>
            <a:ext cx="420624" cy="420624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1463040" y="433425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463040" y="46542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context it can read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5138928"/>
            <a:ext cx="640080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868680" y="5321808"/>
            <a:ext cx="420624" cy="420624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1463040" y="52303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1463040" y="55504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carries across steps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7B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BLOCK 1 OF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— How Agents Act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functions an agent can call to get things done. The model chooses which tool and the arguments; your code runs it and hands back the result.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615184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2642616"/>
            <a:ext cx="457200" cy="45720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32461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374904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live information online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19856" y="2331720"/>
            <a:ext cx="2615184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12464" y="2642616"/>
            <a:ext cx="457200" cy="45720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75888" y="32461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Calculator / 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75888" y="374904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math or scripts reliably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2331720"/>
            <a:ext cx="2615184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92240" y="2642616"/>
            <a:ext cx="457200" cy="457200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55664" y="32461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Query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374904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records like orders or users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79408" y="2331720"/>
            <a:ext cx="2615184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272016" y="2642616"/>
            <a:ext cx="457200" cy="45720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235440" y="324612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 Email / API Call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35440" y="3749040"/>
            <a:ext cx="21122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action in another system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BE5F8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" y="484632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8C7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MCP: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model-controlled actions a server exposes.
</a:t>
            </a:r>
            <a:r>
              <a:rPr lang="en-US" sz="1450" b="1" dirty="0">
                <a:solidFill>
                  <a:srgbClr val="EC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agent calls lookup_order(id) to fetch a customer's real order status before replying.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BLOCK 2 OF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 — How Agents Are Guided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the instructions that shape an agent's behaviour. Reusable, parameterised prompts are called templates.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agent's role, rules, and boundaries — fixed in the background.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520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are a polite support agent. Never share refunds over $100.”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0" y="24231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Prompt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926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request the agent responds to in the moment.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5204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order #1423 never arrived — what should I do?”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BE2DA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EC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MCP: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reusable templates a server offers — user-controlled and picked on demand.
</a:t>
            </a:r>
            <a:r>
              <a:rPr lang="en-US" sz="1450" b="1" dirty="0">
                <a:solidFill>
                  <a:srgbClr val="8C7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example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summarize_ticket(ticket) → “Summarise this ticket in 3 bullets and suggest a priority level.”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BLOCK 3 OF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 — What Agents Read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the read-only data and context an agent can pull in to inform its answer — they provide knowledge, not actions.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2606040"/>
            <a:ext cx="420624" cy="420624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6112" y="315468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Documents &amp; Files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96112" y="36118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Manuals, policies, PDFs, notes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19856" y="23317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712464" y="2606040"/>
            <a:ext cx="420624" cy="420624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75888" y="315468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Records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75888" y="36118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catalog, user profiles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23317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92240" y="2606040"/>
            <a:ext cx="420624" cy="420624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55664" y="315468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Responses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55664" y="36118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from other services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79408" y="2331720"/>
            <a:ext cx="261518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272016" y="2606040"/>
            <a:ext cx="420624" cy="420624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235440" y="315468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Past Conversation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235440" y="36118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messages and decisions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5262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EBE5F8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60120" y="45262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8C7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MCP: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application-controlled data the host exposes to the model — read, never executed.
</a:t>
            </a:r>
            <a:r>
              <a:rPr lang="en-US" sz="1450" b="1" dirty="0">
                <a:solidFill>
                  <a:srgbClr val="3EA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do; Resources inform. An agent reads a product spec (resource), then calls create_quote (tool).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7B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vs Prompts vs Resources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building blocks of every agent — and, in MCP terms, the three things a server can offer.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474720" cy="3977640"/>
          </a:xfrm>
          <a:prstGeom prst="roundRect">
            <a:avLst>
              <a:gd name="adj" fmla="val 2632"/>
            </a:avLst>
          </a:prstGeom>
          <a:solidFill>
            <a:srgbClr val="FBE2DA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3957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C7B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2834640" cy="0"/>
          </a:xfrm>
          <a:prstGeom prst="line">
            <a:avLst/>
          </a:prstGeom>
          <a:noFill/>
          <a:ln w="19050">
            <a:solidFill>
              <a:srgbClr val="EC7B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C7B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538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the agent performs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C7B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BY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44714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60120" y="5111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C7B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IT 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54041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— they do things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43400" y="2103120"/>
            <a:ext cx="3474720" cy="3977640"/>
          </a:xfrm>
          <a:prstGeom prst="roundRect">
            <a:avLst>
              <a:gd name="adj" fmla="val 2632"/>
            </a:avLst>
          </a:prstGeom>
          <a:solidFill>
            <a:srgbClr val="EBE5F8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23957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Prompts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2834640" cy="0"/>
          </a:xfrm>
          <a:prstGeom prst="line">
            <a:avLst/>
          </a:prstGeom>
          <a:noFill/>
          <a:ln w="19050">
            <a:solidFill>
              <a:srgbClr val="8C7B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538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instruction templates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6344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BY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4714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663440" y="5111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IT 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54041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— they guide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046720" y="2103120"/>
            <a:ext cx="3474720" cy="3977640"/>
          </a:xfrm>
          <a:prstGeom prst="roundRect">
            <a:avLst>
              <a:gd name="adj" fmla="val 2632"/>
            </a:avLst>
          </a:prstGeom>
          <a:solidFill>
            <a:srgbClr val="DCF0EC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366760" y="23957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2300" dirty="0"/>
          </a:p>
        </p:txBody>
      </p:sp>
      <p:sp>
        <p:nvSpPr>
          <p:cNvPr id="27" name="Shape 25"/>
          <p:cNvSpPr/>
          <p:nvPr/>
        </p:nvSpPr>
        <p:spPr>
          <a:xfrm>
            <a:off x="8366760" y="3017520"/>
            <a:ext cx="2834640" cy="0"/>
          </a:xfrm>
          <a:prstGeom prst="line">
            <a:avLst/>
          </a:prstGeom>
          <a:noFill/>
          <a:ln w="19050">
            <a:solidFill>
              <a:srgbClr val="3EA3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366760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35387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the agent can read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66760" y="4178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BY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44714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366760" y="5111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OF IT 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66760" y="54041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— it informs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Single-Agent Systems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handles the whole task end-to-end, looping through reason → act with its own set of tools and memory.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45720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331720" y="2971800"/>
            <a:ext cx="1188720" cy="1188720"/>
          </a:xfrm>
          <a:prstGeom prst="ellipse">
            <a:avLst/>
          </a:prstGeom>
          <a:solidFill>
            <a:srgbClr val="8C7BCB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331720" y="2971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40180" y="2697480"/>
            <a:ext cx="1485900" cy="868680"/>
          </a:xfrm>
          <a:prstGeom prst="line">
            <a:avLst/>
          </a:prstGeom>
          <a:noFill/>
          <a:ln w="22225">
            <a:solidFill>
              <a:srgbClr val="D6C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 flipV="1">
            <a:off x="2926080" y="2697480"/>
            <a:ext cx="1714500" cy="868680"/>
          </a:xfrm>
          <a:prstGeom prst="line">
            <a:avLst/>
          </a:prstGeom>
          <a:noFill/>
          <a:ln w="22225">
            <a:solidFill>
              <a:srgbClr val="D6C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 flipV="1">
            <a:off x="1440180" y="3566160"/>
            <a:ext cx="1485900" cy="822960"/>
          </a:xfrm>
          <a:prstGeom prst="line">
            <a:avLst/>
          </a:prstGeom>
          <a:noFill/>
          <a:ln w="22225">
            <a:solidFill>
              <a:srgbClr val="D6C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926080" y="3566160"/>
            <a:ext cx="1714500" cy="822960"/>
          </a:xfrm>
          <a:prstGeom prst="line">
            <a:avLst/>
          </a:prstGeom>
          <a:noFill/>
          <a:ln w="22225">
            <a:solidFill>
              <a:srgbClr val="D6C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246888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3EA3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A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69080" y="246888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EC7B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69080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16052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EC7B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C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69080" y="416052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3EA3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069080" y="4160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A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40680" y="2148840"/>
            <a:ext cx="6080760" cy="1325880"/>
          </a:xfrm>
          <a:prstGeom prst="roundRect">
            <a:avLst>
              <a:gd name="adj" fmla="val 6897"/>
            </a:avLst>
          </a:prstGeom>
          <a:solidFill>
            <a:srgbClr val="DCF0EC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7150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715000" y="26517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build and debug · predictable · fast and low-cost · ideal for focused, single-skill tasks.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40680" y="3611880"/>
            <a:ext cx="6080760" cy="1325880"/>
          </a:xfrm>
          <a:prstGeom prst="roundRect">
            <a:avLst>
              <a:gd name="adj" fmla="val 6897"/>
            </a:avLst>
          </a:prstGeom>
          <a:solidFill>
            <a:srgbClr val="FBE2DA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71500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7B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715000" y="41148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context window · can get overwhelmed by large, parallel, or multi-skill jobs.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60120" y="5120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C7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assistant that reads your file, edits the function, runs the tests, and fixes errors — all on its own.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SINGLE-AGENT IN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The Trip Planner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one agent carry a single goal through the full loop.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68680" y="2176272"/>
            <a:ext cx="457200" cy="45720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2057400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“Plan a 3-day Tokyo trip under $1,500.”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68680" y="2980944"/>
            <a:ext cx="457200" cy="45720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286207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8620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it into flights, hotel, and budget check.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3666744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" y="3785616"/>
            <a:ext cx="457200" cy="457200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3666744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3666744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search_flights, search_hotels, and calculator tools.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0080" y="4471416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54480" y="4471416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83280" y="4471416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prices, sums them, compares to the $1,500 cap.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640080" y="5276088"/>
            <a:ext cx="108813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68680" y="5394960"/>
            <a:ext cx="457200" cy="45720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6868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554480" y="5276088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83280" y="5276088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day-by-day itinerary that fits the budget.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Systems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specialised agents work together — each owns a role and passes messages, like a team instead of a soloist.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411480" cy="41148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463040" y="2587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907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an expert at one job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10712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68680" y="3593592"/>
            <a:ext cx="411480" cy="41148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463040" y="3483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Parallelism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8039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run at the same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68680" y="4489704"/>
            <a:ext cx="411480" cy="411480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463040" y="437997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7000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or upgrade one agent easily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6492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68680" y="5385816"/>
            <a:ext cx="411480" cy="41148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463040" y="5276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596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agents as the problem grows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60920" y="1508760"/>
            <a:ext cx="4160520" cy="457200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0" descr="/agent/turn1/workspace/images/image-083f2dcb9b4ce44ab52b1a7803ee53c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674698"/>
            <a:ext cx="3886200" cy="224012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DESIGNS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Agents Team Up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common ways to wire specialised agents together.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0120" y="2514600"/>
            <a:ext cx="457200" cy="45720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01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4871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 – Worker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agent delegates subtasks to workers, then merges their results.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21945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92240" y="2514600"/>
            <a:ext cx="457200" cy="45720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32320" y="24871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Sequential Pipeline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31546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output feeds the next — an assembly line of specialists.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60120" y="4663440"/>
            <a:ext cx="457200" cy="457200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6012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46360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53035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of managers break a big project into layered teams.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4343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92240" y="4663440"/>
            <a:ext cx="457200" cy="45720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922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132320" y="46360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 Review / Debate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37960" y="53035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critique each other's work to raise the final quality.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IN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Example: An AI Dev Team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 delegates a feature to four specialist agents, looping until the tests pass.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2331720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18488" y="2651760"/>
            <a:ext cx="731520" cy="73152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18488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3520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9776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request into clear tasks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36976" y="2331720"/>
            <a:ext cx="2651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28E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483864" y="2331720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89120" y="2651760"/>
            <a:ext cx="731520" cy="73152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66744" y="3520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66744" y="39776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code for each task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07608" y="2331720"/>
            <a:ext cx="2651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28E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54496" y="2331720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59752" y="2651760"/>
            <a:ext cx="731520" cy="731520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59752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37376" y="3520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37376" y="39776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tests and reports failures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2331720"/>
            <a:ext cx="2651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28E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025128" y="2331720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930384" y="2651760"/>
            <a:ext cx="731520" cy="73152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930384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208008" y="3520440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208008" y="397764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quality and requests fixes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493776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DCF0EC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60120" y="493776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EA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r>
              <a:rPr lang="en-US" sz="145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specialists, coordinated by an orchestrator, ship a feature together — and loop back to the Coder whenever the Tester finds a bug.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400" y="0"/>
            <a:ext cx="1371600" cy="1371600"/>
          </a:xfrm>
          <a:prstGeom prst="ellipse">
            <a:avLst/>
          </a:prstGeom>
          <a:solidFill>
            <a:srgbClr val="EBE5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887200" y="502920"/>
            <a:ext cx="310896" cy="310896"/>
          </a:xfrm>
          <a:prstGeom prst="ellipse">
            <a:avLst/>
          </a:prstGeom>
          <a:solidFill>
            <a:srgbClr val="FBE2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C7B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AN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676656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vs Multi-Agent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design to the job — more agents add power but also complexity.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257800" cy="2788920"/>
          </a:xfrm>
          <a:prstGeom prst="roundRect">
            <a:avLst>
              <a:gd name="adj" fmla="val 3279"/>
            </a:avLst>
          </a:prstGeom>
          <a:solidFill>
            <a:srgbClr val="EBE5F8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C7B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a Single Agent when…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focused and uses few tools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low cost matter most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easy debugging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context window holds everything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257800" cy="2788920"/>
          </a:xfrm>
          <a:prstGeom prst="roundRect">
            <a:avLst>
              <a:gd name="adj" fmla="val 3279"/>
            </a:avLst>
          </a:prstGeom>
          <a:solidFill>
            <a:srgbClr val="DCF0EC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Multi-Agent when…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29400" y="2971800"/>
            <a:ext cx="4572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spans many different skills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Subtasks can run in parallel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checks and balances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must scale and stay modular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BE2DA"/>
          </a:solidFill>
          <a:ln/>
          <a:effectLst>
            <a:outerShdw blurRad="114300" dist="38100" dir="8100000" algn="bl" rotWithShape="0">
              <a:srgbClr val="9A93B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51206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7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 </a:t>
            </a:r>
            <a:r>
              <a:rPr lang="en-US" sz="1500" dirty="0">
                <a:solidFill>
                  <a:srgbClr val="32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agent. Add more only when a single agent's context or skills run out.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image-76042e4f5d5f2213b6c5f246d03a2e5a.jpg"/>
          <p:cNvPicPr>
            <a:picLocks noChangeAspect="1"/>
          </p:cNvPicPr>
          <p:nvPr/>
        </p:nvPicPr>
        <p:blipFill>
          <a:blip r:embed="rId3"/>
          <a:srcRect l="32805" r="32805"/>
          <a:stretch/>
        </p:blipFill>
        <p:spPr>
          <a:xfrm>
            <a:off x="7680960" y="0"/>
            <a:ext cx="4510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818120" cy="6858000"/>
          </a:xfrm>
          <a:prstGeom prst="rect">
            <a:avLst/>
          </a:prstGeom>
          <a:solidFill>
            <a:srgbClr val="F7F4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4008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A3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WRAP-UP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1792" y="9601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58368" y="2020824"/>
            <a:ext cx="411480" cy="41148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280160" y="19202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act, not just chat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231343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reason, use tools, and loop toward a goal.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953512"/>
            <a:ext cx="411480" cy="411480"/>
          </a:xfrm>
          <a:prstGeom prst="ellipse">
            <a:avLst/>
          </a:prstGeom>
          <a:solidFill>
            <a:srgbClr val="8C7B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280160" y="285292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building blocks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324612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act · Prompts guide · Resources inform — the MCP primitives.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3886200"/>
            <a:ext cx="411480" cy="411480"/>
          </a:xfrm>
          <a:prstGeom prst="ellipse">
            <a:avLst/>
          </a:prstGeom>
          <a:solidFill>
            <a:srgbClr val="3EA3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280160" y="378561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vs multi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417880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agent, or a team of specialists for complex work.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8368" y="4818888"/>
            <a:ext cx="411480" cy="411480"/>
          </a:xfrm>
          <a:prstGeom prst="ellipse">
            <a:avLst/>
          </a:prstGeom>
          <a:solidFill>
            <a:srgbClr val="EC7B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280160" y="47183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22E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simple, scale up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511149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5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agents only when one can't cover the job.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5897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7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vocabulary to read, build, and reason about agentic systems.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A Primer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4373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1396</Words>
  <Application>Microsoft Office PowerPoint</Application>
  <PresentationFormat>Widescreen</PresentationFormat>
  <Paragraphs>253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2026-06-26T05:09:10Z</dcterms:created>
  <dcterms:modified xsi:type="dcterms:W3CDTF">2026-06-26T05:28:23Z</dcterms:modified>
</cp:coreProperties>
</file>