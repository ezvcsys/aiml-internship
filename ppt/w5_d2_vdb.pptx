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65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d3a23339860958fd839a404f85b1613a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81D">
              <a:alpha val="6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6181D">
              <a:alpha val="8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0" y="2743200"/>
            <a:ext cx="9144000" cy="2400300"/>
          </a:xfrm>
          <a:prstGeom prst="rect">
            <a:avLst/>
          </a:prstGeom>
          <a:solidFill>
            <a:srgbClr val="16181D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457200" cy="64008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BEGINNER'S GUIDE  · 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</a:t>
            </a:r>
            <a:r>
              <a:rPr lang="en-US" sz="6000" dirty="0">
                <a:solidFill>
                  <a:srgbClr val="FF3D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finds things by meaning — not keywords.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Vector Database?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60020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a specialized system that stores data as </a:t>
            </a:r>
            <a:r>
              <a:rPr lang="en-US" sz="1700" b="1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r>
              <a:rPr lang="en-US" sz="17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lists of numbers that capture meaning — and retrieves results by </a:t>
            </a:r>
            <a:r>
              <a:rPr lang="en-US" sz="1700" b="1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r>
              <a:rPr lang="en-US" sz="17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exact matches.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powers the AI tools you already use: chatbots that read documents, search that understands intent, and "more like this" recommendations.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554480"/>
            <a:ext cx="3886200" cy="13258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82296" cy="1325880"/>
          </a:xfrm>
          <a:prstGeom prst="rect">
            <a:avLst/>
          </a:prstGeom>
          <a:solidFill>
            <a:srgbClr val="9AA0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DATABASE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exact matches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2331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'shoes' AND price &lt; 100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063240"/>
            <a:ext cx="3886200" cy="1371600"/>
          </a:xfrm>
          <a:prstGeom prst="rect">
            <a:avLst/>
          </a:prstGeom>
          <a:solidFill>
            <a:srgbClr val="21242C"/>
          </a:solidFill>
          <a:ln w="15875">
            <a:solidFill>
              <a:srgbClr val="3DF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3063240"/>
            <a:ext cx="82296" cy="1371600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74920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474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similar meanings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38404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Nearest neighbors to [0.12, -0.45, 0.78, …]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5f51f45d9f8fa8a9832d0a18cb041771.jpg"/>
          <p:cNvPicPr>
            <a:picLocks noChangeAspect="1"/>
          </p:cNvPicPr>
          <p:nvPr/>
        </p:nvPicPr>
        <p:blipFill>
          <a:blip r:embed="rId3"/>
          <a:srcRect l="23630" r="23630"/>
          <a:stretch/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16181D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074920" y="0"/>
            <a:ext cx="54864" cy="5143500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Embeddings: Meaning as Numbers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600" b="1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turns text, images, or audio into a fixed-length list of numbers. Similar items land close together in space; unrelated ones land far apart.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"king"  ≈  "queen"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447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sit close — related meaning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"king"  ≠  "bicycle"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sit far apart — unrelated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9784" y="4370832"/>
            <a:ext cx="4014216" cy="502920"/>
          </a:xfrm>
          <a:prstGeom prst="rect">
            <a:avLst/>
          </a:prstGeom>
          <a:solidFill>
            <a:srgbClr val="16181D">
              <a:alpha val="9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349240" y="43708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Typically 384–1,536 dimensions per item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Vector Search Works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1737360"/>
            <a:ext cx="2679192" cy="24688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1737360"/>
            <a:ext cx="2679192" cy="82296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19659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3DF0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 the query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333756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question becomes a vector using the same embedding model.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23844" y="1737360"/>
            <a:ext cx="2679192" cy="24688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23844" y="1737360"/>
            <a:ext cx="2679192" cy="82296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52444" y="19659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FF3D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3552444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 distance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52444" y="333756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cosine similarity, Euclidean, or dot product.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90488" y="1737360"/>
            <a:ext cx="2679192" cy="24688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90488" y="1737360"/>
            <a:ext cx="2679192" cy="82296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19088" y="19659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3DF0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6419088" y="288036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Approximate search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9088" y="333756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indexes like HNSW return top matches fast — at huge scale.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4C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approximate? Checking every vector one-by-one is too slow at millions of records — ANN trades a tiny bit of accuracy for a massive speed-up.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01 · THE FLAGSHIP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Retrieval-Augmented Generation (RAG)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 give large language models a searchable memory — so answers are grounded in real, current documents. Refer: https://docs.langchain.com/oss/python/langchain/rag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1481328" cy="1051560"/>
          </a:xfrm>
          <a:prstGeom prst="rect">
            <a:avLst/>
          </a:prstGeom>
          <a:solidFill>
            <a:srgbClr val="21242C"/>
          </a:solidFill>
          <a:ln w="15875">
            <a:solidFill>
              <a:srgbClr val="9AA0AC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" y="2350008"/>
            <a:ext cx="1261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2402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30552" y="2240280"/>
            <a:ext cx="1481328" cy="1051560"/>
          </a:xfrm>
          <a:prstGeom prst="rect">
            <a:avLst/>
          </a:prstGeom>
          <a:solidFill>
            <a:srgbClr val="21242C"/>
          </a:solidFill>
          <a:ln w="15875">
            <a:solidFill>
              <a:srgbClr val="3DF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40280" y="2350008"/>
            <a:ext cx="1261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query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93592" y="22402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03904" y="2240280"/>
            <a:ext cx="1481328" cy="1051560"/>
          </a:xfrm>
          <a:prstGeom prst="rect">
            <a:avLst/>
          </a:prstGeom>
          <a:solidFill>
            <a:srgbClr val="21242C"/>
          </a:solidFill>
          <a:ln w="15875">
            <a:solidFill>
              <a:srgbClr val="FF3D9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913632" y="2350008"/>
            <a:ext cx="1261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finds top-K docs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66944" y="22402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77256" y="2240280"/>
            <a:ext cx="1481328" cy="1051560"/>
          </a:xfrm>
          <a:prstGeom prst="rect">
            <a:avLst/>
          </a:prstGeom>
          <a:solidFill>
            <a:srgbClr val="21242C"/>
          </a:solidFill>
          <a:ln w="15875">
            <a:solidFill>
              <a:srgbClr val="3DF07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86984" y="2350008"/>
            <a:ext cx="1261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retrieved context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296" y="224028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50608" y="2240280"/>
            <a:ext cx="1481328" cy="1051560"/>
          </a:xfrm>
          <a:prstGeom prst="rect">
            <a:avLst/>
          </a:prstGeom>
          <a:solidFill>
            <a:srgbClr val="21242C"/>
          </a:solidFill>
          <a:ln w="15875">
            <a:solidFill>
              <a:srgbClr val="FF3D9A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260336" y="2350008"/>
            <a:ext cx="12618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794760"/>
            <a:ext cx="2615184" cy="658368"/>
          </a:xfrm>
          <a:prstGeom prst="rect">
            <a:avLst/>
          </a:prstGeom>
          <a:solidFill>
            <a:srgbClr val="1B1E25"/>
          </a:solidFill>
          <a:ln w="1270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73152" cy="658368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85800" y="3794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Fewer hallucinations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64408" y="3794760"/>
            <a:ext cx="2615184" cy="658368"/>
          </a:xfrm>
          <a:prstGeom prst="rect">
            <a:avLst/>
          </a:prstGeom>
          <a:solidFill>
            <a:srgbClr val="1B1E25"/>
          </a:solidFill>
          <a:ln w="1270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264408" y="3794760"/>
            <a:ext cx="73152" cy="658368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93008" y="3794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up to date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71616" y="3794760"/>
            <a:ext cx="2615184" cy="658368"/>
          </a:xfrm>
          <a:prstGeom prst="rect">
            <a:avLst/>
          </a:prstGeom>
          <a:solidFill>
            <a:srgbClr val="1B1E25"/>
          </a:solidFill>
          <a:ln w="1270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71616" y="3794760"/>
            <a:ext cx="73152" cy="658368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300216" y="3794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Cites its sources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Search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6002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</a:t>
            </a:r>
            <a:r>
              <a:rPr lang="en-US" sz="1600" b="1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spelling. Synonyms, paraphrases, and other languages all match — even with zero shared keywords.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site search, help centers, document discovery, and code search.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600200"/>
            <a:ext cx="3794760" cy="283464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66360" y="1783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SEARCH:  "automobile"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66360" y="2240280"/>
            <a:ext cx="3246120" cy="0"/>
          </a:xfrm>
          <a:prstGeom prst="line">
            <a:avLst/>
          </a:prstGeom>
          <a:noFill/>
          <a:ln w="1270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6360" y="2331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A0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FINDS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2651760"/>
            <a:ext cx="1508760" cy="502920"/>
          </a:xfrm>
          <a:prstGeom prst="rect">
            <a:avLst/>
          </a:prstGeom>
          <a:solidFill>
            <a:srgbClr val="1B1E25"/>
          </a:solidFill>
          <a:ln w="12700">
            <a:solidFill>
              <a:srgbClr val="FF3D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6636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2651760"/>
            <a:ext cx="1508760" cy="502920"/>
          </a:xfrm>
          <a:prstGeom prst="rect">
            <a:avLst/>
          </a:prstGeom>
          <a:solidFill>
            <a:srgbClr val="1B1E25"/>
          </a:solidFill>
          <a:ln w="12700">
            <a:solidFill>
              <a:srgbClr val="FF3D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66360" y="3310128"/>
            <a:ext cx="1508760" cy="502920"/>
          </a:xfrm>
          <a:prstGeom prst="rect">
            <a:avLst/>
          </a:prstGeom>
          <a:solidFill>
            <a:srgbClr val="1B1E25"/>
          </a:solidFill>
          <a:ln w="12700">
            <a:solidFill>
              <a:srgbClr val="FF3D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166360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3310128"/>
            <a:ext cx="1508760" cy="502920"/>
          </a:xfrm>
          <a:prstGeom prst="rect">
            <a:avLst/>
          </a:prstGeom>
          <a:solidFill>
            <a:srgbClr val="1B1E25"/>
          </a:solidFill>
          <a:ln w="12700">
            <a:solidFill>
              <a:srgbClr val="FF3D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0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4023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would miss every one of these.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 Engines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"More like this." </a:t>
            </a: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with nearby embeddings are likely relevant — so the database surfaces similar products, songs, articles, or videos instantly.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615184" cy="187452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2615184" cy="82296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0632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Products you may like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3685032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items similar to what you viewed or bought.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64408" y="2514600"/>
            <a:ext cx="2615184" cy="187452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64408" y="2514600"/>
            <a:ext cx="2615184" cy="82296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93008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0632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Songs &amp; shows for you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93008" y="3685032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taste profiles to nearby content vectors.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71616" y="2514600"/>
            <a:ext cx="2615184" cy="187452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071616" y="2514600"/>
            <a:ext cx="2615184" cy="82296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0216" y="27432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0216" y="30632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articles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0216" y="3685032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stories close in meaning to the current one.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&amp; Multimodal Search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3DF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models</a:t>
            </a: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 text and images into the </a:t>
            </a:r>
            <a:r>
              <a:rPr lang="en-US" sz="1600" b="1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vector space</a:t>
            </a:r>
            <a:r>
              <a:rPr lang="en-US" sz="1600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you can search across formats by similarity.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4023360" cy="896112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82296" cy="896112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3232" y="2587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 → Image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 scene in words and retrieve matching photos.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023360" cy="896112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2468880"/>
            <a:ext cx="82296" cy="896112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19472" y="2587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→ Image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19472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search: find visually similar pictures.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93008"/>
            <a:ext cx="4023360" cy="896112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3493008"/>
            <a:ext cx="82296" cy="896112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3232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shopping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" y="3950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product and find the same or similar items.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493008"/>
            <a:ext cx="4023360" cy="896112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3493008"/>
            <a:ext cx="82296" cy="896112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19472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 &amp; video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19472" y="3950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clips to search by sound or scene similarity.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635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291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BIGGER PICTURE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Places Vectors Show Up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1600200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73152" cy="868680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3232" y="160020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chatbots &amp; agents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264408" y="1600200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64408" y="1600200"/>
            <a:ext cx="73152" cy="868680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20440" y="160020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Long-term agent memory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071616" y="1600200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71616" y="1600200"/>
            <a:ext cx="73152" cy="868680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27648" y="160020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&amp; anomaly detection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57200" y="2624328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2624328"/>
            <a:ext cx="73152" cy="868680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3232" y="2624328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 &amp; clustering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3264408" y="2624328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64408" y="2624328"/>
            <a:ext cx="73152" cy="868680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20440" y="2624328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Deduplication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071616" y="2624328"/>
            <a:ext cx="2615184" cy="868680"/>
          </a:xfrm>
          <a:prstGeom prst="rect">
            <a:avLst/>
          </a:prstGeom>
          <a:solidFill>
            <a:srgbClr val="21242C"/>
          </a:solidFill>
          <a:ln w="12700">
            <a:solidFill>
              <a:srgbClr val="262B34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71616" y="2624328"/>
            <a:ext cx="73152" cy="868680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27648" y="2624328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 answering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5720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 TOOLS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14600" y="4087368"/>
            <a:ext cx="6172200" cy="0"/>
          </a:xfrm>
          <a:prstGeom prst="line">
            <a:avLst/>
          </a:prstGeom>
          <a:noFill/>
          <a:ln w="12700">
            <a:solidFill>
              <a:srgbClr val="262B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Pinecone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87452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Weaviate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29184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Milvus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70916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1264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4380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4C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720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1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d3a23339860958fd839a404f85b1613a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81D">
              <a:alpha val="7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1737360"/>
            <a:ext cx="9144000" cy="2011680"/>
          </a:xfrm>
          <a:prstGeom prst="rect">
            <a:avLst/>
          </a:prstGeom>
          <a:solidFill>
            <a:srgbClr val="16181D">
              <a:alpha val="9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40080" y="548640"/>
            <a:ext cx="457200" cy="64008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676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0241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 by Meaning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109728" cy="713232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2057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Embeddings turn anything into numbers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4048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images, and audio become vectors that capture meaning.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916936"/>
            <a:ext cx="109728" cy="713232"/>
          </a:xfrm>
          <a:prstGeom prst="rect">
            <a:avLst/>
          </a:prstGeom>
          <a:solidFill>
            <a:srgbClr val="FF3D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4400" y="29169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Similarity search is the superpower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400" y="32644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indexes find nearest neighbors fast, even at massive scale.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776472"/>
            <a:ext cx="109728" cy="713232"/>
          </a:xfrm>
          <a:prstGeom prst="rect">
            <a:avLst/>
          </a:prstGeom>
          <a:solidFill>
            <a:srgbClr val="3DF0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14400" y="37764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 are everywhere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14400" y="41239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D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RAG, semantic search, recommendations, and multimodal retrieval.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DF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Databases · A Beginner's Guide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710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2</cp:revision>
  <dcterms:created xsi:type="dcterms:W3CDTF">2026-06-16T04:43:46Z</dcterms:created>
  <dcterms:modified xsi:type="dcterms:W3CDTF">2026-06-16T07:27:21Z</dcterms:modified>
</cp:coreProperties>
</file>