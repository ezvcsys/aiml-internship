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280160" cy="1280160"/>
          </a:xfrm>
          <a:prstGeom prst="ellipse">
            <a:avLst/>
          </a:prstGeom>
          <a:solidFill>
            <a:srgbClr val="FFD3B5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457200"/>
            <a:ext cx="914400" cy="914400"/>
          </a:xfrm>
          <a:prstGeom prst="ellipse">
            <a:avLst/>
          </a:prstGeom>
          <a:solidFill>
            <a:srgbClr val="A8E6CF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8046720" cy="38404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640080"/>
            <a:ext cx="228600" cy="3840480"/>
          </a:xfrm>
          <a:prstGeom prst="rect">
            <a:avLst/>
          </a:prstGeom>
          <a:solidFill>
            <a:srgbClr val="A8E6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66760" y="640080"/>
            <a:ext cx="228600" cy="3840480"/>
          </a:xfrm>
          <a:prstGeom prst="rect">
            <a:avLst/>
          </a:prstGeom>
          <a:solidFill>
            <a:srgbClr val="FFD3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vs PyTorch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beginner's guide to choosing your first deep learning framework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3200400"/>
            <a:ext cx="1463040" cy="411480"/>
          </a:xfrm>
          <a:prstGeom prst="roundRect">
            <a:avLst>
              <a:gd name="adj" fmla="val 26667"/>
            </a:avLst>
          </a:prstGeom>
          <a:solidFill>
            <a:srgbClr val="FFD3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3200400"/>
            <a:ext cx="1463040" cy="411480"/>
          </a:xfrm>
          <a:prstGeom prst="roundRect">
            <a:avLst>
              <a:gd name="adj" fmla="val 26667"/>
            </a:avLst>
          </a:prstGeom>
          <a:solidFill>
            <a:srgbClr val="FFF1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slides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3200400"/>
            <a:ext cx="2011680" cy="411480"/>
          </a:xfrm>
          <a:prstGeom prst="roundRect">
            <a:avLst>
              <a:gd name="adj" fmla="val 26667"/>
            </a:avLst>
          </a:prstGeom>
          <a:solidFill>
            <a:srgbClr val="E0C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Decision-focused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886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280160" cy="1280160"/>
          </a:xfrm>
          <a:prstGeom prst="ellipse">
            <a:avLst/>
          </a:prstGeom>
          <a:solidFill>
            <a:srgbClr val="FFD3B5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457200"/>
            <a:ext cx="914400" cy="914400"/>
          </a:xfrm>
          <a:prstGeom prst="ellipse">
            <a:avLst/>
          </a:prstGeom>
          <a:solidFill>
            <a:srgbClr val="A8E6CF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Deep Learning Framework?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toolkit that lets you build, train, and run neural networks without writing the math from scratch.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377440" cy="2286000"/>
          </a:xfrm>
          <a:prstGeom prst="roundRect">
            <a:avLst>
              <a:gd name="adj" fmla="val 7200"/>
            </a:avLst>
          </a:prstGeom>
          <a:solidFill>
            <a:srgbClr val="A8E6C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network layers with simple Python code.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377440" cy="2286000"/>
          </a:xfrm>
          <a:prstGeom prst="roundRect">
            <a:avLst>
              <a:gd name="adj" fmla="val 7200"/>
            </a:avLst>
          </a:prstGeom>
          <a:solidFill>
            <a:srgbClr val="FFD3B5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data, compute gradients, update weights.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2377440" cy="2286000"/>
          </a:xfrm>
          <a:prstGeom prst="roundRect">
            <a:avLst>
              <a:gd name="adj" fmla="val 7200"/>
            </a:avLst>
          </a:prstGeom>
          <a:solidFill>
            <a:srgbClr val="E0C3FC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model to phones, servers, or browsers.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and PyTorch are the two most popular frameworks today.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vs PyTorch  •  A Beginner's Guide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280160" cy="1280160"/>
          </a:xfrm>
          <a:prstGeom prst="ellipse">
            <a:avLst/>
          </a:prstGeom>
          <a:solidFill>
            <a:srgbClr val="FFD3B5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457200"/>
            <a:ext cx="914400" cy="914400"/>
          </a:xfrm>
          <a:prstGeom prst="ellipse">
            <a:avLst/>
          </a:prstGeom>
          <a:solidFill>
            <a:srgbClr val="A8E6CF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TensorFlow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914400" cy="9144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at Google, 2015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Industry-grade, production-first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 and deployment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API for easy model building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Lite for mobile, TF.js for browsers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ecosystem: TFX, TensorBoard, Hub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1508760"/>
          </a:xfrm>
          <a:prstGeom prst="roundRect">
            <a:avLst>
              <a:gd name="adj" fmla="val 10909"/>
            </a:avLst>
          </a:prstGeom>
          <a:solidFill>
            <a:srgbClr val="A8E6C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known for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production pipelines and mobile deployment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931920" cy="1554480"/>
          </a:xfrm>
          <a:prstGeom prst="roundRect">
            <a:avLst>
              <a:gd name="adj" fmla="val 10588"/>
            </a:avLst>
          </a:prstGeom>
          <a:solidFill>
            <a:srgbClr val="FFD3B5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fact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Google Search, Translate, and Photos behind the scenes.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vs PyTorch  •  A Beginner's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280160" cy="1280160"/>
          </a:xfrm>
          <a:prstGeom prst="ellipse">
            <a:avLst/>
          </a:prstGeom>
          <a:solidFill>
            <a:srgbClr val="FFD3B5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457200"/>
            <a:ext cx="914400" cy="914400"/>
          </a:xfrm>
          <a:prstGeom prst="ellipse">
            <a:avLst/>
          </a:prstGeom>
          <a:solidFill>
            <a:srgbClr val="A8E6CF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PyTorch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914400" cy="914400"/>
          </a:xfrm>
          <a:prstGeom prst="ellipse">
            <a:avLst/>
          </a:prstGeom>
          <a:solidFill>
            <a:srgbClr val="EE5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8308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at Meta, 2016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Research-first, Pythonic feel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regular Python — easy to debug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graphs: change models on the fly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Loved by researchers and academia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ecosystem: torchvision, Lightning, HF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1508760"/>
          </a:xfrm>
          <a:prstGeom prst="roundRect">
            <a:avLst>
              <a:gd name="adj" fmla="val 10909"/>
            </a:avLst>
          </a:prstGeom>
          <a:solidFill>
            <a:srgbClr val="E0C3FC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known for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experimentation and intuitive code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931920" cy="1554480"/>
          </a:xfrm>
          <a:prstGeom prst="roundRect">
            <a:avLst>
              <a:gd name="adj" fmla="val 10588"/>
            </a:avLst>
          </a:prstGeom>
          <a:solidFill>
            <a:srgbClr val="FFF1A8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fact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new research papers ship code in PyTorch first.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vs PyTorch  •  A Beginner's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280160" cy="1280160"/>
          </a:xfrm>
          <a:prstGeom prst="ellipse">
            <a:avLst/>
          </a:prstGeom>
          <a:solidFill>
            <a:srgbClr val="FFD3B5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457200"/>
            <a:ext cx="914400" cy="914400"/>
          </a:xfrm>
          <a:prstGeom prst="ellipse">
            <a:avLst/>
          </a:prstGeom>
          <a:solidFill>
            <a:srgbClr val="A8E6CF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+ Keras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Pythonic + dynamic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solidFill>
            <a:srgbClr val="F2E9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F2E9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Edge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Lite (mature)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429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ExecuTorch (growing)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solidFill>
            <a:srgbClr val="F2E9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008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Industry-heavy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Academia-heavy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vs PyTorch  •  A Beginner's Guide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280160" cy="1280160"/>
          </a:xfrm>
          <a:prstGeom prst="ellipse">
            <a:avLst/>
          </a:prstGeom>
          <a:solidFill>
            <a:srgbClr val="FFD3B5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457200"/>
            <a:ext cx="914400" cy="914400"/>
          </a:xfrm>
          <a:prstGeom prst="ellipse">
            <a:avLst/>
          </a:prstGeom>
          <a:solidFill>
            <a:srgbClr val="A8E6CF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friendly high-level APIs. The flavor differs.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23360" cy="2834640"/>
          </a:xfrm>
          <a:prstGeom prst="roundRect">
            <a:avLst>
              <a:gd name="adj" fmla="val 5806"/>
            </a:avLst>
          </a:prstGeom>
          <a:solidFill>
            <a:srgbClr val="FFD3B5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+ Keras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keras.Sequential([...])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y, epochs=5)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lines to a working model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built-in defaults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flexibility under the hood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2834640"/>
          </a:xfrm>
          <a:prstGeom prst="roundRect">
            <a:avLst>
              <a:gd name="adj" fmla="val 5806"/>
            </a:avLst>
          </a:prstGeom>
          <a:solidFill>
            <a:srgbClr val="A8E6C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2331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Net(nn.Module):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x, y in loader: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loss.backward(); opt.step()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31089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normal Python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debug with print/pdb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 more code to start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vs PyTorch  •  A Beginner's Guide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280160" cy="1280160"/>
          </a:xfrm>
          <a:prstGeom prst="ellipse">
            <a:avLst/>
          </a:prstGeom>
          <a:solidFill>
            <a:srgbClr val="FFD3B5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457200"/>
            <a:ext cx="914400" cy="914400"/>
          </a:xfrm>
          <a:prstGeom prst="ellipse">
            <a:avLst/>
          </a:prstGeom>
          <a:solidFill>
            <a:srgbClr val="A8E6CF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TensorFlow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21429"/>
            </a:avLst>
          </a:prstGeom>
          <a:solidFill>
            <a:srgbClr val="FFD3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care about shipping a model to real users — fast and reliably.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02336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2176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pipelines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TFX, Serving, and Vertex AI make deployment smooth.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402336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46320" y="2240280"/>
            <a:ext cx="320040" cy="32004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03520" y="2176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edge devices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514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Lite runs models on phones, microcontrollers, IoT.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02336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320040" cy="32004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97280" y="3456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 runs models directly in the browser.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402336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46320" y="3520440"/>
            <a:ext cx="320040" cy="32004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303520" y="3456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support and strong tooling for big teams.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vs PyTorch  •  A Beginner's Guide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280160" cy="1280160"/>
          </a:xfrm>
          <a:prstGeom prst="ellipse">
            <a:avLst/>
          </a:prstGeom>
          <a:solidFill>
            <a:srgbClr val="FFD3B5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457200"/>
            <a:ext cx="914400" cy="914400"/>
          </a:xfrm>
          <a:prstGeom prst="ellipse">
            <a:avLst/>
          </a:prstGeom>
          <a:solidFill>
            <a:srgbClr val="A8E6CF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PyTorch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21429"/>
            </a:avLst>
          </a:prstGeom>
          <a:solidFill>
            <a:srgbClr val="A8E6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care about exploring ideas and iterating quickly.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02336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EE5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2176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papers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cutting-edge models drop in PyTorch first.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402336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46320" y="2240280"/>
            <a:ext cx="320040" cy="320040"/>
          </a:xfrm>
          <a:prstGeom prst="ellipse">
            <a:avLst/>
          </a:prstGeom>
          <a:solidFill>
            <a:srgbClr val="EE5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03520" y="2176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architectures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514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graphs make weird ideas easy to try.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02336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320040" cy="320040"/>
          </a:xfrm>
          <a:prstGeom prst="ellipse">
            <a:avLst/>
          </a:prstGeom>
          <a:solidFill>
            <a:srgbClr val="EE5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97280" y="3456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basics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reads like plain Python — great for study.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402336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46320" y="3520440"/>
            <a:ext cx="320040" cy="320040"/>
          </a:xfrm>
          <a:prstGeom prst="ellipse">
            <a:avLst/>
          </a:prstGeom>
          <a:solidFill>
            <a:srgbClr val="EE5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303520" y="3456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ecosystem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backend for popular LLM and vision libraries.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vs PyTorch  •  A Beginner's Guide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280160" cy="1280160"/>
          </a:xfrm>
          <a:prstGeom prst="ellipse">
            <a:avLst/>
          </a:prstGeom>
          <a:solidFill>
            <a:srgbClr val="FFD3B5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457200"/>
            <a:ext cx="914400" cy="914400"/>
          </a:xfrm>
          <a:prstGeom prst="ellipse">
            <a:avLst/>
          </a:prstGeom>
          <a:solidFill>
            <a:srgbClr val="A8E6CF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Decision Guide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 one question: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 for your project right now?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4023360" cy="1874520"/>
          </a:xfrm>
          <a:prstGeom prst="roundRect">
            <a:avLst>
              <a:gd name="adj" fmla="val 8780"/>
            </a:avLst>
          </a:prstGeom>
          <a:solidFill>
            <a:srgbClr val="FFD3B5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TensorFlow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or edge target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engineering team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production use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651760"/>
            <a:ext cx="4023360" cy="1874520"/>
          </a:xfrm>
          <a:prstGeom prst="roundRect">
            <a:avLst>
              <a:gd name="adj" fmla="val 8780"/>
            </a:avLst>
          </a:prstGeom>
          <a:solidFill>
            <a:srgbClr val="A8E6C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PyTorch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new model ideas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or studying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recent papers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vs PyTorch  •  A Beginner's Guide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280160" cy="1280160"/>
          </a:xfrm>
          <a:prstGeom prst="ellipse">
            <a:avLst/>
          </a:prstGeom>
          <a:solidFill>
            <a:srgbClr val="FFD3B5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457200"/>
            <a:ext cx="914400" cy="914400"/>
          </a:xfrm>
          <a:prstGeom prst="ellipse">
            <a:avLst/>
          </a:prstGeom>
          <a:solidFill>
            <a:srgbClr val="A8E6CF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0" cy="73152"/>
          </a:xfrm>
          <a:prstGeom prst="roundRect">
            <a:avLst>
              <a:gd name="adj" fmla="val 50000"/>
            </a:avLst>
          </a:prstGeom>
          <a:solidFill>
            <a:srgbClr val="F2A8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24000"/>
            </a:avLst>
          </a:prstGeom>
          <a:solidFill>
            <a:srgbClr val="A8E6CF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excellent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1371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won't go wrong starting with either 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24000"/>
            </a:avLst>
          </a:prstGeom>
          <a:solidFill>
            <a:srgbClr val="FFD3B5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2176272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goal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2148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for deployment, PyTorch for exploration.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24000"/>
            </a:avLst>
          </a:prstGeom>
          <a:solidFill>
            <a:srgbClr val="E0C3FC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0080" y="2953512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transfer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2926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Tensors, layers, and gradients work the same way.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24000"/>
            </a:avLst>
          </a:prstGeom>
          <a:solidFill>
            <a:srgbClr val="FFF1A8"/>
          </a:solidFill>
          <a:ln/>
          <a:effectLst>
            <a:outerShdw blurRad="101600" dist="25400" dir="5400000" algn="bl" rotWithShape="0">
              <a:srgbClr val="1F2A4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0080" y="3730752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start building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one, build a tiny model, and learn by doing.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building!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vs PyTorch  •  A Beginner's Guide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688</Words>
  <Application>Microsoft Office PowerPoint</Application>
  <PresentationFormat>On-screen Show (16:9)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1</cp:revision>
  <dcterms:created xsi:type="dcterms:W3CDTF">2026-06-08T04:27:00Z</dcterms:created>
  <dcterms:modified xsi:type="dcterms:W3CDTF">2026-06-08T07:22:21Z</dcterms:modified>
</cp:coreProperties>
</file>