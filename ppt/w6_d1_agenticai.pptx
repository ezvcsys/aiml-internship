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Welcome the interns and set expectations. This is a 90-minute, beginner-friendly session — they only need basic familiarity with AI/ChatGPT. Goal: by the end they can explain what agentic AI is, how an agent works, name the major frameworks, and know what to learn next. Walk the four modules in the agenda. Mention the interactive checkpoints, group discussion, live demo, and mini quiz so they stay engaged. Set the tone: practical understanding over deep math.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Tell the story as a ladder, not a replacement — each stage builds on the last. RULE-BASED: a calculator or early chess engine, every rule written by a human. MACHINE LEARNING: spam filters that learn from examples. DEEP LEARNING: image and speech recognition, the 2012 ImageNet moment. GENERATIVE AI: ChatGPT, Midjourney — creates new content (this is where most interns already are). AGENTIC AI: the new frontier — the model now plans and uses tools to *do* things, not just produce text. Land the bottom line: the leap from 'answering' to 'acting'. Relatable analogy: GPS that tells you directions (generative) vs. a self-driving car that actually drives you there (agentic).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Give the one-line definition slowly: agentic AI pursues a goal on its own. Contrast 'says' vs 'does' — a generative model writes you a trip itinerary; an agentic system actually searches flights, compares them, and books one. Emphasize the loop: plan → act with tools → observe → adapt. Keep it concrete, avoid math. Then run INTERACTIVE QUESTION 1 (~2 min): ask the room which everyday apps already feel agentic (e.g., coding copilots, customer-support bots, research assistants). Validate answers and tee up the rest of the session: 'let's open the hood.'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Walk down the rows, not across — pick one row and compare all three columns. The lime column (Agentic) is the punchline each time. Key contrasts to stress: agentic is PROACTIVE and multi-step where the others are reactive; only agentic uses TOOLS and has real MEMORY; and the human ROLE shifts from operator → prompter → supervisor. Use the 'book your whole trip' example as a through-line into the demo later. Reassure interns: agentic systems are usually built ON TOP of generative models — it's an addition of planning, memory, and tools, not a totally different technology.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These five traits separate an agent from a plain chatbot — remember them as A-P-M-T-R. AUTONOMY: you give the goal, it figures out the steps. PLANNING: decomposition, e.g. 'research → draft → check → send'. MEMORY: short-term (this task) and long-term (your preferences). TOOL USE: the superpower — web search, running code, calling APIs; this is how it acts on the world. REASONING/REFLECTION: it inspects its own results, catches errors, and retries. Analogy: a capable new intern who is given an objective, makes a plan, uses the company tools, remembers feedback, and double-checks their work. Ask the room which trait they think is hardest to get right (usually reasoning/reliability).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This is the mental model to take away. Center: the LLM is the reasoning brain that decides what to do next — but a brain alone can't act. Around it sit the parts that make it an agent. PERCEPTION &amp; GOAL: it ingests the task and the current state. MEMORY: short- and long-term storage so it doesn't forget context between steps. TOOLS &amp; APIs: hands that reach into the real world — web search, code execution, databases, business apps. ACTION &amp; OUTPUT: it carries out the chosen step, then the result flows back to perception and the loop repeats. Stress that swapping in a stronger LLM, better memory, or more tools each makes the agent more capable. Transition: 'so how do these parts work together turn by turn?' →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Walk the cycle once with a concrete example, e.g. 'plan a study schedule for finals.' GOAL: the objective comes in. PLAN: pick the next action (look up exam dates). EXECUTE: use a tool (calendar/search). OBSERVE: read what came back, check for errors. IMPROVE: adjust the plan and go again. The dashed arrow back is the heart of it — agents iterate, they don't answer once. Mention the common pattern name 'ReAct' (Reason + Act) without going deep. Caution: more loops cost more time and money, and a stuck agent may loop forever — which is why humans supervise and set stop conditions. This loop is exactly what you'll watch in the live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Default advice: start with the simplest thing that works — a single agent — and only go multi-agent when the task clearly splits into specialties or crosses team/security boundaries. SINGLE: one brain, its tools and memory; easy to reason about and debug. MULTI: an orchestrator delegates to specialist agents (researcher, writer, reviewer) that can work in parallel — powerful but adds coordination overhead, latency, and more ways to fail. Microsoft's guidance: choose the lowest complexity that solves the problem. Run the GROUP DISCUSSION (~3 min) and take two answers — there's no single right answer; reward reasoning about complexity vs. control.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Reassure interns they won't reinvent the wheel — these frameworks give you the agent loop, memory, and tool-calling out of the box. LANGGRAPH: think of it as a flowchart/state-machine for agents; favored when you need control, reliability, and auditability in production. CREWAI: define roles like a small team ('researcher', 'writer'); fastest path to a working prototype. AUTOGEN (Microsoft): agents that talk to each other to solve a problem. OPENAI AGENTS SDK: minimal, three concepts — Agents, Handoffs, Guardrails — best if you're already on GPT models. Advice for students: pick ONE, build a small project; the concepts transfer across all of them. Don't get paralyzed choosing.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Make it tangible across five domains. RESEARCH: agents browse, gather and synthesise — compressing analyst hours. CODING: copilots like GitHub Copilot (1M+ developers) write, run and fix code in the editor. CUSTOMER SUPPORT: Klarna's assistant reportedly handles ~2.3M conversations a month with high resolution. HEALTHCARE: documentation agents save clinicians meaningful time per day. FINANCE: JPMorgan reports hundreds of agentic use cases in production (memos, fraud, settlement). IMPORTANT honesty note: many headline numbers come from vendor reports — present them as directional, not gospel, and say so. Then run INTERACTIVE QUESTION 2 (~2 min): connect it to their own internship tasks and the tools an agent would need.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(the centerpiece). Use this to make everything concrete. Give the agent the goal on screen, then narrate the loop from earlier slides as it happens: it PLANS (break the trip into sub-tasks), SEARCHES (calls travel/maps tools), COMPARES options, CHECKS the budget constraint, and DELIVERS a day-by-day plan. LIVE DEMO: if you have a working agent, run it now and think aloud at each step — especially when it self-corrects or drops an over-budget option; that 'observe → improve' moment is the magic. If no live tool is available, walk the numbered steps as a storyboard using the image. Pause for reactions and questions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Frame benefits around human impact, not hype. AUTOMATES BUSYWORK: agents take the repetitive multi-step chores so people do the thinking. 24/7 AT SCALE: no breaks, run many tasks in parallel, shorter turnaround. HANDLES COMPLEXITY: unlike fixed scripts, agents adapt when conditions change. PRODUCTIVITY: real teams report hours-to-minutes gains. Keep it balanced — set up the very next slide on risks, so interns see benefits and responsibilities together rather than as pure cheerleading.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Balance the optimism. Because agents take ACTIONS, mistakes have real consequences — a wrong API call, a bad purchase, leaked data. RISKS: doing the wrong thing, security/prompt-injection (malicious text that hijacks the agent), reliability and runaway cost, and accountability — a human or org is always responsible. RESPONSIBLE PRACTICES: human-in-the-loop for high-stakes steps, guardrails and permission/spend limits, full logging for audit, and restricting which tools the agent can touch. The 88% stat (from 2025–2026 reporting) shows security incidents are common — present it as 'design for safety from day one'. This is exactly the kind of judgement interns can add value with.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Paint where this is heading without overpromising. Analysts (Gartner) project agents will be embedded in a large share of enterprise software by end of 2026, and spending on agentic-capable software runs into the hundreds of billions. The architectural trend: from single assistants to coordinated 'teams' of agents, plus emerging standards for agents to use tools and talk to each other (MCP, A2A). REALITY CHECK — and say this plainly: the same analysts warn many early agentic projects will be cancelled for unclear value, cost, or weak governance. The takeaway for interns: the durable winners focus on real value and responsible deployment, not hype. That is where their careers come in —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Make it personal and encouraging — this field is young, so interns can get in early. ROLES: agent/AI engineer, LLM app developer, AI product manager, AI safety &amp; governance, automation designer, and (a fast-growing one) data analyst, since agents create lots of data to interpret. SKILLS: get comfortable prompting and calling LLM APIs; learn ONE framework well; understand agent design (memory, tools, orchestration); strengthen Python + APIs + basic data skills; and learn evaluation and responsible-use practices that make you trustworthy with powerful tools. Message: you don't need a PhD — you need projects. Next slide is a concrete roadmap.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Give them a realistic 8-week path so the field feels approachable. PHASE 1: LLM basics + prompting, make one API call work. PHASE 2: choose a single framework and build a single agent that uses a tool. PHASE 3: add memory and more tools, then experiment with multi-agent. PHASE 4: turn it into a portfolio project, add basic safety/evaluation, and publish (GitHub/demo). Emphasise learning by building, not just watching tutorials. Then set the HANDS-ON EXERCISE: a tiny 'study buddy' agent with one tool — ask them to bring it to the next session. Offer to share starter resources (final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Run this interactively — read each question, let the room answer aloud or by show of hands, then reveal. ANSWERS: Q1 → B) it takes actions with tools (the core idea of the whole session). Q2 → Goal → Plan → Execute → Observe → Improve (the loop from slide 7). Q3 → C) AutoGen is Microsoft's; LangGraph is LangChain, CrewAI is its own company. Q4 → FALSE — responsible agentic AI keeps a human in the loop, especially for high-stakes actions (callback to the risks slide). Celebrate correct answers, clarify misses, and use wrong answers as teaching moments. This doubles as a recap before the takeaways.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Rapid-fire recap — read each takeaway and let it land. (1) agentic = acts, not just answers; (2) the loop is the universal pattern; (3) the architecture is brain + memory + tools + perception + action; (4) prefer the simplest design that works; (5) responsibility scales with capability — guardrails, oversight, logging; (6) the fastest path to mastery is building a small project. Tell interns these six lines are the whole session in a nutshell — if they remember nothing else, remember these. Transition to Q&amp;A.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(plus buffer). Open the floor. Seed discussion with prompts if the room is quiet: 'What surprised you most?', 'Which use case fits your team?', 'What's still confusing about the agent loop or frameworks?'. Revisit earlier callouts and the hands-on exercise. If you don't know an answer, model good practice — say so and note where to look. Encourage them to start the study-buddy agent and bring questions next time. Point them to the resources on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 min. Hand off the learning path. Point to three buckets: (1) LEARN — official framework docs (LangGraph, CrewAI, AutoGen, OpenAI Agents SDK) and short explainers on agent patterns like ReAct; (2) BUILD — each framework's starter tutorials plus the study-buddy exercise, and publish on GitHub for feedback; (3) STAY CURRENT &amp; SAFE — industry reports (Gartner, McKinsey, IEEE), the OWASP Top 10 for agentic apps, and cloud architecture docs. Note that exact statistics in this deck came from 2025–2026 industry reporting and should be verified before reuse. Thank them and encourage them to build their first agent this week.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06744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A"/>
        </a:solidFill>
        <a:effectLst/>
      </p:bgPr>
    </p:bg>
    <p:spTree>
      <p:nvGrpSpPr>
        <p:cNvPr id="1" name=""/>
        <p:cNvGrpSpPr/>
        <p:nvPr/>
      </p:nvGrpSpPr>
      <p:grpSpPr>
        <a:xfrm>
          <a:off x="0" y="0"/>
          <a:ext cx="0" cy="0"/>
          <a:chOff x="0" y="0"/>
          <a:chExt cx="0" cy="0"/>
        </a:xfrm>
      </p:grpSpPr>
      <p:pic>
        <p:nvPicPr>
          <p:cNvPr id="2" name="Image 0" descr="/agent/turn2/workspace/images/image-af01cf66d1a086573e4057de40eff600.jpg"/>
          <p:cNvPicPr>
            <a:picLocks noChangeAspect="1"/>
          </p:cNvPicPr>
          <p:nvPr/>
        </p:nvPicPr>
        <p:blipFill>
          <a:blip r:embed="rId3"/>
          <a:srcRect t="4999" b="4999"/>
          <a:stretch/>
        </p:blipFill>
        <p:spPr>
          <a:xfrm>
            <a:off x="0" y="0"/>
            <a:ext cx="12191695" cy="6858000"/>
          </a:xfrm>
          <a:prstGeom prst="rect">
            <a:avLst/>
          </a:prstGeom>
        </p:spPr>
      </p:pic>
      <p:sp>
        <p:nvSpPr>
          <p:cNvPr id="3" name="Shape 0"/>
          <p:cNvSpPr/>
          <p:nvPr/>
        </p:nvSpPr>
        <p:spPr>
          <a:xfrm>
            <a:off x="0" y="0"/>
            <a:ext cx="7040880" cy="6858000"/>
          </a:xfrm>
          <a:prstGeom prst="rect">
            <a:avLst/>
          </a:prstGeom>
          <a:solidFill>
            <a:srgbClr val="14161A">
              <a:alpha val="82000"/>
            </a:srgbClr>
          </a:solidFill>
          <a:ln/>
        </p:spPr>
        <p:txBody>
          <a:bodyPr/>
          <a:lstStyle/>
          <a:p>
            <a:endParaRPr lang="en-IN"/>
          </a:p>
        </p:txBody>
      </p:sp>
      <p:sp>
        <p:nvSpPr>
          <p:cNvPr id="4" name="Shape 1"/>
          <p:cNvSpPr/>
          <p:nvPr/>
        </p:nvSpPr>
        <p:spPr>
          <a:xfrm>
            <a:off x="0" y="0"/>
            <a:ext cx="4023360" cy="6858000"/>
          </a:xfrm>
          <a:prstGeom prst="rect">
            <a:avLst/>
          </a:prstGeom>
          <a:solidFill>
            <a:srgbClr val="14161A"/>
          </a:solidFill>
          <a:ln/>
        </p:spPr>
        <p:txBody>
          <a:bodyPr/>
          <a:lstStyle/>
          <a:p>
            <a:endParaRPr lang="en-IN"/>
          </a:p>
        </p:txBody>
      </p:sp>
      <p:sp>
        <p:nvSpPr>
          <p:cNvPr id="5" name="Text 2"/>
          <p:cNvSpPr/>
          <p:nvPr/>
        </p:nvSpPr>
        <p:spPr>
          <a:xfrm>
            <a:off x="640080" y="868680"/>
            <a:ext cx="6400800" cy="365760"/>
          </a:xfrm>
          <a:prstGeom prst="rect">
            <a:avLst/>
          </a:prstGeom>
          <a:noFill/>
          <a:ln/>
        </p:spPr>
        <p:txBody>
          <a:bodyPr wrap="square" lIns="0" tIns="0" rIns="0" bIns="0" rtlCol="0" anchor="ctr"/>
          <a:lstStyle/>
          <a:p>
            <a:pPr marL="0" indent="0">
              <a:buNone/>
            </a:pPr>
            <a:r>
              <a:rPr lang="en-US" sz="1250" b="1" kern="0" spc="200" dirty="0">
                <a:solidFill>
                  <a:srgbClr val="B6F500"/>
                </a:solidFill>
                <a:latin typeface="Segoe UI Semibold" pitchFamily="34" charset="0"/>
                <a:ea typeface="Segoe UI Semibold" pitchFamily="34" charset="-122"/>
                <a:cs typeface="Segoe UI Semibold" pitchFamily="34" charset="-120"/>
              </a:rPr>
              <a:t>STUDENT INTERN WORKSHOP  •  90 MINUTES</a:t>
            </a:r>
            <a:endParaRPr lang="en-US" sz="1250" dirty="0"/>
          </a:p>
        </p:txBody>
      </p:sp>
      <p:sp>
        <p:nvSpPr>
          <p:cNvPr id="6" name="Text 3"/>
          <p:cNvSpPr/>
          <p:nvPr/>
        </p:nvSpPr>
        <p:spPr>
          <a:xfrm>
            <a:off x="603504" y="1371600"/>
            <a:ext cx="6766560" cy="2103120"/>
          </a:xfrm>
          <a:prstGeom prst="rect">
            <a:avLst/>
          </a:prstGeom>
          <a:noFill/>
          <a:ln/>
        </p:spPr>
        <p:txBody>
          <a:bodyPr wrap="square" lIns="0" tIns="0" rIns="0" bIns="0" rtlCol="0" anchor="ctr"/>
          <a:lstStyle/>
          <a:p>
            <a:pPr marL="0" indent="0">
              <a:lnSpc>
                <a:spcPts val="5200"/>
              </a:lnSpc>
              <a:buNone/>
            </a:pPr>
            <a:r>
              <a:rPr lang="en-US" sz="5200" b="1" dirty="0">
                <a:solidFill>
                  <a:srgbClr val="FFFFFF"/>
                </a:solidFill>
                <a:latin typeface="Segoe UI Semibold" pitchFamily="34" charset="0"/>
                <a:ea typeface="Segoe UI Semibold" pitchFamily="34" charset="-122"/>
                <a:cs typeface="Segoe UI Semibold" pitchFamily="34" charset="-120"/>
              </a:rPr>
              <a:t>Introduction to</a:t>
            </a:r>
            <a:endParaRPr lang="en-US" sz="5200" dirty="0"/>
          </a:p>
          <a:p>
            <a:pPr marL="0" indent="0">
              <a:lnSpc>
                <a:spcPts val="5200"/>
              </a:lnSpc>
              <a:buNone/>
            </a:pPr>
            <a:r>
              <a:rPr lang="en-US" sz="5200" b="1" dirty="0">
                <a:solidFill>
                  <a:srgbClr val="FFFFFF"/>
                </a:solidFill>
                <a:latin typeface="Segoe UI Semibold" pitchFamily="34" charset="0"/>
                <a:ea typeface="Segoe UI Semibold" pitchFamily="34" charset="-122"/>
                <a:cs typeface="Segoe UI Semibold" pitchFamily="34" charset="-120"/>
              </a:rPr>
              <a:t>Agentic AI</a:t>
            </a:r>
            <a:endParaRPr lang="en-US" sz="5200" dirty="0"/>
          </a:p>
        </p:txBody>
      </p:sp>
      <p:sp>
        <p:nvSpPr>
          <p:cNvPr id="7" name="Text 4"/>
          <p:cNvSpPr/>
          <p:nvPr/>
        </p:nvSpPr>
        <p:spPr>
          <a:xfrm>
            <a:off x="640080" y="3611880"/>
            <a:ext cx="6400800" cy="914400"/>
          </a:xfrm>
          <a:prstGeom prst="rect">
            <a:avLst/>
          </a:prstGeom>
          <a:noFill/>
          <a:ln/>
        </p:spPr>
        <p:txBody>
          <a:bodyPr wrap="square" lIns="0" tIns="0" rIns="0" bIns="0" rtlCol="0" anchor="ctr"/>
          <a:lstStyle/>
          <a:p>
            <a:pPr marL="0" indent="0">
              <a:lnSpc>
                <a:spcPts val="2200"/>
              </a:lnSpc>
              <a:buNone/>
            </a:pPr>
            <a:r>
              <a:rPr lang="en-US" sz="1550" dirty="0">
                <a:solidFill>
                  <a:srgbClr val="C9D1DA"/>
                </a:solidFill>
                <a:latin typeface="Segoe UI" pitchFamily="34" charset="0"/>
                <a:ea typeface="Segoe UI" pitchFamily="34" charset="-122"/>
                <a:cs typeface="Segoe UI" pitchFamily="34" charset="-120"/>
              </a:rPr>
              <a:t>From chatbots that talk to AI that acts — a hands-on primer on autonomous AI agents, how they think, and how to build a career around them.</a:t>
            </a:r>
            <a:endParaRPr lang="en-US" sz="1550" dirty="0"/>
          </a:p>
        </p:txBody>
      </p:sp>
      <p:sp>
        <p:nvSpPr>
          <p:cNvPr id="8" name="Text 5"/>
          <p:cNvSpPr/>
          <p:nvPr/>
        </p:nvSpPr>
        <p:spPr>
          <a:xfrm>
            <a:off x="640080" y="4800600"/>
            <a:ext cx="1554480" cy="365760"/>
          </a:xfrm>
          <a:prstGeom prst="rect">
            <a:avLst/>
          </a:prstGeom>
          <a:noFill/>
          <a:ln/>
        </p:spPr>
        <p:txBody>
          <a:bodyPr wrap="square" lIns="0" tIns="0" rIns="0" bIns="0" rtlCol="0" anchor="ctr"/>
          <a:lstStyle/>
          <a:p>
            <a:pPr marL="0" indent="0">
              <a:buNone/>
            </a:pPr>
            <a:r>
              <a:rPr lang="en-US" sz="2000" b="1" dirty="0">
                <a:solidFill>
                  <a:srgbClr val="B6F500"/>
                </a:solidFill>
                <a:latin typeface="Segoe UI Semibold" pitchFamily="34" charset="0"/>
                <a:ea typeface="Segoe UI Semibold" pitchFamily="34" charset="-122"/>
                <a:cs typeface="Segoe UI Semibold" pitchFamily="34" charset="-120"/>
              </a:rPr>
              <a:t>01</a:t>
            </a:r>
            <a:endParaRPr lang="en-US" sz="2000" dirty="0"/>
          </a:p>
        </p:txBody>
      </p:sp>
      <p:sp>
        <p:nvSpPr>
          <p:cNvPr id="9" name="Text 6"/>
          <p:cNvSpPr/>
          <p:nvPr/>
        </p:nvSpPr>
        <p:spPr>
          <a:xfrm>
            <a:off x="640080" y="5184648"/>
            <a:ext cx="1554480" cy="640080"/>
          </a:xfrm>
          <a:prstGeom prst="rect">
            <a:avLst/>
          </a:prstGeom>
          <a:noFill/>
          <a:ln/>
        </p:spPr>
        <p:txBody>
          <a:bodyPr wrap="square" lIns="0" tIns="0" rIns="0" bIns="0" rtlCol="0" anchor="ctr"/>
          <a:lstStyle/>
          <a:p>
            <a:pPr marL="0" indent="0">
              <a:buNone/>
            </a:pPr>
            <a:r>
              <a:rPr lang="en-US" sz="1150" dirty="0">
                <a:solidFill>
                  <a:srgbClr val="C9D1DA"/>
                </a:solidFill>
                <a:latin typeface="Segoe UI" pitchFamily="34" charset="0"/>
                <a:ea typeface="Segoe UI" pitchFamily="34" charset="-122"/>
                <a:cs typeface="Segoe UI" pitchFamily="34" charset="-120"/>
              </a:rPr>
              <a:t>Foundations &amp; Evolution</a:t>
            </a:r>
            <a:endParaRPr lang="en-US" sz="1150" dirty="0"/>
          </a:p>
        </p:txBody>
      </p:sp>
      <p:sp>
        <p:nvSpPr>
          <p:cNvPr id="10" name="Text 7"/>
          <p:cNvSpPr/>
          <p:nvPr/>
        </p:nvSpPr>
        <p:spPr>
          <a:xfrm>
            <a:off x="2267712" y="4800600"/>
            <a:ext cx="1554480" cy="365760"/>
          </a:xfrm>
          <a:prstGeom prst="rect">
            <a:avLst/>
          </a:prstGeom>
          <a:noFill/>
          <a:ln/>
        </p:spPr>
        <p:txBody>
          <a:bodyPr wrap="square" lIns="0" tIns="0" rIns="0" bIns="0" rtlCol="0" anchor="ctr"/>
          <a:lstStyle/>
          <a:p>
            <a:pPr marL="0" indent="0">
              <a:buNone/>
            </a:pPr>
            <a:r>
              <a:rPr lang="en-US" sz="2000" b="1" dirty="0">
                <a:solidFill>
                  <a:srgbClr val="B6F500"/>
                </a:solidFill>
                <a:latin typeface="Segoe UI Semibold" pitchFamily="34" charset="0"/>
                <a:ea typeface="Segoe UI Semibold" pitchFamily="34" charset="-122"/>
                <a:cs typeface="Segoe UI Semibold" pitchFamily="34" charset="-120"/>
              </a:rPr>
              <a:t>02</a:t>
            </a:r>
            <a:endParaRPr lang="en-US" sz="2000" dirty="0"/>
          </a:p>
        </p:txBody>
      </p:sp>
      <p:sp>
        <p:nvSpPr>
          <p:cNvPr id="11" name="Text 8"/>
          <p:cNvSpPr/>
          <p:nvPr/>
        </p:nvSpPr>
        <p:spPr>
          <a:xfrm>
            <a:off x="2267712" y="5184648"/>
            <a:ext cx="1554480" cy="640080"/>
          </a:xfrm>
          <a:prstGeom prst="rect">
            <a:avLst/>
          </a:prstGeom>
          <a:noFill/>
          <a:ln/>
        </p:spPr>
        <p:txBody>
          <a:bodyPr wrap="square" lIns="0" tIns="0" rIns="0" bIns="0" rtlCol="0" anchor="ctr"/>
          <a:lstStyle/>
          <a:p>
            <a:pPr marL="0" indent="0">
              <a:buNone/>
            </a:pPr>
            <a:r>
              <a:rPr lang="en-US" sz="1150" dirty="0">
                <a:solidFill>
                  <a:srgbClr val="C9D1DA"/>
                </a:solidFill>
                <a:latin typeface="Segoe UI" pitchFamily="34" charset="0"/>
                <a:ea typeface="Segoe UI" pitchFamily="34" charset="-122"/>
                <a:cs typeface="Segoe UI" pitchFamily="34" charset="-120"/>
              </a:rPr>
              <a:t>Inside an AI Agent</a:t>
            </a:r>
            <a:endParaRPr lang="en-US" sz="1150" dirty="0"/>
          </a:p>
        </p:txBody>
      </p:sp>
      <p:sp>
        <p:nvSpPr>
          <p:cNvPr id="12" name="Text 9"/>
          <p:cNvSpPr/>
          <p:nvPr/>
        </p:nvSpPr>
        <p:spPr>
          <a:xfrm>
            <a:off x="3895344" y="4800600"/>
            <a:ext cx="1554480" cy="365760"/>
          </a:xfrm>
          <a:prstGeom prst="rect">
            <a:avLst/>
          </a:prstGeom>
          <a:noFill/>
          <a:ln/>
        </p:spPr>
        <p:txBody>
          <a:bodyPr wrap="square" lIns="0" tIns="0" rIns="0" bIns="0" rtlCol="0" anchor="ctr"/>
          <a:lstStyle/>
          <a:p>
            <a:pPr marL="0" indent="0">
              <a:buNone/>
            </a:pPr>
            <a:r>
              <a:rPr lang="en-US" sz="2000" b="1" dirty="0">
                <a:solidFill>
                  <a:srgbClr val="B6F500"/>
                </a:solidFill>
                <a:latin typeface="Segoe UI Semibold" pitchFamily="34" charset="0"/>
                <a:ea typeface="Segoe UI Semibold" pitchFamily="34" charset="-122"/>
                <a:cs typeface="Segoe UI Semibold" pitchFamily="34" charset="-120"/>
              </a:rPr>
              <a:t>03</a:t>
            </a:r>
            <a:endParaRPr lang="en-US" sz="2000" dirty="0"/>
          </a:p>
        </p:txBody>
      </p:sp>
      <p:sp>
        <p:nvSpPr>
          <p:cNvPr id="13" name="Text 10"/>
          <p:cNvSpPr/>
          <p:nvPr/>
        </p:nvSpPr>
        <p:spPr>
          <a:xfrm>
            <a:off x="3895344" y="5184648"/>
            <a:ext cx="1554480" cy="640080"/>
          </a:xfrm>
          <a:prstGeom prst="rect">
            <a:avLst/>
          </a:prstGeom>
          <a:noFill/>
          <a:ln/>
        </p:spPr>
        <p:txBody>
          <a:bodyPr wrap="square" lIns="0" tIns="0" rIns="0" bIns="0" rtlCol="0" anchor="ctr"/>
          <a:lstStyle/>
          <a:p>
            <a:pPr marL="0" indent="0">
              <a:buNone/>
            </a:pPr>
            <a:r>
              <a:rPr lang="en-US" sz="1150" dirty="0">
                <a:solidFill>
                  <a:srgbClr val="C9D1DA"/>
                </a:solidFill>
                <a:latin typeface="Segoe UI" pitchFamily="34" charset="0"/>
                <a:ea typeface="Segoe UI" pitchFamily="34" charset="-122"/>
                <a:cs typeface="Segoe UI" pitchFamily="34" charset="-120"/>
              </a:rPr>
              <a:t>Frameworks &amp; Real Uses</a:t>
            </a:r>
            <a:endParaRPr lang="en-US" sz="1150" dirty="0"/>
          </a:p>
        </p:txBody>
      </p:sp>
      <p:sp>
        <p:nvSpPr>
          <p:cNvPr id="14" name="Text 11"/>
          <p:cNvSpPr/>
          <p:nvPr/>
        </p:nvSpPr>
        <p:spPr>
          <a:xfrm>
            <a:off x="5522976" y="4800600"/>
            <a:ext cx="1554480" cy="365760"/>
          </a:xfrm>
          <a:prstGeom prst="rect">
            <a:avLst/>
          </a:prstGeom>
          <a:noFill/>
          <a:ln/>
        </p:spPr>
        <p:txBody>
          <a:bodyPr wrap="square" lIns="0" tIns="0" rIns="0" bIns="0" rtlCol="0" anchor="ctr"/>
          <a:lstStyle/>
          <a:p>
            <a:pPr marL="0" indent="0">
              <a:buNone/>
            </a:pPr>
            <a:r>
              <a:rPr lang="en-US" sz="2000" b="1" dirty="0">
                <a:solidFill>
                  <a:srgbClr val="B6F500"/>
                </a:solidFill>
                <a:latin typeface="Segoe UI Semibold" pitchFamily="34" charset="0"/>
                <a:ea typeface="Segoe UI Semibold" pitchFamily="34" charset="-122"/>
                <a:cs typeface="Segoe UI Semibold" pitchFamily="34" charset="-120"/>
              </a:rPr>
              <a:t>04</a:t>
            </a:r>
            <a:endParaRPr lang="en-US" sz="2000" dirty="0"/>
          </a:p>
        </p:txBody>
      </p:sp>
      <p:sp>
        <p:nvSpPr>
          <p:cNvPr id="15" name="Text 12"/>
          <p:cNvSpPr/>
          <p:nvPr/>
        </p:nvSpPr>
        <p:spPr>
          <a:xfrm>
            <a:off x="5522976" y="5184648"/>
            <a:ext cx="1554480" cy="640080"/>
          </a:xfrm>
          <a:prstGeom prst="rect">
            <a:avLst/>
          </a:prstGeom>
          <a:noFill/>
          <a:ln/>
        </p:spPr>
        <p:txBody>
          <a:bodyPr wrap="square" lIns="0" tIns="0" rIns="0" bIns="0" rtlCol="0" anchor="ctr"/>
          <a:lstStyle/>
          <a:p>
            <a:pPr marL="0" indent="0">
              <a:buNone/>
            </a:pPr>
            <a:r>
              <a:rPr lang="en-US" sz="1150" dirty="0">
                <a:solidFill>
                  <a:srgbClr val="C9D1DA"/>
                </a:solidFill>
                <a:latin typeface="Segoe UI" pitchFamily="34" charset="0"/>
                <a:ea typeface="Segoe UI" pitchFamily="34" charset="-122"/>
                <a:cs typeface="Segoe UI" pitchFamily="34" charset="-120"/>
              </a:rPr>
              <a:t>Future, Careers &amp; Roadmap</a:t>
            </a:r>
            <a:endParaRPr lang="en-US" sz="1150" dirty="0"/>
          </a:p>
        </p:txBody>
      </p:sp>
      <p:sp>
        <p:nvSpPr>
          <p:cNvPr id="16" name="Text 13"/>
          <p:cNvSpPr/>
          <p:nvPr/>
        </p:nvSpPr>
        <p:spPr>
          <a:xfrm>
            <a:off x="640080" y="5989320"/>
            <a:ext cx="8229600" cy="365760"/>
          </a:xfrm>
          <a:prstGeom prst="rect">
            <a:avLst/>
          </a:prstGeom>
          <a:noFill/>
          <a:ln/>
        </p:spPr>
        <p:txBody>
          <a:bodyPr wrap="square" lIns="0" tIns="0" rIns="0" bIns="0" rtlCol="0" anchor="ctr"/>
          <a:lstStyle/>
          <a:p>
            <a:pPr marL="0" indent="0">
              <a:buNone/>
            </a:pPr>
            <a:r>
              <a:rPr lang="en-US" sz="1100" i="1" dirty="0">
                <a:solidFill>
                  <a:srgbClr val="B6F500"/>
                </a:solidFill>
                <a:latin typeface="Segoe UI" pitchFamily="34" charset="0"/>
                <a:ea typeface="Segoe UI" pitchFamily="34" charset="-122"/>
                <a:cs typeface="Segoe UI" pitchFamily="34" charset="-120"/>
              </a:rPr>
              <a:t>Includes 2 interactive checkpoints  ·  group discussion  ·  live demo  ·  mini quiz  ·  Q&amp;A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HOW WE GOT HERE</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The Evolution of AI</a:t>
            </a:r>
            <a:endParaRPr lang="en-US" sz="3000" dirty="0"/>
          </a:p>
        </p:txBody>
      </p:sp>
      <p:sp>
        <p:nvSpPr>
          <p:cNvPr id="4" name="Shape 2"/>
          <p:cNvSpPr/>
          <p:nvPr/>
        </p:nvSpPr>
        <p:spPr>
          <a:xfrm>
            <a:off x="548640" y="1920240"/>
            <a:ext cx="2013509" cy="3383280"/>
          </a:xfrm>
          <a:prstGeom prst="roundRect">
            <a:avLst>
              <a:gd name="adj" fmla="val 4087"/>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548640" y="1920240"/>
            <a:ext cx="2013509" cy="109728"/>
          </a:xfrm>
          <a:prstGeom prst="rect">
            <a:avLst/>
          </a:prstGeom>
          <a:solidFill>
            <a:srgbClr val="8FBF00"/>
          </a:solidFill>
          <a:ln/>
        </p:spPr>
        <p:txBody>
          <a:bodyPr/>
          <a:lstStyle/>
          <a:p>
            <a:endParaRPr lang="en-IN"/>
          </a:p>
        </p:txBody>
      </p:sp>
      <p:sp>
        <p:nvSpPr>
          <p:cNvPr id="6" name="Shape 4"/>
          <p:cNvSpPr/>
          <p:nvPr/>
        </p:nvSpPr>
        <p:spPr>
          <a:xfrm>
            <a:off x="1253642" y="2304288"/>
            <a:ext cx="603504" cy="603504"/>
          </a:xfrm>
          <a:prstGeom prst="ellipse">
            <a:avLst/>
          </a:prstGeom>
          <a:solidFill>
            <a:srgbClr val="23272F"/>
          </a:solidFill>
          <a:ln/>
        </p:spPr>
        <p:txBody>
          <a:bodyPr/>
          <a:lstStyle/>
          <a:p>
            <a:endParaRPr lang="en-IN"/>
          </a:p>
        </p:txBody>
      </p:sp>
      <p:sp>
        <p:nvSpPr>
          <p:cNvPr id="7" name="Text 5"/>
          <p:cNvSpPr/>
          <p:nvPr/>
        </p:nvSpPr>
        <p:spPr>
          <a:xfrm>
            <a:off x="1253642" y="2304288"/>
            <a:ext cx="603504" cy="603504"/>
          </a:xfrm>
          <a:prstGeom prst="rect">
            <a:avLst/>
          </a:prstGeom>
          <a:noFill/>
          <a:ln/>
        </p:spPr>
        <p:txBody>
          <a:bodyPr wrap="square" lIns="0" tIns="0" rIns="0" bIns="0" rtlCol="0" anchor="ctr"/>
          <a:lstStyle/>
          <a:p>
            <a:pPr marL="0" indent="0" algn="ctr">
              <a:buNone/>
            </a:pPr>
            <a:r>
              <a:rPr lang="en-US" sz="1700" b="1" dirty="0">
                <a:solidFill>
                  <a:srgbClr val="B6F500"/>
                </a:solidFill>
                <a:latin typeface="Segoe UI Semibold" pitchFamily="34" charset="0"/>
                <a:ea typeface="Segoe UI Semibold" pitchFamily="34" charset="-122"/>
                <a:cs typeface="Segoe UI Semibold" pitchFamily="34" charset="-120"/>
              </a:rPr>
              <a:t>1</a:t>
            </a:r>
            <a:endParaRPr lang="en-US" sz="1700" dirty="0"/>
          </a:p>
        </p:txBody>
      </p:sp>
      <p:sp>
        <p:nvSpPr>
          <p:cNvPr id="8" name="Shape 6"/>
          <p:cNvSpPr/>
          <p:nvPr/>
        </p:nvSpPr>
        <p:spPr>
          <a:xfrm>
            <a:off x="1253642" y="2304288"/>
            <a:ext cx="603504" cy="603504"/>
          </a:xfrm>
          <a:prstGeom prst="ellipse">
            <a:avLst/>
          </a:prstGeom>
          <a:ln w="15875">
            <a:solidFill>
              <a:srgbClr val="B6F500"/>
            </a:solidFill>
            <a:prstDash val="solid"/>
          </a:ln>
        </p:spPr>
        <p:txBody>
          <a:bodyPr/>
          <a:lstStyle/>
          <a:p>
            <a:endParaRPr lang="en-IN"/>
          </a:p>
        </p:txBody>
      </p:sp>
      <p:sp>
        <p:nvSpPr>
          <p:cNvPr id="9" name="Text 7"/>
          <p:cNvSpPr/>
          <p:nvPr/>
        </p:nvSpPr>
        <p:spPr>
          <a:xfrm>
            <a:off x="640080" y="3063240"/>
            <a:ext cx="1830629" cy="640080"/>
          </a:xfrm>
          <a:prstGeom prst="rect">
            <a:avLst/>
          </a:prstGeom>
          <a:noFill/>
          <a:ln/>
        </p:spPr>
        <p:txBody>
          <a:bodyPr wrap="square" lIns="0" tIns="0" rIns="0" bIns="0" rtlCol="0" anchor="ct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Rule-Based</a:t>
            </a:r>
            <a:endParaRPr lang="en-US" sz="1450" dirty="0"/>
          </a:p>
        </p:txBody>
      </p:sp>
      <p:sp>
        <p:nvSpPr>
          <p:cNvPr id="10" name="Text 8"/>
          <p:cNvSpPr/>
          <p:nvPr/>
        </p:nvSpPr>
        <p:spPr>
          <a:xfrm>
            <a:off x="658368" y="3703320"/>
            <a:ext cx="1794053" cy="1143000"/>
          </a:xfrm>
          <a:prstGeom prst="rect">
            <a:avLst/>
          </a:prstGeom>
          <a:noFill/>
          <a:ln/>
        </p:spPr>
        <p:txBody>
          <a:bodyPr wrap="square" lIns="0" tIns="0" rIns="0" bIns="0" rtlCol="0" anchor="t"/>
          <a:lstStyle/>
          <a:p>
            <a:pPr marL="0" indent="0" algn="ctr">
              <a:lnSpc>
                <a:spcPts val="1500"/>
              </a:lnSpc>
              <a:buNone/>
            </a:pPr>
            <a:r>
              <a:rPr lang="en-US" sz="1100" dirty="0">
                <a:solidFill>
                  <a:srgbClr val="C9D1DA"/>
                </a:solidFill>
                <a:latin typeface="Segoe UI" pitchFamily="34" charset="0"/>
                <a:ea typeface="Segoe UI" pitchFamily="34" charset="-122"/>
                <a:cs typeface="Segoe UI" pitchFamily="34" charset="-120"/>
              </a:rPr>
              <a:t>Hand-coded if-then rules. No learning.</a:t>
            </a:r>
            <a:endParaRPr lang="en-US" sz="1100" dirty="0"/>
          </a:p>
        </p:txBody>
      </p:sp>
      <p:sp>
        <p:nvSpPr>
          <p:cNvPr id="11" name="Text 9"/>
          <p:cNvSpPr/>
          <p:nvPr/>
        </p:nvSpPr>
        <p:spPr>
          <a:xfrm>
            <a:off x="640080" y="4919472"/>
            <a:ext cx="1830629" cy="310896"/>
          </a:xfrm>
          <a:prstGeom prst="rect">
            <a:avLst/>
          </a:prstGeom>
          <a:noFill/>
          <a:ln/>
        </p:spPr>
        <p:txBody>
          <a:bodyPr wrap="square" lIns="0" tIns="0" rIns="0" bIns="0" rtlCol="0" anchor="ctr"/>
          <a:lstStyle/>
          <a:p>
            <a:pPr marL="0" indent="0" algn="ctr">
              <a:buNone/>
            </a:pPr>
            <a:r>
              <a:rPr lang="en-US" sz="1050" b="1" dirty="0">
                <a:solidFill>
                  <a:srgbClr val="9AA6B2"/>
                </a:solidFill>
                <a:latin typeface="Segoe UI Semibold" pitchFamily="34" charset="0"/>
                <a:ea typeface="Segoe UI Semibold" pitchFamily="34" charset="-122"/>
                <a:cs typeface="Segoe UI Semibold" pitchFamily="34" charset="-120"/>
              </a:rPr>
              <a:t>1950s–80s</a:t>
            </a:r>
            <a:endParaRPr lang="en-US" sz="1050" dirty="0"/>
          </a:p>
        </p:txBody>
      </p:sp>
      <p:sp>
        <p:nvSpPr>
          <p:cNvPr id="12" name="Shape 10"/>
          <p:cNvSpPr/>
          <p:nvPr/>
        </p:nvSpPr>
        <p:spPr>
          <a:xfrm>
            <a:off x="2580437" y="2606040"/>
            <a:ext cx="219456" cy="0"/>
          </a:xfrm>
          <a:prstGeom prst="line">
            <a:avLst/>
          </a:prstGeom>
          <a:noFill/>
          <a:ln w="25400">
            <a:solidFill>
              <a:srgbClr val="B6F500"/>
            </a:solidFill>
            <a:prstDash val="solid"/>
            <a:tailEnd type="triangle"/>
          </a:ln>
        </p:spPr>
        <p:txBody>
          <a:bodyPr/>
          <a:lstStyle/>
          <a:p>
            <a:endParaRPr lang="en-IN"/>
          </a:p>
        </p:txBody>
      </p:sp>
      <p:sp>
        <p:nvSpPr>
          <p:cNvPr id="13" name="Shape 11"/>
          <p:cNvSpPr/>
          <p:nvPr/>
        </p:nvSpPr>
        <p:spPr>
          <a:xfrm>
            <a:off x="2818181" y="1920240"/>
            <a:ext cx="2013509" cy="3383280"/>
          </a:xfrm>
          <a:prstGeom prst="roundRect">
            <a:avLst>
              <a:gd name="adj" fmla="val 4087"/>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4" name="Shape 12"/>
          <p:cNvSpPr/>
          <p:nvPr/>
        </p:nvSpPr>
        <p:spPr>
          <a:xfrm>
            <a:off x="2818181" y="1920240"/>
            <a:ext cx="2013509" cy="109728"/>
          </a:xfrm>
          <a:prstGeom prst="rect">
            <a:avLst/>
          </a:prstGeom>
          <a:solidFill>
            <a:srgbClr val="8FBF00"/>
          </a:solidFill>
          <a:ln/>
        </p:spPr>
        <p:txBody>
          <a:bodyPr/>
          <a:lstStyle/>
          <a:p>
            <a:endParaRPr lang="en-IN"/>
          </a:p>
        </p:txBody>
      </p:sp>
      <p:sp>
        <p:nvSpPr>
          <p:cNvPr id="15" name="Shape 13"/>
          <p:cNvSpPr/>
          <p:nvPr/>
        </p:nvSpPr>
        <p:spPr>
          <a:xfrm>
            <a:off x="3523183" y="2304288"/>
            <a:ext cx="603504" cy="603504"/>
          </a:xfrm>
          <a:prstGeom prst="ellipse">
            <a:avLst/>
          </a:prstGeom>
          <a:solidFill>
            <a:srgbClr val="23272F"/>
          </a:solidFill>
          <a:ln/>
        </p:spPr>
        <p:txBody>
          <a:bodyPr/>
          <a:lstStyle/>
          <a:p>
            <a:endParaRPr lang="en-IN"/>
          </a:p>
        </p:txBody>
      </p:sp>
      <p:sp>
        <p:nvSpPr>
          <p:cNvPr id="16" name="Text 14"/>
          <p:cNvSpPr/>
          <p:nvPr/>
        </p:nvSpPr>
        <p:spPr>
          <a:xfrm>
            <a:off x="3523183" y="2304288"/>
            <a:ext cx="603504" cy="603504"/>
          </a:xfrm>
          <a:prstGeom prst="rect">
            <a:avLst/>
          </a:prstGeom>
          <a:noFill/>
          <a:ln/>
        </p:spPr>
        <p:txBody>
          <a:bodyPr wrap="square" lIns="0" tIns="0" rIns="0" bIns="0" rtlCol="0" anchor="ctr"/>
          <a:lstStyle/>
          <a:p>
            <a:pPr marL="0" indent="0" algn="ctr">
              <a:buNone/>
            </a:pPr>
            <a:r>
              <a:rPr lang="en-US" sz="1700" b="1" dirty="0">
                <a:solidFill>
                  <a:srgbClr val="B6F500"/>
                </a:solidFill>
                <a:latin typeface="Segoe UI Semibold" pitchFamily="34" charset="0"/>
                <a:ea typeface="Segoe UI Semibold" pitchFamily="34" charset="-122"/>
                <a:cs typeface="Segoe UI Semibold" pitchFamily="34" charset="-120"/>
              </a:rPr>
              <a:t>2</a:t>
            </a:r>
            <a:endParaRPr lang="en-US" sz="1700" dirty="0"/>
          </a:p>
        </p:txBody>
      </p:sp>
      <p:sp>
        <p:nvSpPr>
          <p:cNvPr id="17" name="Shape 15"/>
          <p:cNvSpPr/>
          <p:nvPr/>
        </p:nvSpPr>
        <p:spPr>
          <a:xfrm>
            <a:off x="3523183" y="2304288"/>
            <a:ext cx="603504" cy="603504"/>
          </a:xfrm>
          <a:prstGeom prst="ellipse">
            <a:avLst/>
          </a:prstGeom>
          <a:ln w="15875">
            <a:solidFill>
              <a:srgbClr val="B6F500"/>
            </a:solidFill>
            <a:prstDash val="solid"/>
          </a:ln>
        </p:spPr>
        <p:txBody>
          <a:bodyPr/>
          <a:lstStyle/>
          <a:p>
            <a:endParaRPr lang="en-IN"/>
          </a:p>
        </p:txBody>
      </p:sp>
      <p:sp>
        <p:nvSpPr>
          <p:cNvPr id="18" name="Text 16"/>
          <p:cNvSpPr/>
          <p:nvPr/>
        </p:nvSpPr>
        <p:spPr>
          <a:xfrm>
            <a:off x="2909621" y="3063240"/>
            <a:ext cx="1830629" cy="640080"/>
          </a:xfrm>
          <a:prstGeom prst="rect">
            <a:avLst/>
          </a:prstGeom>
          <a:noFill/>
          <a:ln/>
        </p:spPr>
        <p:txBody>
          <a:bodyPr wrap="square" lIns="0" tIns="0" rIns="0" bIns="0" rtlCol="0" anchor="ct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Machine Learning</a:t>
            </a:r>
            <a:endParaRPr lang="en-US" sz="1450" dirty="0"/>
          </a:p>
        </p:txBody>
      </p:sp>
      <p:sp>
        <p:nvSpPr>
          <p:cNvPr id="19" name="Text 17"/>
          <p:cNvSpPr/>
          <p:nvPr/>
        </p:nvSpPr>
        <p:spPr>
          <a:xfrm>
            <a:off x="2927909" y="3703320"/>
            <a:ext cx="1794053" cy="1143000"/>
          </a:xfrm>
          <a:prstGeom prst="rect">
            <a:avLst/>
          </a:prstGeom>
          <a:noFill/>
          <a:ln/>
        </p:spPr>
        <p:txBody>
          <a:bodyPr wrap="square" lIns="0" tIns="0" rIns="0" bIns="0" rtlCol="0" anchor="t"/>
          <a:lstStyle/>
          <a:p>
            <a:pPr marL="0" indent="0" algn="ctr">
              <a:lnSpc>
                <a:spcPts val="1500"/>
              </a:lnSpc>
              <a:buNone/>
            </a:pPr>
            <a:r>
              <a:rPr lang="en-US" sz="1100" dirty="0">
                <a:solidFill>
                  <a:srgbClr val="C9D1DA"/>
                </a:solidFill>
                <a:latin typeface="Segoe UI" pitchFamily="34" charset="0"/>
                <a:ea typeface="Segoe UI" pitchFamily="34" charset="-122"/>
                <a:cs typeface="Segoe UI" pitchFamily="34" charset="-120"/>
              </a:rPr>
              <a:t>Learns patterns from data to predict.</a:t>
            </a:r>
            <a:endParaRPr lang="en-US" sz="1100" dirty="0"/>
          </a:p>
        </p:txBody>
      </p:sp>
      <p:sp>
        <p:nvSpPr>
          <p:cNvPr id="20" name="Text 18"/>
          <p:cNvSpPr/>
          <p:nvPr/>
        </p:nvSpPr>
        <p:spPr>
          <a:xfrm>
            <a:off x="2909621" y="4919472"/>
            <a:ext cx="1830629" cy="310896"/>
          </a:xfrm>
          <a:prstGeom prst="rect">
            <a:avLst/>
          </a:prstGeom>
          <a:noFill/>
          <a:ln/>
        </p:spPr>
        <p:txBody>
          <a:bodyPr wrap="square" lIns="0" tIns="0" rIns="0" bIns="0" rtlCol="0" anchor="ctr"/>
          <a:lstStyle/>
          <a:p>
            <a:pPr marL="0" indent="0" algn="ctr">
              <a:buNone/>
            </a:pPr>
            <a:r>
              <a:rPr lang="en-US" sz="1050" b="1" dirty="0">
                <a:solidFill>
                  <a:srgbClr val="9AA6B2"/>
                </a:solidFill>
                <a:latin typeface="Segoe UI Semibold" pitchFamily="34" charset="0"/>
                <a:ea typeface="Segoe UI Semibold" pitchFamily="34" charset="-122"/>
                <a:cs typeface="Segoe UI Semibold" pitchFamily="34" charset="-120"/>
              </a:rPr>
              <a:t>1990s–2010s</a:t>
            </a:r>
            <a:endParaRPr lang="en-US" sz="1050" dirty="0"/>
          </a:p>
        </p:txBody>
      </p:sp>
      <p:sp>
        <p:nvSpPr>
          <p:cNvPr id="21" name="Shape 19"/>
          <p:cNvSpPr/>
          <p:nvPr/>
        </p:nvSpPr>
        <p:spPr>
          <a:xfrm>
            <a:off x="4849978" y="2606040"/>
            <a:ext cx="219456" cy="0"/>
          </a:xfrm>
          <a:prstGeom prst="line">
            <a:avLst/>
          </a:prstGeom>
          <a:noFill/>
          <a:ln w="25400">
            <a:solidFill>
              <a:srgbClr val="B6F500"/>
            </a:solidFill>
            <a:prstDash val="solid"/>
            <a:tailEnd type="triangle"/>
          </a:ln>
        </p:spPr>
        <p:txBody>
          <a:bodyPr/>
          <a:lstStyle/>
          <a:p>
            <a:endParaRPr lang="en-IN"/>
          </a:p>
        </p:txBody>
      </p:sp>
      <p:sp>
        <p:nvSpPr>
          <p:cNvPr id="22" name="Shape 20"/>
          <p:cNvSpPr/>
          <p:nvPr/>
        </p:nvSpPr>
        <p:spPr>
          <a:xfrm>
            <a:off x="5087722" y="1920240"/>
            <a:ext cx="2013509" cy="3383280"/>
          </a:xfrm>
          <a:prstGeom prst="roundRect">
            <a:avLst>
              <a:gd name="adj" fmla="val 4087"/>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3" name="Shape 21"/>
          <p:cNvSpPr/>
          <p:nvPr/>
        </p:nvSpPr>
        <p:spPr>
          <a:xfrm>
            <a:off x="5087722" y="1920240"/>
            <a:ext cx="2013509" cy="109728"/>
          </a:xfrm>
          <a:prstGeom prst="rect">
            <a:avLst/>
          </a:prstGeom>
          <a:solidFill>
            <a:srgbClr val="8FBF00"/>
          </a:solidFill>
          <a:ln/>
        </p:spPr>
        <p:txBody>
          <a:bodyPr/>
          <a:lstStyle/>
          <a:p>
            <a:endParaRPr lang="en-IN"/>
          </a:p>
        </p:txBody>
      </p:sp>
      <p:sp>
        <p:nvSpPr>
          <p:cNvPr id="24" name="Shape 22"/>
          <p:cNvSpPr/>
          <p:nvPr/>
        </p:nvSpPr>
        <p:spPr>
          <a:xfrm>
            <a:off x="5792724" y="2304288"/>
            <a:ext cx="603504" cy="603504"/>
          </a:xfrm>
          <a:prstGeom prst="ellipse">
            <a:avLst/>
          </a:prstGeom>
          <a:solidFill>
            <a:srgbClr val="23272F"/>
          </a:solidFill>
          <a:ln/>
        </p:spPr>
        <p:txBody>
          <a:bodyPr/>
          <a:lstStyle/>
          <a:p>
            <a:endParaRPr lang="en-IN"/>
          </a:p>
        </p:txBody>
      </p:sp>
      <p:sp>
        <p:nvSpPr>
          <p:cNvPr id="25" name="Text 23"/>
          <p:cNvSpPr/>
          <p:nvPr/>
        </p:nvSpPr>
        <p:spPr>
          <a:xfrm>
            <a:off x="5792724" y="2304288"/>
            <a:ext cx="603504" cy="603504"/>
          </a:xfrm>
          <a:prstGeom prst="rect">
            <a:avLst/>
          </a:prstGeom>
          <a:noFill/>
          <a:ln/>
        </p:spPr>
        <p:txBody>
          <a:bodyPr wrap="square" lIns="0" tIns="0" rIns="0" bIns="0" rtlCol="0" anchor="ctr"/>
          <a:lstStyle/>
          <a:p>
            <a:pPr marL="0" indent="0" algn="ctr">
              <a:buNone/>
            </a:pPr>
            <a:r>
              <a:rPr lang="en-US" sz="1700" b="1" dirty="0">
                <a:solidFill>
                  <a:srgbClr val="B6F500"/>
                </a:solidFill>
                <a:latin typeface="Segoe UI Semibold" pitchFamily="34" charset="0"/>
                <a:ea typeface="Segoe UI Semibold" pitchFamily="34" charset="-122"/>
                <a:cs typeface="Segoe UI Semibold" pitchFamily="34" charset="-120"/>
              </a:rPr>
              <a:t>3</a:t>
            </a:r>
            <a:endParaRPr lang="en-US" sz="1700" dirty="0"/>
          </a:p>
        </p:txBody>
      </p:sp>
      <p:sp>
        <p:nvSpPr>
          <p:cNvPr id="26" name="Shape 24"/>
          <p:cNvSpPr/>
          <p:nvPr/>
        </p:nvSpPr>
        <p:spPr>
          <a:xfrm>
            <a:off x="5792724" y="2304288"/>
            <a:ext cx="603504" cy="603504"/>
          </a:xfrm>
          <a:prstGeom prst="ellipse">
            <a:avLst/>
          </a:prstGeom>
          <a:ln w="15875">
            <a:solidFill>
              <a:srgbClr val="B6F500"/>
            </a:solidFill>
            <a:prstDash val="solid"/>
          </a:ln>
        </p:spPr>
        <p:txBody>
          <a:bodyPr/>
          <a:lstStyle/>
          <a:p>
            <a:endParaRPr lang="en-IN"/>
          </a:p>
        </p:txBody>
      </p:sp>
      <p:sp>
        <p:nvSpPr>
          <p:cNvPr id="27" name="Text 25"/>
          <p:cNvSpPr/>
          <p:nvPr/>
        </p:nvSpPr>
        <p:spPr>
          <a:xfrm>
            <a:off x="5179162" y="3063240"/>
            <a:ext cx="1830629" cy="640080"/>
          </a:xfrm>
          <a:prstGeom prst="rect">
            <a:avLst/>
          </a:prstGeom>
          <a:noFill/>
          <a:ln/>
        </p:spPr>
        <p:txBody>
          <a:bodyPr wrap="square" lIns="0" tIns="0" rIns="0" bIns="0" rtlCol="0" anchor="ct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Deep Learning</a:t>
            </a:r>
            <a:endParaRPr lang="en-US" sz="1450" dirty="0"/>
          </a:p>
        </p:txBody>
      </p:sp>
      <p:sp>
        <p:nvSpPr>
          <p:cNvPr id="28" name="Text 26"/>
          <p:cNvSpPr/>
          <p:nvPr/>
        </p:nvSpPr>
        <p:spPr>
          <a:xfrm>
            <a:off x="5197450" y="3703320"/>
            <a:ext cx="1794053" cy="1143000"/>
          </a:xfrm>
          <a:prstGeom prst="rect">
            <a:avLst/>
          </a:prstGeom>
          <a:noFill/>
          <a:ln/>
        </p:spPr>
        <p:txBody>
          <a:bodyPr wrap="square" lIns="0" tIns="0" rIns="0" bIns="0" rtlCol="0" anchor="t"/>
          <a:lstStyle/>
          <a:p>
            <a:pPr marL="0" indent="0" algn="ctr">
              <a:lnSpc>
                <a:spcPts val="1500"/>
              </a:lnSpc>
              <a:buNone/>
            </a:pPr>
            <a:r>
              <a:rPr lang="en-US" sz="1100" dirty="0">
                <a:solidFill>
                  <a:srgbClr val="C9D1DA"/>
                </a:solidFill>
                <a:latin typeface="Segoe UI" pitchFamily="34" charset="0"/>
                <a:ea typeface="Segoe UI" pitchFamily="34" charset="-122"/>
                <a:cs typeface="Segoe UI" pitchFamily="34" charset="-120"/>
              </a:rPr>
              <a:t>Neural nets see, hear and understand.</a:t>
            </a:r>
            <a:endParaRPr lang="en-US" sz="1100" dirty="0"/>
          </a:p>
        </p:txBody>
      </p:sp>
      <p:sp>
        <p:nvSpPr>
          <p:cNvPr id="29" name="Text 27"/>
          <p:cNvSpPr/>
          <p:nvPr/>
        </p:nvSpPr>
        <p:spPr>
          <a:xfrm>
            <a:off x="5179162" y="4919472"/>
            <a:ext cx="1830629" cy="310896"/>
          </a:xfrm>
          <a:prstGeom prst="rect">
            <a:avLst/>
          </a:prstGeom>
          <a:noFill/>
          <a:ln/>
        </p:spPr>
        <p:txBody>
          <a:bodyPr wrap="square" lIns="0" tIns="0" rIns="0" bIns="0" rtlCol="0" anchor="ctr"/>
          <a:lstStyle/>
          <a:p>
            <a:pPr marL="0" indent="0" algn="ctr">
              <a:buNone/>
            </a:pPr>
            <a:r>
              <a:rPr lang="en-US" sz="1050" b="1" dirty="0">
                <a:solidFill>
                  <a:srgbClr val="9AA6B2"/>
                </a:solidFill>
                <a:latin typeface="Segoe UI Semibold" pitchFamily="34" charset="0"/>
                <a:ea typeface="Segoe UI Semibold" pitchFamily="34" charset="-122"/>
                <a:cs typeface="Segoe UI Semibold" pitchFamily="34" charset="-120"/>
              </a:rPr>
              <a:t>2012+</a:t>
            </a:r>
            <a:endParaRPr lang="en-US" sz="1050" dirty="0"/>
          </a:p>
        </p:txBody>
      </p:sp>
      <p:sp>
        <p:nvSpPr>
          <p:cNvPr id="30" name="Shape 28"/>
          <p:cNvSpPr/>
          <p:nvPr/>
        </p:nvSpPr>
        <p:spPr>
          <a:xfrm>
            <a:off x="7119518" y="2606040"/>
            <a:ext cx="219456" cy="0"/>
          </a:xfrm>
          <a:prstGeom prst="line">
            <a:avLst/>
          </a:prstGeom>
          <a:noFill/>
          <a:ln w="25400">
            <a:solidFill>
              <a:srgbClr val="B6F500"/>
            </a:solidFill>
            <a:prstDash val="solid"/>
            <a:tailEnd type="triangle"/>
          </a:ln>
        </p:spPr>
        <p:txBody>
          <a:bodyPr/>
          <a:lstStyle/>
          <a:p>
            <a:endParaRPr lang="en-IN"/>
          </a:p>
        </p:txBody>
      </p:sp>
      <p:sp>
        <p:nvSpPr>
          <p:cNvPr id="31" name="Shape 29"/>
          <p:cNvSpPr/>
          <p:nvPr/>
        </p:nvSpPr>
        <p:spPr>
          <a:xfrm>
            <a:off x="7357262" y="1920240"/>
            <a:ext cx="2013509" cy="3383280"/>
          </a:xfrm>
          <a:prstGeom prst="roundRect">
            <a:avLst>
              <a:gd name="adj" fmla="val 4087"/>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32" name="Shape 30"/>
          <p:cNvSpPr/>
          <p:nvPr/>
        </p:nvSpPr>
        <p:spPr>
          <a:xfrm>
            <a:off x="7357262" y="1920240"/>
            <a:ext cx="2013509" cy="109728"/>
          </a:xfrm>
          <a:prstGeom prst="rect">
            <a:avLst/>
          </a:prstGeom>
          <a:solidFill>
            <a:srgbClr val="8FBF00"/>
          </a:solidFill>
          <a:ln/>
        </p:spPr>
        <p:txBody>
          <a:bodyPr/>
          <a:lstStyle/>
          <a:p>
            <a:endParaRPr lang="en-IN"/>
          </a:p>
        </p:txBody>
      </p:sp>
      <p:sp>
        <p:nvSpPr>
          <p:cNvPr id="33" name="Shape 31"/>
          <p:cNvSpPr/>
          <p:nvPr/>
        </p:nvSpPr>
        <p:spPr>
          <a:xfrm>
            <a:off x="8062265" y="2304288"/>
            <a:ext cx="603504" cy="603504"/>
          </a:xfrm>
          <a:prstGeom prst="ellipse">
            <a:avLst/>
          </a:prstGeom>
          <a:solidFill>
            <a:srgbClr val="23272F"/>
          </a:solidFill>
          <a:ln/>
        </p:spPr>
        <p:txBody>
          <a:bodyPr/>
          <a:lstStyle/>
          <a:p>
            <a:endParaRPr lang="en-IN"/>
          </a:p>
        </p:txBody>
      </p:sp>
      <p:sp>
        <p:nvSpPr>
          <p:cNvPr id="34" name="Text 32"/>
          <p:cNvSpPr/>
          <p:nvPr/>
        </p:nvSpPr>
        <p:spPr>
          <a:xfrm>
            <a:off x="8062265" y="2304288"/>
            <a:ext cx="603504" cy="603504"/>
          </a:xfrm>
          <a:prstGeom prst="rect">
            <a:avLst/>
          </a:prstGeom>
          <a:noFill/>
          <a:ln/>
        </p:spPr>
        <p:txBody>
          <a:bodyPr wrap="square" lIns="0" tIns="0" rIns="0" bIns="0" rtlCol="0" anchor="ctr"/>
          <a:lstStyle/>
          <a:p>
            <a:pPr marL="0" indent="0" algn="ctr">
              <a:buNone/>
            </a:pPr>
            <a:r>
              <a:rPr lang="en-US" sz="1700" b="1" dirty="0">
                <a:solidFill>
                  <a:srgbClr val="B6F500"/>
                </a:solidFill>
                <a:latin typeface="Segoe UI Semibold" pitchFamily="34" charset="0"/>
                <a:ea typeface="Segoe UI Semibold" pitchFamily="34" charset="-122"/>
                <a:cs typeface="Segoe UI Semibold" pitchFamily="34" charset="-120"/>
              </a:rPr>
              <a:t>4</a:t>
            </a:r>
            <a:endParaRPr lang="en-US" sz="1700" dirty="0"/>
          </a:p>
        </p:txBody>
      </p:sp>
      <p:sp>
        <p:nvSpPr>
          <p:cNvPr id="35" name="Shape 33"/>
          <p:cNvSpPr/>
          <p:nvPr/>
        </p:nvSpPr>
        <p:spPr>
          <a:xfrm>
            <a:off x="8062265" y="2304288"/>
            <a:ext cx="603504" cy="603504"/>
          </a:xfrm>
          <a:prstGeom prst="ellipse">
            <a:avLst/>
          </a:prstGeom>
          <a:ln w="15875">
            <a:solidFill>
              <a:srgbClr val="B6F500"/>
            </a:solidFill>
            <a:prstDash val="solid"/>
          </a:ln>
        </p:spPr>
        <p:txBody>
          <a:bodyPr/>
          <a:lstStyle/>
          <a:p>
            <a:endParaRPr lang="en-IN"/>
          </a:p>
        </p:txBody>
      </p:sp>
      <p:sp>
        <p:nvSpPr>
          <p:cNvPr id="36" name="Text 34"/>
          <p:cNvSpPr/>
          <p:nvPr/>
        </p:nvSpPr>
        <p:spPr>
          <a:xfrm>
            <a:off x="7448702" y="3063240"/>
            <a:ext cx="1830629" cy="640080"/>
          </a:xfrm>
          <a:prstGeom prst="rect">
            <a:avLst/>
          </a:prstGeom>
          <a:noFill/>
          <a:ln/>
        </p:spPr>
        <p:txBody>
          <a:bodyPr wrap="square" lIns="0" tIns="0" rIns="0" bIns="0" rtlCol="0" anchor="ctr"/>
          <a:lstStyle/>
          <a:p>
            <a:pPr marL="0" indent="0" algn="ctr">
              <a:buNone/>
            </a:pPr>
            <a:r>
              <a:rPr lang="en-US" sz="1450" b="1" dirty="0">
                <a:solidFill>
                  <a:srgbClr val="FFFFFF"/>
                </a:solidFill>
                <a:latin typeface="Segoe UI Semibold" pitchFamily="34" charset="0"/>
                <a:ea typeface="Segoe UI Semibold" pitchFamily="34" charset="-122"/>
                <a:cs typeface="Segoe UI Semibold" pitchFamily="34" charset="-120"/>
              </a:rPr>
              <a:t>Generative AI</a:t>
            </a:r>
            <a:endParaRPr lang="en-US" sz="1450" dirty="0"/>
          </a:p>
        </p:txBody>
      </p:sp>
      <p:sp>
        <p:nvSpPr>
          <p:cNvPr id="37" name="Text 35"/>
          <p:cNvSpPr/>
          <p:nvPr/>
        </p:nvSpPr>
        <p:spPr>
          <a:xfrm>
            <a:off x="7466990" y="3703320"/>
            <a:ext cx="1794053" cy="1143000"/>
          </a:xfrm>
          <a:prstGeom prst="rect">
            <a:avLst/>
          </a:prstGeom>
          <a:noFill/>
          <a:ln/>
        </p:spPr>
        <p:txBody>
          <a:bodyPr wrap="square" lIns="0" tIns="0" rIns="0" bIns="0" rtlCol="0" anchor="t"/>
          <a:lstStyle/>
          <a:p>
            <a:pPr marL="0" indent="0" algn="ctr">
              <a:lnSpc>
                <a:spcPts val="1500"/>
              </a:lnSpc>
              <a:buNone/>
            </a:pPr>
            <a:r>
              <a:rPr lang="en-US" sz="1100" dirty="0">
                <a:solidFill>
                  <a:srgbClr val="C9D1DA"/>
                </a:solidFill>
                <a:latin typeface="Segoe UI" pitchFamily="34" charset="0"/>
                <a:ea typeface="Segoe UI" pitchFamily="34" charset="-122"/>
                <a:cs typeface="Segoe UI" pitchFamily="34" charset="-120"/>
              </a:rPr>
              <a:t>Creates text, images and code on demand.</a:t>
            </a:r>
            <a:endParaRPr lang="en-US" sz="1100" dirty="0"/>
          </a:p>
        </p:txBody>
      </p:sp>
      <p:sp>
        <p:nvSpPr>
          <p:cNvPr id="38" name="Text 36"/>
          <p:cNvSpPr/>
          <p:nvPr/>
        </p:nvSpPr>
        <p:spPr>
          <a:xfrm>
            <a:off x="7448702" y="4919472"/>
            <a:ext cx="1830629" cy="310896"/>
          </a:xfrm>
          <a:prstGeom prst="rect">
            <a:avLst/>
          </a:prstGeom>
          <a:noFill/>
          <a:ln/>
        </p:spPr>
        <p:txBody>
          <a:bodyPr wrap="square" lIns="0" tIns="0" rIns="0" bIns="0" rtlCol="0" anchor="ctr"/>
          <a:lstStyle/>
          <a:p>
            <a:pPr marL="0" indent="0" algn="ctr">
              <a:buNone/>
            </a:pPr>
            <a:r>
              <a:rPr lang="en-US" sz="1050" b="1" dirty="0">
                <a:solidFill>
                  <a:srgbClr val="9AA6B2"/>
                </a:solidFill>
                <a:latin typeface="Segoe UI Semibold" pitchFamily="34" charset="0"/>
                <a:ea typeface="Segoe UI Semibold" pitchFamily="34" charset="-122"/>
                <a:cs typeface="Segoe UI Semibold" pitchFamily="34" charset="-120"/>
              </a:rPr>
              <a:t>2022+</a:t>
            </a:r>
            <a:endParaRPr lang="en-US" sz="1050" dirty="0"/>
          </a:p>
        </p:txBody>
      </p:sp>
      <p:sp>
        <p:nvSpPr>
          <p:cNvPr id="39" name="Shape 37"/>
          <p:cNvSpPr/>
          <p:nvPr/>
        </p:nvSpPr>
        <p:spPr>
          <a:xfrm>
            <a:off x="9389059" y="2606040"/>
            <a:ext cx="219456" cy="0"/>
          </a:xfrm>
          <a:prstGeom prst="line">
            <a:avLst/>
          </a:prstGeom>
          <a:noFill/>
          <a:ln w="25400">
            <a:solidFill>
              <a:srgbClr val="B6F500"/>
            </a:solidFill>
            <a:prstDash val="solid"/>
            <a:tailEnd type="triangle"/>
          </a:ln>
        </p:spPr>
        <p:txBody>
          <a:bodyPr/>
          <a:lstStyle/>
          <a:p>
            <a:endParaRPr lang="en-IN"/>
          </a:p>
        </p:txBody>
      </p:sp>
      <p:sp>
        <p:nvSpPr>
          <p:cNvPr id="40" name="Shape 38"/>
          <p:cNvSpPr/>
          <p:nvPr/>
        </p:nvSpPr>
        <p:spPr>
          <a:xfrm>
            <a:off x="9626803" y="1920240"/>
            <a:ext cx="2013509" cy="3383280"/>
          </a:xfrm>
          <a:prstGeom prst="roundRect">
            <a:avLst>
              <a:gd name="adj" fmla="val 4087"/>
            </a:avLst>
          </a:prstGeom>
          <a:solidFill>
            <a:srgbClr val="1E2127"/>
          </a:solidFill>
          <a:ln w="12700">
            <a:solidFill>
              <a:srgbClr val="B6F500"/>
            </a:solidFill>
            <a:prstDash val="solid"/>
          </a:ln>
          <a:effectLst>
            <a:outerShdw blurRad="114300" dist="38100" dir="5400000" algn="bl" rotWithShape="0">
              <a:srgbClr val="000000">
                <a:alpha val="35000"/>
              </a:srgbClr>
            </a:outerShdw>
          </a:effectLst>
        </p:spPr>
        <p:txBody>
          <a:bodyPr/>
          <a:lstStyle/>
          <a:p>
            <a:endParaRPr lang="en-IN"/>
          </a:p>
        </p:txBody>
      </p:sp>
      <p:sp>
        <p:nvSpPr>
          <p:cNvPr id="41" name="Shape 39"/>
          <p:cNvSpPr/>
          <p:nvPr/>
        </p:nvSpPr>
        <p:spPr>
          <a:xfrm>
            <a:off x="9626803" y="1920240"/>
            <a:ext cx="2013509" cy="109728"/>
          </a:xfrm>
          <a:prstGeom prst="rect">
            <a:avLst/>
          </a:prstGeom>
          <a:solidFill>
            <a:srgbClr val="B6F500"/>
          </a:solidFill>
          <a:ln/>
        </p:spPr>
        <p:txBody>
          <a:bodyPr/>
          <a:lstStyle/>
          <a:p>
            <a:endParaRPr lang="en-IN"/>
          </a:p>
        </p:txBody>
      </p:sp>
      <p:sp>
        <p:nvSpPr>
          <p:cNvPr id="42" name="Shape 40"/>
          <p:cNvSpPr/>
          <p:nvPr/>
        </p:nvSpPr>
        <p:spPr>
          <a:xfrm>
            <a:off x="10331806" y="2304288"/>
            <a:ext cx="603504" cy="603504"/>
          </a:xfrm>
          <a:prstGeom prst="ellipse">
            <a:avLst/>
          </a:prstGeom>
          <a:solidFill>
            <a:srgbClr val="B6F500"/>
          </a:solidFill>
          <a:ln/>
        </p:spPr>
        <p:txBody>
          <a:bodyPr/>
          <a:lstStyle/>
          <a:p>
            <a:endParaRPr lang="en-IN"/>
          </a:p>
        </p:txBody>
      </p:sp>
      <p:sp>
        <p:nvSpPr>
          <p:cNvPr id="43" name="Text 41"/>
          <p:cNvSpPr/>
          <p:nvPr/>
        </p:nvSpPr>
        <p:spPr>
          <a:xfrm>
            <a:off x="10331806" y="2304288"/>
            <a:ext cx="603504" cy="603504"/>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5</a:t>
            </a:r>
            <a:endParaRPr lang="en-US" sz="1700" dirty="0"/>
          </a:p>
        </p:txBody>
      </p:sp>
      <p:sp>
        <p:nvSpPr>
          <p:cNvPr id="44" name="Text 42"/>
          <p:cNvSpPr/>
          <p:nvPr/>
        </p:nvSpPr>
        <p:spPr>
          <a:xfrm>
            <a:off x="9718243" y="3063240"/>
            <a:ext cx="1830629" cy="640080"/>
          </a:xfrm>
          <a:prstGeom prst="rect">
            <a:avLst/>
          </a:prstGeom>
          <a:noFill/>
          <a:ln/>
        </p:spPr>
        <p:txBody>
          <a:bodyPr wrap="square" lIns="0" tIns="0" rIns="0" bIns="0" rtlCol="0" anchor="ctr"/>
          <a:lstStyle/>
          <a:p>
            <a:pPr marL="0" indent="0" algn="ctr">
              <a:buNone/>
            </a:pPr>
            <a:r>
              <a:rPr lang="en-US" sz="1450" b="1" dirty="0">
                <a:solidFill>
                  <a:srgbClr val="B6F500"/>
                </a:solidFill>
                <a:latin typeface="Segoe UI Semibold" pitchFamily="34" charset="0"/>
                <a:ea typeface="Segoe UI Semibold" pitchFamily="34" charset="-122"/>
                <a:cs typeface="Segoe UI Semibold" pitchFamily="34" charset="-120"/>
              </a:rPr>
              <a:t>Agentic AI</a:t>
            </a:r>
            <a:endParaRPr lang="en-US" sz="1450" dirty="0"/>
          </a:p>
        </p:txBody>
      </p:sp>
      <p:sp>
        <p:nvSpPr>
          <p:cNvPr id="45" name="Text 43"/>
          <p:cNvSpPr/>
          <p:nvPr/>
        </p:nvSpPr>
        <p:spPr>
          <a:xfrm>
            <a:off x="9736531" y="3703320"/>
            <a:ext cx="1794053" cy="1143000"/>
          </a:xfrm>
          <a:prstGeom prst="rect">
            <a:avLst/>
          </a:prstGeom>
          <a:noFill/>
          <a:ln/>
        </p:spPr>
        <p:txBody>
          <a:bodyPr wrap="square" lIns="0" tIns="0" rIns="0" bIns="0" rtlCol="0" anchor="t"/>
          <a:lstStyle/>
          <a:p>
            <a:pPr marL="0" indent="0" algn="ctr">
              <a:lnSpc>
                <a:spcPts val="1500"/>
              </a:lnSpc>
              <a:buNone/>
            </a:pPr>
            <a:r>
              <a:rPr lang="en-US" sz="1100" dirty="0">
                <a:solidFill>
                  <a:srgbClr val="C9D1DA"/>
                </a:solidFill>
                <a:latin typeface="Segoe UI" pitchFamily="34" charset="0"/>
                <a:ea typeface="Segoe UI" pitchFamily="34" charset="-122"/>
                <a:cs typeface="Segoe UI" pitchFamily="34" charset="-120"/>
              </a:rPr>
              <a:t>Sets goals, plans and acts on its own.</a:t>
            </a:r>
            <a:endParaRPr lang="en-US" sz="1100" dirty="0"/>
          </a:p>
        </p:txBody>
      </p:sp>
      <p:sp>
        <p:nvSpPr>
          <p:cNvPr id="46" name="Text 44"/>
          <p:cNvSpPr/>
          <p:nvPr/>
        </p:nvSpPr>
        <p:spPr>
          <a:xfrm>
            <a:off x="9718243" y="4919472"/>
            <a:ext cx="1830629" cy="310896"/>
          </a:xfrm>
          <a:prstGeom prst="rect">
            <a:avLst/>
          </a:prstGeom>
          <a:noFill/>
          <a:ln/>
        </p:spPr>
        <p:txBody>
          <a:bodyPr wrap="square" lIns="0" tIns="0" rIns="0" bIns="0" rtlCol="0" anchor="ctr"/>
          <a:lstStyle/>
          <a:p>
            <a:pPr marL="0" indent="0" algn="ctr">
              <a:buNone/>
            </a:pPr>
            <a:r>
              <a:rPr lang="en-US" sz="1050" b="1" dirty="0">
                <a:solidFill>
                  <a:srgbClr val="9AA6B2"/>
                </a:solidFill>
                <a:latin typeface="Segoe UI Semibold" pitchFamily="34" charset="0"/>
                <a:ea typeface="Segoe UI Semibold" pitchFamily="34" charset="-122"/>
                <a:cs typeface="Segoe UI Semibold" pitchFamily="34" charset="-120"/>
              </a:rPr>
              <a:t>2024+</a:t>
            </a:r>
            <a:endParaRPr lang="en-US" sz="1050" dirty="0"/>
          </a:p>
        </p:txBody>
      </p:sp>
      <p:sp>
        <p:nvSpPr>
          <p:cNvPr id="47" name="Text 45"/>
          <p:cNvSpPr/>
          <p:nvPr/>
        </p:nvSpPr>
        <p:spPr>
          <a:xfrm>
            <a:off x="548640" y="5577840"/>
            <a:ext cx="11064240" cy="502920"/>
          </a:xfrm>
          <a:prstGeom prst="rect">
            <a:avLst/>
          </a:prstGeom>
          <a:noFill/>
          <a:ln/>
        </p:spPr>
        <p:txBody>
          <a:bodyPr wrap="square" lIns="0" tIns="0" rIns="0" bIns="0" rtlCol="0" anchor="ctr"/>
          <a:lstStyle/>
          <a:p>
            <a:pPr marL="0" indent="0" algn="ctr">
              <a:buNone/>
            </a:pPr>
            <a:r>
              <a:rPr lang="en-US" sz="1500" b="1" dirty="0">
                <a:solidFill>
                  <a:srgbClr val="B6F500"/>
                </a:solidFill>
                <a:latin typeface="Segoe UI" pitchFamily="34" charset="0"/>
                <a:ea typeface="Segoe UI" pitchFamily="34" charset="-122"/>
                <a:cs typeface="Segoe UI" pitchFamily="34" charset="-120"/>
              </a:rPr>
              <a:t>The big shift:  </a:t>
            </a:r>
            <a:r>
              <a:rPr lang="en-US" sz="1500" dirty="0">
                <a:solidFill>
                  <a:srgbClr val="C9D1DA"/>
                </a:solidFill>
                <a:latin typeface="Segoe UI" pitchFamily="34" charset="0"/>
                <a:ea typeface="Segoe UI" pitchFamily="34" charset="-122"/>
                <a:cs typeface="Segoe UI" pitchFamily="34" charset="-120"/>
              </a:rPr>
              <a:t>earlier AI </a:t>
            </a:r>
            <a:r>
              <a:rPr lang="en-US" sz="1500" b="1" i="1" dirty="0">
                <a:solidFill>
                  <a:srgbClr val="FFFFFF"/>
                </a:solidFill>
                <a:latin typeface="Segoe UI" pitchFamily="34" charset="0"/>
                <a:ea typeface="Segoe UI" pitchFamily="34" charset="-122"/>
                <a:cs typeface="Segoe UI" pitchFamily="34" charset="-120"/>
              </a:rPr>
              <a:t>answers</a:t>
            </a:r>
            <a:r>
              <a:rPr lang="en-US" sz="1500" dirty="0">
                <a:solidFill>
                  <a:srgbClr val="C9D1DA"/>
                </a:solidFill>
                <a:latin typeface="Segoe UI" pitchFamily="34" charset="0"/>
                <a:ea typeface="Segoe UI" pitchFamily="34" charset="-122"/>
                <a:cs typeface="Segoe UI" pitchFamily="34" charset="-120"/>
              </a:rPr>
              <a:t>.  Agentic AI </a:t>
            </a:r>
            <a:r>
              <a:rPr lang="en-US" sz="1500" b="1" i="1" dirty="0">
                <a:solidFill>
                  <a:srgbClr val="FFFFFF"/>
                </a:solidFill>
                <a:latin typeface="Segoe UI" pitchFamily="34" charset="0"/>
                <a:ea typeface="Segoe UI" pitchFamily="34" charset="-122"/>
                <a:cs typeface="Segoe UI" pitchFamily="34" charset="-120"/>
              </a:rPr>
              <a:t>takes action</a:t>
            </a:r>
            <a:r>
              <a:rPr lang="en-US" sz="1500" dirty="0">
                <a:solidFill>
                  <a:srgbClr val="C9D1DA"/>
                </a:solidFill>
                <a:latin typeface="Segoe UI" pitchFamily="34" charset="0"/>
                <a:ea typeface="Segoe UI" pitchFamily="34" charset="-122"/>
                <a:cs typeface="Segoe UI" pitchFamily="34" charset="-120"/>
              </a:rPr>
              <a:t> to reach a goal.</a:t>
            </a:r>
            <a:endParaRPr lang="en-US" sz="1500" dirty="0"/>
          </a:p>
        </p:txBody>
      </p:sp>
      <p:sp>
        <p:nvSpPr>
          <p:cNvPr id="48" name="Shape 46"/>
          <p:cNvSpPr/>
          <p:nvPr/>
        </p:nvSpPr>
        <p:spPr>
          <a:xfrm>
            <a:off x="548640" y="6437376"/>
            <a:ext cx="292608" cy="64008"/>
          </a:xfrm>
          <a:prstGeom prst="rect">
            <a:avLst/>
          </a:prstGeom>
          <a:solidFill>
            <a:srgbClr val="B6F500"/>
          </a:solidFill>
          <a:ln/>
        </p:spPr>
        <p:txBody>
          <a:bodyPr/>
          <a:lstStyle/>
          <a:p>
            <a:endParaRPr lang="en-IN"/>
          </a:p>
        </p:txBody>
      </p:sp>
      <p:sp>
        <p:nvSpPr>
          <p:cNvPr id="49" name="Text 4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50" name="Text 4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DEFINITION</a:t>
            </a:r>
            <a:endParaRPr lang="en-US" sz="1250" dirty="0"/>
          </a:p>
        </p:txBody>
      </p:sp>
      <p:sp>
        <p:nvSpPr>
          <p:cNvPr id="3" name="Text 1"/>
          <p:cNvSpPr/>
          <p:nvPr/>
        </p:nvSpPr>
        <p:spPr>
          <a:xfrm>
            <a:off x="548640" y="676656"/>
            <a:ext cx="658368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What is Agentic AI?</a:t>
            </a:r>
            <a:endParaRPr lang="en-US" sz="3000" dirty="0"/>
          </a:p>
        </p:txBody>
      </p:sp>
      <p:pic>
        <p:nvPicPr>
          <p:cNvPr id="4" name="Image 0" descr="/agent/turn2/workspace/images/image-dd05a8614765a980a0c4fe078728d826.jpg"/>
          <p:cNvPicPr>
            <a:picLocks noChangeAspect="1"/>
          </p:cNvPicPr>
          <p:nvPr/>
        </p:nvPicPr>
        <p:blipFill>
          <a:blip r:embed="rId3"/>
          <a:srcRect l="11699" r="11699"/>
          <a:stretch/>
        </p:blipFill>
        <p:spPr>
          <a:xfrm>
            <a:off x="6903720" y="1371600"/>
            <a:ext cx="4736592" cy="3703320"/>
          </a:xfrm>
          <a:prstGeom prst="rect">
            <a:avLst/>
          </a:prstGeom>
        </p:spPr>
      </p:pic>
      <p:sp>
        <p:nvSpPr>
          <p:cNvPr id="5" name="Shape 2"/>
          <p:cNvSpPr/>
          <p:nvPr/>
        </p:nvSpPr>
        <p:spPr>
          <a:xfrm>
            <a:off x="6903720" y="1371600"/>
            <a:ext cx="4736592" cy="3703320"/>
          </a:xfrm>
          <a:prstGeom prst="rect">
            <a:avLst/>
          </a:prstGeom>
          <a:ln w="12700">
            <a:solidFill>
              <a:srgbClr val="353B45"/>
            </a:solidFill>
            <a:prstDash val="solid"/>
          </a:ln>
        </p:spPr>
        <p:txBody>
          <a:bodyPr/>
          <a:lstStyle/>
          <a:p>
            <a:endParaRPr lang="en-IN"/>
          </a:p>
        </p:txBody>
      </p:sp>
      <p:sp>
        <p:nvSpPr>
          <p:cNvPr id="6" name="Text 3"/>
          <p:cNvSpPr/>
          <p:nvPr/>
        </p:nvSpPr>
        <p:spPr>
          <a:xfrm>
            <a:off x="548640" y="1691640"/>
            <a:ext cx="6126480" cy="914400"/>
          </a:xfrm>
          <a:prstGeom prst="rect">
            <a:avLst/>
          </a:prstGeom>
          <a:noFill/>
          <a:ln/>
        </p:spPr>
        <p:txBody>
          <a:bodyPr wrap="square" lIns="0" tIns="0" rIns="0" bIns="0" rtlCol="0" anchor="t"/>
          <a:lstStyle/>
          <a:p>
            <a:pPr marL="0" indent="0">
              <a:lnSpc>
                <a:spcPts val="2800"/>
              </a:lnSpc>
              <a:buNone/>
            </a:pPr>
            <a:r>
              <a:rPr lang="en-US" sz="2200" b="1" dirty="0">
                <a:solidFill>
                  <a:srgbClr val="FFFFFF"/>
                </a:solidFill>
                <a:latin typeface="Segoe UI Semibold" pitchFamily="34" charset="0"/>
                <a:ea typeface="Segoe UI Semibold" pitchFamily="34" charset="-122"/>
                <a:cs typeface="Segoe UI Semibold" pitchFamily="34" charset="-120"/>
              </a:rPr>
              <a:t>Agentic AI is AI that pursues a goal on its own.</a:t>
            </a:r>
            <a:endParaRPr lang="en-US" sz="2200" dirty="0"/>
          </a:p>
        </p:txBody>
      </p:sp>
      <p:sp>
        <p:nvSpPr>
          <p:cNvPr id="7" name="Text 4"/>
          <p:cNvSpPr/>
          <p:nvPr/>
        </p:nvSpPr>
        <p:spPr>
          <a:xfrm>
            <a:off x="548640" y="2697480"/>
            <a:ext cx="6126480" cy="1097280"/>
          </a:xfrm>
          <a:prstGeom prst="rect">
            <a:avLst/>
          </a:prstGeom>
          <a:noFill/>
          <a:ln/>
        </p:spPr>
        <p:txBody>
          <a:bodyPr wrap="square" lIns="0" tIns="0" rIns="0" bIns="0" rtlCol="0" anchor="t"/>
          <a:lstStyle/>
          <a:p>
            <a:pPr marL="0" indent="0">
              <a:lnSpc>
                <a:spcPts val="2100"/>
              </a:lnSpc>
              <a:buNone/>
            </a:pPr>
            <a:r>
              <a:rPr lang="en-US" sz="1450" dirty="0">
                <a:solidFill>
                  <a:srgbClr val="C9D1DA"/>
                </a:solidFill>
                <a:latin typeface="Segoe UI" pitchFamily="34" charset="0"/>
                <a:ea typeface="Segoe UI" pitchFamily="34" charset="-122"/>
                <a:cs typeface="Segoe UI" pitchFamily="34" charset="-120"/>
              </a:rPr>
              <a:t>Instead of only generating an answer, an agent plans the steps, uses real tools (search, code, apps, APIs), checks the results, and adapts — looping until the task is actually done.</a:t>
            </a:r>
            <a:endParaRPr lang="en-US" sz="1450" dirty="0"/>
          </a:p>
        </p:txBody>
      </p:sp>
      <p:sp>
        <p:nvSpPr>
          <p:cNvPr id="8" name="Shape 5"/>
          <p:cNvSpPr/>
          <p:nvPr/>
        </p:nvSpPr>
        <p:spPr>
          <a:xfrm>
            <a:off x="548640" y="3886200"/>
            <a:ext cx="2926080" cy="868680"/>
          </a:xfrm>
          <a:prstGeom prst="roundRect">
            <a:avLst>
              <a:gd name="adj" fmla="val 8421"/>
            </a:avLst>
          </a:prstGeom>
          <a:solidFill>
            <a:srgbClr val="23272F"/>
          </a:solidFill>
          <a:ln w="12700">
            <a:solidFill>
              <a:srgbClr val="353B45"/>
            </a:solidFill>
            <a:prstDash val="solid"/>
          </a:ln>
        </p:spPr>
        <p:txBody>
          <a:bodyPr/>
          <a:lstStyle/>
          <a:p>
            <a:endParaRPr lang="en-IN"/>
          </a:p>
        </p:txBody>
      </p:sp>
      <p:sp>
        <p:nvSpPr>
          <p:cNvPr id="9" name="Text 6"/>
          <p:cNvSpPr/>
          <p:nvPr/>
        </p:nvSpPr>
        <p:spPr>
          <a:xfrm>
            <a:off x="548640" y="3886200"/>
            <a:ext cx="2926080" cy="868680"/>
          </a:xfrm>
          <a:prstGeom prst="rect">
            <a:avLst/>
          </a:prstGeom>
          <a:noFill/>
          <a:ln/>
        </p:spPr>
        <p:txBody>
          <a:bodyPr wrap="square" lIns="0" tIns="0" rIns="0" bIns="0" rtlCol="0" anchor="ctr"/>
          <a:lstStyle/>
          <a:p>
            <a:pPr marL="0" indent="0" algn="ctr">
              <a:buNone/>
            </a:pPr>
            <a:r>
              <a:rPr lang="en-US" sz="1100" b="1" dirty="0">
                <a:solidFill>
                  <a:srgbClr val="9AA6B2"/>
                </a:solidFill>
                <a:latin typeface="Segoe UI" pitchFamily="34" charset="0"/>
                <a:ea typeface="Segoe UI" pitchFamily="34" charset="-122"/>
                <a:cs typeface="Segoe UI" pitchFamily="34" charset="-120"/>
              </a:rPr>
              <a:t>Generative AI
</a:t>
            </a:r>
            <a:r>
              <a:rPr lang="en-US" sz="1500" b="1" dirty="0">
                <a:solidFill>
                  <a:srgbClr val="FFFFFF"/>
                </a:solidFill>
                <a:latin typeface="Segoe UI" pitchFamily="34" charset="0"/>
                <a:ea typeface="Segoe UI" pitchFamily="34" charset="-122"/>
                <a:cs typeface="Segoe UI" pitchFamily="34" charset="-120"/>
              </a:rPr>
              <a:t>“says” things</a:t>
            </a:r>
            <a:endParaRPr lang="en-US" sz="1100" dirty="0"/>
          </a:p>
        </p:txBody>
      </p:sp>
      <p:sp>
        <p:nvSpPr>
          <p:cNvPr id="10" name="Shape 7"/>
          <p:cNvSpPr/>
          <p:nvPr/>
        </p:nvSpPr>
        <p:spPr>
          <a:xfrm>
            <a:off x="3657600" y="3886200"/>
            <a:ext cx="3017520" cy="868680"/>
          </a:xfrm>
          <a:prstGeom prst="roundRect">
            <a:avLst>
              <a:gd name="adj" fmla="val 8421"/>
            </a:avLst>
          </a:prstGeom>
          <a:solidFill>
            <a:srgbClr val="1E2127"/>
          </a:solidFill>
          <a:ln w="15875">
            <a:solidFill>
              <a:srgbClr val="B6F500"/>
            </a:solidFill>
            <a:prstDash val="solid"/>
          </a:ln>
        </p:spPr>
        <p:txBody>
          <a:bodyPr/>
          <a:lstStyle/>
          <a:p>
            <a:endParaRPr lang="en-IN"/>
          </a:p>
        </p:txBody>
      </p:sp>
      <p:sp>
        <p:nvSpPr>
          <p:cNvPr id="11" name="Text 8"/>
          <p:cNvSpPr/>
          <p:nvPr/>
        </p:nvSpPr>
        <p:spPr>
          <a:xfrm>
            <a:off x="3657600" y="3886200"/>
            <a:ext cx="3017520" cy="868680"/>
          </a:xfrm>
          <a:prstGeom prst="rect">
            <a:avLst/>
          </a:prstGeom>
          <a:noFill/>
          <a:ln/>
        </p:spPr>
        <p:txBody>
          <a:bodyPr wrap="square" lIns="0" tIns="0" rIns="0" bIns="0" rtlCol="0" anchor="ctr"/>
          <a:lstStyle/>
          <a:p>
            <a:pPr marL="0" indent="0" algn="ctr">
              <a:buNone/>
            </a:pPr>
            <a:r>
              <a:rPr lang="en-US" sz="1100" b="1" dirty="0">
                <a:solidFill>
                  <a:srgbClr val="8FBF00"/>
                </a:solidFill>
                <a:latin typeface="Segoe UI" pitchFamily="34" charset="0"/>
                <a:ea typeface="Segoe UI" pitchFamily="34" charset="-122"/>
                <a:cs typeface="Segoe UI" pitchFamily="34" charset="-120"/>
              </a:rPr>
              <a:t>Agentic AI
</a:t>
            </a:r>
            <a:r>
              <a:rPr lang="en-US" sz="1500" b="1" dirty="0">
                <a:solidFill>
                  <a:srgbClr val="B6F500"/>
                </a:solidFill>
                <a:latin typeface="Segoe UI" pitchFamily="34" charset="0"/>
                <a:ea typeface="Segoe UI" pitchFamily="34" charset="-122"/>
                <a:cs typeface="Segoe UI" pitchFamily="34" charset="-120"/>
              </a:rPr>
              <a:t>“does” things</a:t>
            </a:r>
            <a:endParaRPr lang="en-US" sz="1100" dirty="0"/>
          </a:p>
        </p:txBody>
      </p:sp>
      <p:sp>
        <p:nvSpPr>
          <p:cNvPr id="12" name="Shape 9"/>
          <p:cNvSpPr/>
          <p:nvPr/>
        </p:nvSpPr>
        <p:spPr>
          <a:xfrm>
            <a:off x="548640" y="5074920"/>
            <a:ext cx="11091672" cy="960120"/>
          </a:xfrm>
          <a:prstGeom prst="roundRect">
            <a:avLst>
              <a:gd name="adj" fmla="val 7619"/>
            </a:avLst>
          </a:prstGeom>
          <a:solidFill>
            <a:srgbClr val="1E2127"/>
          </a:solidFill>
          <a:ln w="15875">
            <a:solidFill>
              <a:srgbClr val="B6F500"/>
            </a:solidFill>
            <a:prstDash val="solid"/>
          </a:ln>
        </p:spPr>
        <p:txBody>
          <a:bodyPr/>
          <a:lstStyle/>
          <a:p>
            <a:endParaRPr lang="en-IN"/>
          </a:p>
        </p:txBody>
      </p:sp>
      <p:sp>
        <p:nvSpPr>
          <p:cNvPr id="13" name="Shape 10"/>
          <p:cNvSpPr/>
          <p:nvPr/>
        </p:nvSpPr>
        <p:spPr>
          <a:xfrm>
            <a:off x="548640" y="5074920"/>
            <a:ext cx="128016" cy="960120"/>
          </a:xfrm>
          <a:prstGeom prst="rect">
            <a:avLst/>
          </a:prstGeom>
          <a:solidFill>
            <a:srgbClr val="B6F500"/>
          </a:solidFill>
          <a:ln/>
        </p:spPr>
        <p:txBody>
          <a:bodyPr/>
          <a:lstStyle/>
          <a:p>
            <a:endParaRPr lang="en-IN"/>
          </a:p>
        </p:txBody>
      </p:sp>
      <p:sp>
        <p:nvSpPr>
          <p:cNvPr id="14" name="Text 11"/>
          <p:cNvSpPr/>
          <p:nvPr/>
        </p:nvSpPr>
        <p:spPr>
          <a:xfrm>
            <a:off x="868680" y="5074920"/>
            <a:ext cx="10515600" cy="960120"/>
          </a:xfrm>
          <a:prstGeom prst="rect">
            <a:avLst/>
          </a:prstGeom>
          <a:noFill/>
          <a:ln/>
        </p:spPr>
        <p:txBody>
          <a:bodyPr wrap="square" lIns="0" tIns="0" rIns="0" bIns="0" rtlCol="0" anchor="ctr"/>
          <a:lstStyle/>
          <a:p>
            <a:pPr marL="0" indent="0">
              <a:lnSpc>
                <a:spcPts val="1800"/>
              </a:lnSpc>
              <a:buNone/>
            </a:pPr>
            <a:r>
              <a:rPr lang="en-US" sz="1200" b="1" kern="0" spc="100" dirty="0">
                <a:solidFill>
                  <a:srgbClr val="B6F500"/>
                </a:solidFill>
                <a:latin typeface="Segoe UI" pitchFamily="34" charset="0"/>
                <a:ea typeface="Segoe UI" pitchFamily="34" charset="-122"/>
                <a:cs typeface="Segoe UI" pitchFamily="34" charset="-120"/>
              </a:rPr>
              <a:t>INTERACTIVE QUESTION 1   </a:t>
            </a:r>
            <a:r>
              <a:rPr lang="en-US" sz="1300" dirty="0">
                <a:solidFill>
                  <a:srgbClr val="C9D1DA"/>
                </a:solidFill>
                <a:latin typeface="Segoe UI" pitchFamily="34" charset="0"/>
                <a:ea typeface="Segoe UI" pitchFamily="34" charset="-122"/>
                <a:cs typeface="Segoe UI" pitchFamily="34" charset="-120"/>
              </a:rPr>
              <a:t>Which apps you already use this week might quietly be ‘agentic’ — booking, coding, or research helpers that take action for you? Shout a few out.</a:t>
            </a:r>
            <a:endParaRPr lang="en-US" sz="1200" dirty="0"/>
          </a:p>
        </p:txBody>
      </p:sp>
      <p:sp>
        <p:nvSpPr>
          <p:cNvPr id="15" name="Shape 12"/>
          <p:cNvSpPr/>
          <p:nvPr/>
        </p:nvSpPr>
        <p:spPr>
          <a:xfrm>
            <a:off x="548640" y="6437376"/>
            <a:ext cx="292608" cy="64008"/>
          </a:xfrm>
          <a:prstGeom prst="rect">
            <a:avLst/>
          </a:prstGeom>
          <a:solidFill>
            <a:srgbClr val="B6F500"/>
          </a:solidFill>
          <a:ln/>
        </p:spPr>
        <p:txBody>
          <a:bodyPr/>
          <a:lstStyle/>
          <a:p>
            <a:endParaRPr lang="en-IN"/>
          </a:p>
        </p:txBody>
      </p:sp>
      <p:sp>
        <p:nvSpPr>
          <p:cNvPr id="16" name="Text 13"/>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17" name="Text 14"/>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KNOW THE DIFFERENCE</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Agentic AI vs Traditional vs Generative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221992">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548640">
                <a:tc>
                  <a:txBody>
                    <a:bodyPr/>
                    <a:lstStyle/>
                    <a:p>
                      <a:pPr marL="0" indent="0" algn="l">
                        <a:buNone/>
                      </a:pPr>
                      <a:endParaRPr lang="en-US" sz="12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Traditional AI</a:t>
                      </a:r>
                      <a:endParaRPr lang="en-US" sz="130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A2F38"/>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Generative AI</a:t>
                      </a:r>
                      <a:endParaRPr lang="en-US" sz="130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A2F38"/>
                    </a:solidFill>
                  </a:tcPr>
                </a:tc>
                <a:tc>
                  <a:txBody>
                    <a:bodyPr/>
                    <a:lstStyle/>
                    <a:p>
                      <a:pPr marL="0" indent="0" algn="l">
                        <a:buNone/>
                      </a:pPr>
                      <a:r>
                        <a:rPr lang="en-US" sz="1300" b="1" dirty="0">
                          <a:solidFill>
                            <a:srgbClr val="0F1012"/>
                          </a:solidFill>
                          <a:latin typeface="Segoe UI Semibold" pitchFamily="34" charset="0"/>
                          <a:ea typeface="Segoe UI Semibold" pitchFamily="34" charset="-122"/>
                          <a:cs typeface="Segoe UI Semibold" pitchFamily="34" charset="-120"/>
                        </a:rPr>
                        <a:t>Agentic AI</a:t>
                      </a:r>
                      <a:endParaRPr lang="en-US" sz="130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B6F500"/>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Main job</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Predict &amp; classify</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Create content</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Achieve a goal</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Initiative</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Reactive</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Reactive (one prompt)</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Proactive, multi-step</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Tools &amp; actions</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None</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None — outputs text</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Calls tools, apps &amp; APIs</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Memory</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Usually none</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Limited context</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Short + long-term</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Everyday example</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Spam filter</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Writes an essay</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Books your whole trip</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B6F500"/>
                          </a:solidFill>
                          <a:latin typeface="Segoe UI Semibold" pitchFamily="34" charset="0"/>
                          <a:ea typeface="Segoe UI Semibold" pitchFamily="34" charset="-122"/>
                          <a:cs typeface="Segoe UI Semibold" pitchFamily="34" charset="-120"/>
                        </a:rPr>
                        <a:t>Your role</a:t>
                      </a:r>
                      <a:endParaRPr lang="en-US" sz="1150" dirty="0">
                        <a:latin typeface="Segoe UI Semibold" charset="0"/>
                        <a:ea typeface="Segoe UI Semibold" charset="0"/>
                        <a:cs typeface="Segoe UI Semibold"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1E2127"/>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Operator</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dirty="0">
                          <a:solidFill>
                            <a:srgbClr val="C9D1DA"/>
                          </a:solidFill>
                          <a:latin typeface="Segoe UI" pitchFamily="34" charset="0"/>
                          <a:ea typeface="Segoe UI" pitchFamily="34" charset="-122"/>
                          <a:cs typeface="Segoe UI" pitchFamily="34" charset="-120"/>
                        </a:rPr>
                        <a:t>Prompter</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3272F"/>
                    </a:solidFill>
                  </a:tcPr>
                </a:tc>
                <a:tc>
                  <a:txBody>
                    <a:bodyPr/>
                    <a:lstStyle/>
                    <a:p>
                      <a:pPr marL="0" indent="0" algn="l">
                        <a:buNone/>
                      </a:pPr>
                      <a:r>
                        <a:rPr lang="en-US" sz="1150" b="1" dirty="0">
                          <a:solidFill>
                            <a:srgbClr val="FFFFFF"/>
                          </a:solidFill>
                          <a:latin typeface="Segoe UI" pitchFamily="34" charset="0"/>
                          <a:ea typeface="Segoe UI" pitchFamily="34" charset="-122"/>
                          <a:cs typeface="Segoe UI" pitchFamily="34" charset="-120"/>
                        </a:rPr>
                        <a:t>Supervisor</a:t>
                      </a:r>
                      <a:endParaRPr lang="en-US" sz="1150" dirty="0">
                        <a:latin typeface="Segoe UI" charset="0"/>
                        <a:ea typeface="Segoe UI" charset="0"/>
                        <a:cs typeface="Segoe UI" charset="0"/>
                      </a:endParaRPr>
                    </a:p>
                  </a:txBody>
                  <a:tcPr marL="76200" marR="76200" marT="76200" marB="76200" anchor="ctr">
                    <a:lnL w="12700" cap="flat" cmpd="sng" algn="ctr">
                      <a:solidFill>
                        <a:srgbClr val="14161A"/>
                      </a:solidFill>
                      <a:prstDash val="solid"/>
                      <a:round/>
                      <a:headEnd type="none" w="med" len="med"/>
                      <a:tailEnd type="none" w="med" len="med"/>
                    </a:lnL>
                    <a:lnR w="12700" cap="flat" cmpd="sng" algn="ctr">
                      <a:solidFill>
                        <a:srgbClr val="14161A"/>
                      </a:solidFill>
                      <a:prstDash val="solid"/>
                      <a:round/>
                      <a:headEnd type="none" w="med" len="med"/>
                      <a:tailEnd type="none" w="med" len="med"/>
                    </a:lnR>
                    <a:lnT w="12700" cap="flat" cmpd="sng" algn="ctr">
                      <a:solidFill>
                        <a:srgbClr val="14161A"/>
                      </a:solidFill>
                      <a:prstDash val="solid"/>
                      <a:round/>
                      <a:headEnd type="none" w="med" len="med"/>
                      <a:tailEnd type="none" w="med" len="med"/>
                    </a:lnT>
                    <a:lnB w="12700" cap="flat" cmpd="sng" algn="ctr">
                      <a:solidFill>
                        <a:srgbClr val="14161A"/>
                      </a:solidFill>
                      <a:prstDash val="solid"/>
                      <a:round/>
                      <a:headEnd type="none" w="med" len="med"/>
                      <a:tailEnd type="none" w="med" len="med"/>
                    </a:lnB>
                    <a:solidFill>
                      <a:srgbClr val="242C20"/>
                    </a:solidFill>
                  </a:tcPr>
                </a:tc>
                <a:extLst>
                  <a:ext uri="{0D108BD9-81ED-4DB2-BD59-A6C34878D82A}">
                    <a16:rowId xmlns:a16="http://schemas.microsoft.com/office/drawing/2014/main" val="10006"/>
                  </a:ext>
                </a:extLst>
              </a:tr>
            </a:tbl>
          </a:graphicData>
        </a:graphic>
      </p:graphicFrame>
      <p:sp>
        <p:nvSpPr>
          <p:cNvPr id="4" name="Shape 2"/>
          <p:cNvSpPr/>
          <p:nvPr/>
        </p:nvSpPr>
        <p:spPr>
          <a:xfrm>
            <a:off x="548640" y="6437376"/>
            <a:ext cx="292608" cy="64008"/>
          </a:xfrm>
          <a:prstGeom prst="rect">
            <a:avLst/>
          </a:prstGeom>
          <a:solidFill>
            <a:srgbClr val="B6F500"/>
          </a:solidFill>
          <a:ln/>
        </p:spPr>
        <p:txBody>
          <a:bodyPr/>
          <a:lstStyle/>
          <a:p>
            <a:endParaRPr lang="en-IN"/>
          </a:p>
        </p:txBody>
      </p:sp>
      <p:sp>
        <p:nvSpPr>
          <p:cNvPr id="6" name="Text 3"/>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7" name="Text 4"/>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THE FIVE INGREDIENTS</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Core Characteristics of an Agent</a:t>
            </a:r>
            <a:endParaRPr lang="en-US" sz="3000" dirty="0"/>
          </a:p>
        </p:txBody>
      </p:sp>
      <p:sp>
        <p:nvSpPr>
          <p:cNvPr id="4" name="Shape 2"/>
          <p:cNvSpPr/>
          <p:nvPr/>
        </p:nvSpPr>
        <p:spPr>
          <a:xfrm>
            <a:off x="777240" y="1874520"/>
            <a:ext cx="3383280" cy="18745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777240" y="1874520"/>
            <a:ext cx="128016" cy="1874520"/>
          </a:xfrm>
          <a:prstGeom prst="rect">
            <a:avLst/>
          </a:prstGeom>
          <a:solidFill>
            <a:srgbClr val="B6F500"/>
          </a:solidFill>
          <a:ln/>
        </p:spPr>
        <p:txBody>
          <a:bodyPr/>
          <a:lstStyle/>
          <a:p>
            <a:endParaRPr lang="en-IN"/>
          </a:p>
        </p:txBody>
      </p:sp>
      <p:sp>
        <p:nvSpPr>
          <p:cNvPr id="6" name="Shape 4"/>
          <p:cNvSpPr/>
          <p:nvPr/>
        </p:nvSpPr>
        <p:spPr>
          <a:xfrm>
            <a:off x="1069848" y="2185416"/>
            <a:ext cx="713232" cy="713232"/>
          </a:xfrm>
          <a:prstGeom prst="ellipse">
            <a:avLst/>
          </a:prstGeom>
          <a:solidFill>
            <a:srgbClr val="B6F500"/>
          </a:solidFill>
          <a:ln/>
        </p:spPr>
        <p:txBody>
          <a:bodyPr/>
          <a:lstStyle/>
          <a:p>
            <a:endParaRPr lang="en-IN"/>
          </a:p>
        </p:txBody>
      </p:sp>
      <p:sp>
        <p:nvSpPr>
          <p:cNvPr id="7" name="Text 5"/>
          <p:cNvSpPr/>
          <p:nvPr/>
        </p:nvSpPr>
        <p:spPr>
          <a:xfrm>
            <a:off x="1069848" y="2185416"/>
            <a:ext cx="713232" cy="713232"/>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A</a:t>
            </a:r>
            <a:endParaRPr lang="en-US" sz="1700" dirty="0"/>
          </a:p>
        </p:txBody>
      </p:sp>
      <p:sp>
        <p:nvSpPr>
          <p:cNvPr id="8" name="Text 6"/>
          <p:cNvSpPr/>
          <p:nvPr/>
        </p:nvSpPr>
        <p:spPr>
          <a:xfrm>
            <a:off x="1947672" y="2203704"/>
            <a:ext cx="2057400" cy="676656"/>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Autonomy</a:t>
            </a:r>
            <a:endParaRPr lang="en-US" sz="1700" dirty="0"/>
          </a:p>
        </p:txBody>
      </p:sp>
      <p:sp>
        <p:nvSpPr>
          <p:cNvPr id="9" name="Text 7"/>
          <p:cNvSpPr/>
          <p:nvPr/>
        </p:nvSpPr>
        <p:spPr>
          <a:xfrm>
            <a:off x="1088136" y="2990088"/>
            <a:ext cx="2834640" cy="6400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Acts toward the goal without being told every step.</a:t>
            </a:r>
            <a:endParaRPr lang="en-US" sz="1200" dirty="0"/>
          </a:p>
        </p:txBody>
      </p:sp>
      <p:sp>
        <p:nvSpPr>
          <p:cNvPr id="10" name="Shape 8"/>
          <p:cNvSpPr/>
          <p:nvPr/>
        </p:nvSpPr>
        <p:spPr>
          <a:xfrm>
            <a:off x="4553712" y="1874520"/>
            <a:ext cx="3383280" cy="18745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1" name="Shape 9"/>
          <p:cNvSpPr/>
          <p:nvPr/>
        </p:nvSpPr>
        <p:spPr>
          <a:xfrm>
            <a:off x="4553712" y="1874520"/>
            <a:ext cx="128016" cy="1874520"/>
          </a:xfrm>
          <a:prstGeom prst="rect">
            <a:avLst/>
          </a:prstGeom>
          <a:solidFill>
            <a:srgbClr val="B6F500"/>
          </a:solidFill>
          <a:ln/>
        </p:spPr>
        <p:txBody>
          <a:bodyPr/>
          <a:lstStyle/>
          <a:p>
            <a:endParaRPr lang="en-IN"/>
          </a:p>
        </p:txBody>
      </p:sp>
      <p:sp>
        <p:nvSpPr>
          <p:cNvPr id="12" name="Shape 10"/>
          <p:cNvSpPr/>
          <p:nvPr/>
        </p:nvSpPr>
        <p:spPr>
          <a:xfrm>
            <a:off x="4846320" y="2185416"/>
            <a:ext cx="713232" cy="713232"/>
          </a:xfrm>
          <a:prstGeom prst="ellipse">
            <a:avLst/>
          </a:prstGeom>
          <a:solidFill>
            <a:srgbClr val="B6F500"/>
          </a:solidFill>
          <a:ln/>
        </p:spPr>
        <p:txBody>
          <a:bodyPr/>
          <a:lstStyle/>
          <a:p>
            <a:endParaRPr lang="en-IN"/>
          </a:p>
        </p:txBody>
      </p:sp>
      <p:sp>
        <p:nvSpPr>
          <p:cNvPr id="13" name="Text 11"/>
          <p:cNvSpPr/>
          <p:nvPr/>
        </p:nvSpPr>
        <p:spPr>
          <a:xfrm>
            <a:off x="4846320" y="2185416"/>
            <a:ext cx="713232" cy="713232"/>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P</a:t>
            </a:r>
            <a:endParaRPr lang="en-US" sz="1700" dirty="0"/>
          </a:p>
        </p:txBody>
      </p:sp>
      <p:sp>
        <p:nvSpPr>
          <p:cNvPr id="14" name="Text 12"/>
          <p:cNvSpPr/>
          <p:nvPr/>
        </p:nvSpPr>
        <p:spPr>
          <a:xfrm>
            <a:off x="5724144" y="2203704"/>
            <a:ext cx="2057400" cy="676656"/>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Planning</a:t>
            </a:r>
            <a:endParaRPr lang="en-US" sz="1700" dirty="0"/>
          </a:p>
        </p:txBody>
      </p:sp>
      <p:sp>
        <p:nvSpPr>
          <p:cNvPr id="15" name="Text 13"/>
          <p:cNvSpPr/>
          <p:nvPr/>
        </p:nvSpPr>
        <p:spPr>
          <a:xfrm>
            <a:off x="4864608" y="2990088"/>
            <a:ext cx="2834640" cy="6400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Breaks a big goal into an ordered sequence of steps.</a:t>
            </a:r>
            <a:endParaRPr lang="en-US" sz="1200" dirty="0"/>
          </a:p>
        </p:txBody>
      </p:sp>
      <p:sp>
        <p:nvSpPr>
          <p:cNvPr id="16" name="Shape 14"/>
          <p:cNvSpPr/>
          <p:nvPr/>
        </p:nvSpPr>
        <p:spPr>
          <a:xfrm>
            <a:off x="8330184" y="1874520"/>
            <a:ext cx="3383280" cy="18745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Shape 15"/>
          <p:cNvSpPr/>
          <p:nvPr/>
        </p:nvSpPr>
        <p:spPr>
          <a:xfrm>
            <a:off x="8330184" y="1874520"/>
            <a:ext cx="128016" cy="1874520"/>
          </a:xfrm>
          <a:prstGeom prst="rect">
            <a:avLst/>
          </a:prstGeom>
          <a:solidFill>
            <a:srgbClr val="B6F500"/>
          </a:solidFill>
          <a:ln/>
        </p:spPr>
        <p:txBody>
          <a:bodyPr/>
          <a:lstStyle/>
          <a:p>
            <a:endParaRPr lang="en-IN"/>
          </a:p>
        </p:txBody>
      </p:sp>
      <p:sp>
        <p:nvSpPr>
          <p:cNvPr id="18" name="Shape 16"/>
          <p:cNvSpPr/>
          <p:nvPr/>
        </p:nvSpPr>
        <p:spPr>
          <a:xfrm>
            <a:off x="8622792" y="2185416"/>
            <a:ext cx="713232" cy="713232"/>
          </a:xfrm>
          <a:prstGeom prst="ellipse">
            <a:avLst/>
          </a:prstGeom>
          <a:solidFill>
            <a:srgbClr val="B6F500"/>
          </a:solidFill>
          <a:ln/>
        </p:spPr>
        <p:txBody>
          <a:bodyPr/>
          <a:lstStyle/>
          <a:p>
            <a:endParaRPr lang="en-IN"/>
          </a:p>
        </p:txBody>
      </p:sp>
      <p:sp>
        <p:nvSpPr>
          <p:cNvPr id="19" name="Text 17"/>
          <p:cNvSpPr/>
          <p:nvPr/>
        </p:nvSpPr>
        <p:spPr>
          <a:xfrm>
            <a:off x="8622792" y="2185416"/>
            <a:ext cx="713232" cy="713232"/>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M</a:t>
            </a:r>
            <a:endParaRPr lang="en-US" sz="1700" dirty="0"/>
          </a:p>
        </p:txBody>
      </p:sp>
      <p:sp>
        <p:nvSpPr>
          <p:cNvPr id="20" name="Text 18"/>
          <p:cNvSpPr/>
          <p:nvPr/>
        </p:nvSpPr>
        <p:spPr>
          <a:xfrm>
            <a:off x="9500616" y="2203704"/>
            <a:ext cx="2057400" cy="676656"/>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Memory</a:t>
            </a:r>
            <a:endParaRPr lang="en-US" sz="1700" dirty="0"/>
          </a:p>
        </p:txBody>
      </p:sp>
      <p:sp>
        <p:nvSpPr>
          <p:cNvPr id="21" name="Text 19"/>
          <p:cNvSpPr/>
          <p:nvPr/>
        </p:nvSpPr>
        <p:spPr>
          <a:xfrm>
            <a:off x="8641080" y="2990088"/>
            <a:ext cx="2834640" cy="6400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Remembers context, past steps and results.</a:t>
            </a:r>
            <a:endParaRPr lang="en-US" sz="1200" dirty="0"/>
          </a:p>
        </p:txBody>
      </p:sp>
      <p:sp>
        <p:nvSpPr>
          <p:cNvPr id="22" name="Shape 20"/>
          <p:cNvSpPr/>
          <p:nvPr/>
        </p:nvSpPr>
        <p:spPr>
          <a:xfrm>
            <a:off x="2665476" y="4114800"/>
            <a:ext cx="3383280" cy="18745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3" name="Shape 21"/>
          <p:cNvSpPr/>
          <p:nvPr/>
        </p:nvSpPr>
        <p:spPr>
          <a:xfrm>
            <a:off x="2665476" y="4114800"/>
            <a:ext cx="128016" cy="1874520"/>
          </a:xfrm>
          <a:prstGeom prst="rect">
            <a:avLst/>
          </a:prstGeom>
          <a:solidFill>
            <a:srgbClr val="B6F500"/>
          </a:solidFill>
          <a:ln/>
        </p:spPr>
        <p:txBody>
          <a:bodyPr/>
          <a:lstStyle/>
          <a:p>
            <a:endParaRPr lang="en-IN"/>
          </a:p>
        </p:txBody>
      </p:sp>
      <p:sp>
        <p:nvSpPr>
          <p:cNvPr id="24" name="Shape 22"/>
          <p:cNvSpPr/>
          <p:nvPr/>
        </p:nvSpPr>
        <p:spPr>
          <a:xfrm>
            <a:off x="2958084" y="4425696"/>
            <a:ext cx="713232" cy="713232"/>
          </a:xfrm>
          <a:prstGeom prst="ellipse">
            <a:avLst/>
          </a:prstGeom>
          <a:solidFill>
            <a:srgbClr val="B6F500"/>
          </a:solidFill>
          <a:ln/>
        </p:spPr>
        <p:txBody>
          <a:bodyPr/>
          <a:lstStyle/>
          <a:p>
            <a:endParaRPr lang="en-IN"/>
          </a:p>
        </p:txBody>
      </p:sp>
      <p:sp>
        <p:nvSpPr>
          <p:cNvPr id="25" name="Text 23"/>
          <p:cNvSpPr/>
          <p:nvPr/>
        </p:nvSpPr>
        <p:spPr>
          <a:xfrm>
            <a:off x="2958084" y="4425696"/>
            <a:ext cx="713232" cy="713232"/>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T</a:t>
            </a:r>
            <a:endParaRPr lang="en-US" sz="1700" dirty="0"/>
          </a:p>
        </p:txBody>
      </p:sp>
      <p:sp>
        <p:nvSpPr>
          <p:cNvPr id="26" name="Text 24"/>
          <p:cNvSpPr/>
          <p:nvPr/>
        </p:nvSpPr>
        <p:spPr>
          <a:xfrm>
            <a:off x="3835908" y="4443984"/>
            <a:ext cx="2057400" cy="676656"/>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Tool Use</a:t>
            </a:r>
            <a:endParaRPr lang="en-US" sz="1700" dirty="0"/>
          </a:p>
        </p:txBody>
      </p:sp>
      <p:sp>
        <p:nvSpPr>
          <p:cNvPr id="27" name="Text 25"/>
          <p:cNvSpPr/>
          <p:nvPr/>
        </p:nvSpPr>
        <p:spPr>
          <a:xfrm>
            <a:off x="2976372" y="5230368"/>
            <a:ext cx="2834640" cy="6400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Calls search, code, databases and apps to get things done.</a:t>
            </a:r>
            <a:endParaRPr lang="en-US" sz="1200" dirty="0"/>
          </a:p>
        </p:txBody>
      </p:sp>
      <p:sp>
        <p:nvSpPr>
          <p:cNvPr id="28" name="Shape 26"/>
          <p:cNvSpPr/>
          <p:nvPr/>
        </p:nvSpPr>
        <p:spPr>
          <a:xfrm>
            <a:off x="6441948" y="4114800"/>
            <a:ext cx="3383280" cy="18745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9" name="Shape 27"/>
          <p:cNvSpPr/>
          <p:nvPr/>
        </p:nvSpPr>
        <p:spPr>
          <a:xfrm>
            <a:off x="6441948" y="4114800"/>
            <a:ext cx="128016" cy="1874520"/>
          </a:xfrm>
          <a:prstGeom prst="rect">
            <a:avLst/>
          </a:prstGeom>
          <a:solidFill>
            <a:srgbClr val="B6F500"/>
          </a:solidFill>
          <a:ln/>
        </p:spPr>
        <p:txBody>
          <a:bodyPr/>
          <a:lstStyle/>
          <a:p>
            <a:endParaRPr lang="en-IN"/>
          </a:p>
        </p:txBody>
      </p:sp>
      <p:sp>
        <p:nvSpPr>
          <p:cNvPr id="30" name="Shape 28"/>
          <p:cNvSpPr/>
          <p:nvPr/>
        </p:nvSpPr>
        <p:spPr>
          <a:xfrm>
            <a:off x="6734556" y="4425696"/>
            <a:ext cx="713232" cy="713232"/>
          </a:xfrm>
          <a:prstGeom prst="ellipse">
            <a:avLst/>
          </a:prstGeom>
          <a:solidFill>
            <a:srgbClr val="B6F500"/>
          </a:solidFill>
          <a:ln/>
        </p:spPr>
        <p:txBody>
          <a:bodyPr/>
          <a:lstStyle/>
          <a:p>
            <a:endParaRPr lang="en-IN"/>
          </a:p>
        </p:txBody>
      </p:sp>
      <p:sp>
        <p:nvSpPr>
          <p:cNvPr id="31" name="Text 29"/>
          <p:cNvSpPr/>
          <p:nvPr/>
        </p:nvSpPr>
        <p:spPr>
          <a:xfrm>
            <a:off x="6734556" y="4425696"/>
            <a:ext cx="713232" cy="713232"/>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R</a:t>
            </a:r>
            <a:endParaRPr lang="en-US" sz="1700" dirty="0"/>
          </a:p>
        </p:txBody>
      </p:sp>
      <p:sp>
        <p:nvSpPr>
          <p:cNvPr id="32" name="Text 30"/>
          <p:cNvSpPr/>
          <p:nvPr/>
        </p:nvSpPr>
        <p:spPr>
          <a:xfrm>
            <a:off x="7612380" y="4443984"/>
            <a:ext cx="2057400" cy="676656"/>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Reasoning</a:t>
            </a:r>
            <a:endParaRPr lang="en-US" sz="1700" dirty="0"/>
          </a:p>
        </p:txBody>
      </p:sp>
      <p:sp>
        <p:nvSpPr>
          <p:cNvPr id="33" name="Text 31"/>
          <p:cNvSpPr/>
          <p:nvPr/>
        </p:nvSpPr>
        <p:spPr>
          <a:xfrm>
            <a:off x="6752844" y="5230368"/>
            <a:ext cx="2834640" cy="6400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Thinks, checks results and self-corrects.</a:t>
            </a:r>
            <a:endParaRPr lang="en-US" sz="1200" dirty="0"/>
          </a:p>
        </p:txBody>
      </p:sp>
      <p:sp>
        <p:nvSpPr>
          <p:cNvPr id="34" name="Shape 32"/>
          <p:cNvSpPr/>
          <p:nvPr/>
        </p:nvSpPr>
        <p:spPr>
          <a:xfrm>
            <a:off x="548640" y="6437376"/>
            <a:ext cx="292608" cy="64008"/>
          </a:xfrm>
          <a:prstGeom prst="rect">
            <a:avLst/>
          </a:prstGeom>
          <a:solidFill>
            <a:srgbClr val="B6F500"/>
          </a:solidFill>
          <a:ln/>
        </p:spPr>
        <p:txBody>
          <a:bodyPr/>
          <a:lstStyle/>
          <a:p>
            <a:endParaRPr lang="en-IN"/>
          </a:p>
        </p:txBody>
      </p:sp>
      <p:sp>
        <p:nvSpPr>
          <p:cNvPr id="35" name="Text 33"/>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6" name="Text 34"/>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ARCHITECTURE</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Anatomy of an AI Agent</a:t>
            </a:r>
            <a:endParaRPr lang="en-US" sz="3000" dirty="0"/>
          </a:p>
        </p:txBody>
      </p:sp>
      <p:sp>
        <p:nvSpPr>
          <p:cNvPr id="4" name="Shape 2"/>
          <p:cNvSpPr/>
          <p:nvPr/>
        </p:nvSpPr>
        <p:spPr>
          <a:xfrm flipV="1">
            <a:off x="6089904" y="2217420"/>
            <a:ext cx="0" cy="1485900"/>
          </a:xfrm>
          <a:prstGeom prst="line">
            <a:avLst/>
          </a:prstGeom>
          <a:noFill/>
          <a:ln w="22225">
            <a:solidFill>
              <a:srgbClr val="8FBF00"/>
            </a:solidFill>
            <a:prstDash val="solid"/>
            <a:headEnd type="triangle"/>
            <a:tailEnd type="triangle"/>
          </a:ln>
        </p:spPr>
        <p:txBody>
          <a:bodyPr/>
          <a:lstStyle/>
          <a:p>
            <a:endParaRPr lang="en-IN"/>
          </a:p>
        </p:txBody>
      </p:sp>
      <p:sp>
        <p:nvSpPr>
          <p:cNvPr id="5" name="Shape 3"/>
          <p:cNvSpPr/>
          <p:nvPr/>
        </p:nvSpPr>
        <p:spPr>
          <a:xfrm flipH="1">
            <a:off x="2583180" y="3703320"/>
            <a:ext cx="3506724" cy="22860"/>
          </a:xfrm>
          <a:prstGeom prst="line">
            <a:avLst/>
          </a:prstGeom>
          <a:noFill/>
          <a:ln w="22225">
            <a:solidFill>
              <a:srgbClr val="8FBF00"/>
            </a:solidFill>
            <a:prstDash val="solid"/>
            <a:headEnd type="triangle"/>
            <a:tailEnd type="triangle"/>
          </a:ln>
        </p:spPr>
        <p:txBody>
          <a:bodyPr/>
          <a:lstStyle/>
          <a:p>
            <a:endParaRPr lang="en-IN"/>
          </a:p>
        </p:txBody>
      </p:sp>
      <p:sp>
        <p:nvSpPr>
          <p:cNvPr id="6" name="Shape 4"/>
          <p:cNvSpPr/>
          <p:nvPr/>
        </p:nvSpPr>
        <p:spPr>
          <a:xfrm>
            <a:off x="6089904" y="3703320"/>
            <a:ext cx="3534156" cy="22860"/>
          </a:xfrm>
          <a:prstGeom prst="line">
            <a:avLst/>
          </a:prstGeom>
          <a:noFill/>
          <a:ln w="22225">
            <a:solidFill>
              <a:srgbClr val="8FBF00"/>
            </a:solidFill>
            <a:prstDash val="solid"/>
            <a:headEnd type="triangle"/>
            <a:tailEnd type="triangle"/>
          </a:ln>
        </p:spPr>
        <p:txBody>
          <a:bodyPr/>
          <a:lstStyle/>
          <a:p>
            <a:endParaRPr lang="en-IN"/>
          </a:p>
        </p:txBody>
      </p:sp>
      <p:sp>
        <p:nvSpPr>
          <p:cNvPr id="7" name="Shape 5"/>
          <p:cNvSpPr/>
          <p:nvPr/>
        </p:nvSpPr>
        <p:spPr>
          <a:xfrm>
            <a:off x="6089904" y="3703320"/>
            <a:ext cx="0" cy="1805940"/>
          </a:xfrm>
          <a:prstGeom prst="line">
            <a:avLst/>
          </a:prstGeom>
          <a:noFill/>
          <a:ln w="22225">
            <a:solidFill>
              <a:srgbClr val="8FBF00"/>
            </a:solidFill>
            <a:prstDash val="solid"/>
            <a:headEnd type="triangle"/>
            <a:tailEnd type="triangle"/>
          </a:ln>
        </p:spPr>
        <p:txBody>
          <a:bodyPr/>
          <a:lstStyle/>
          <a:p>
            <a:endParaRPr lang="en-IN"/>
          </a:p>
        </p:txBody>
      </p:sp>
      <p:sp>
        <p:nvSpPr>
          <p:cNvPr id="8" name="Shape 6"/>
          <p:cNvSpPr/>
          <p:nvPr/>
        </p:nvSpPr>
        <p:spPr>
          <a:xfrm>
            <a:off x="4718304" y="3063240"/>
            <a:ext cx="2743200" cy="1325880"/>
          </a:xfrm>
          <a:prstGeom prst="roundRect">
            <a:avLst>
              <a:gd name="adj" fmla="val 6897"/>
            </a:avLst>
          </a:prstGeom>
          <a:solidFill>
            <a:srgbClr val="B6F500"/>
          </a:solidFill>
          <a:ln/>
          <a:effectLst>
            <a:outerShdw blurRad="114300" dist="38100" dir="5400000" algn="bl" rotWithShape="0">
              <a:srgbClr val="000000">
                <a:alpha val="35000"/>
              </a:srgbClr>
            </a:outerShdw>
          </a:effectLst>
        </p:spPr>
        <p:txBody>
          <a:bodyPr/>
          <a:lstStyle/>
          <a:p>
            <a:endParaRPr lang="en-IN"/>
          </a:p>
        </p:txBody>
      </p:sp>
      <p:sp>
        <p:nvSpPr>
          <p:cNvPr id="9" name="Text 7"/>
          <p:cNvSpPr/>
          <p:nvPr/>
        </p:nvSpPr>
        <p:spPr>
          <a:xfrm>
            <a:off x="4718304" y="3063240"/>
            <a:ext cx="2743200" cy="1325880"/>
          </a:xfrm>
          <a:prstGeom prst="rect">
            <a:avLst/>
          </a:prstGeom>
          <a:noFill/>
          <a:ln/>
        </p:spPr>
        <p:txBody>
          <a:bodyPr wrap="square" lIns="0" tIns="0" rIns="0" bIns="0" rtlCol="0" anchor="ctr"/>
          <a:lstStyle/>
          <a:p>
            <a:pPr marL="0" indent="0" algn="ctr">
              <a:buNone/>
            </a:pPr>
            <a:r>
              <a:rPr lang="en-US" sz="1800" b="1" dirty="0">
                <a:solidFill>
                  <a:srgbClr val="0F1012"/>
                </a:solidFill>
                <a:latin typeface="Segoe UI Semibold" pitchFamily="34" charset="0"/>
                <a:ea typeface="Segoe UI Semibold" pitchFamily="34" charset="-122"/>
                <a:cs typeface="Segoe UI Semibold" pitchFamily="34" charset="-120"/>
              </a:rPr>
              <a:t>LLM CORE
</a:t>
            </a:r>
            <a:r>
              <a:rPr lang="en-US" sz="1100" dirty="0">
                <a:solidFill>
                  <a:srgbClr val="1E3A00"/>
                </a:solidFill>
                <a:latin typeface="Segoe UI Semibold" pitchFamily="34" charset="0"/>
                <a:ea typeface="Segoe UI Semibold" pitchFamily="34" charset="-122"/>
                <a:cs typeface="Segoe UI Semibold" pitchFamily="34" charset="-120"/>
              </a:rPr>
              <a:t>Reasoning · Planning · Decisions</a:t>
            </a:r>
            <a:endParaRPr lang="en-US" sz="1800" dirty="0"/>
          </a:p>
        </p:txBody>
      </p:sp>
      <p:sp>
        <p:nvSpPr>
          <p:cNvPr id="10" name="Shape 8"/>
          <p:cNvSpPr/>
          <p:nvPr/>
        </p:nvSpPr>
        <p:spPr>
          <a:xfrm>
            <a:off x="4736592" y="1783080"/>
            <a:ext cx="2706624" cy="868680"/>
          </a:xfrm>
          <a:prstGeom prst="roundRect">
            <a:avLst>
              <a:gd name="adj" fmla="val 9474"/>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1" name="Text 9"/>
          <p:cNvSpPr/>
          <p:nvPr/>
        </p:nvSpPr>
        <p:spPr>
          <a:xfrm>
            <a:off x="4846320" y="1892808"/>
            <a:ext cx="2487168" cy="384048"/>
          </a:xfrm>
          <a:prstGeom prst="rect">
            <a:avLst/>
          </a:prstGeom>
          <a:noFill/>
          <a:ln/>
        </p:spPr>
        <p:txBody>
          <a:bodyPr wrap="square" lIns="0" tIns="0" rIns="0" bIns="0" rtlCol="0" anchor="ctr"/>
          <a:lstStyle/>
          <a:p>
            <a:pPr marL="0" indent="0" algn="ctr">
              <a:buNone/>
            </a:pPr>
            <a:r>
              <a:rPr lang="en-US" sz="1400" b="1" dirty="0">
                <a:solidFill>
                  <a:srgbClr val="B6F500"/>
                </a:solidFill>
                <a:latin typeface="Segoe UI Semibold" pitchFamily="34" charset="0"/>
                <a:ea typeface="Segoe UI Semibold" pitchFamily="34" charset="-122"/>
                <a:cs typeface="Segoe UI Semibold" pitchFamily="34" charset="-120"/>
              </a:rPr>
              <a:t>Perception &amp; Goal</a:t>
            </a:r>
            <a:endParaRPr lang="en-US" sz="1400" dirty="0"/>
          </a:p>
        </p:txBody>
      </p:sp>
      <p:sp>
        <p:nvSpPr>
          <p:cNvPr id="12" name="Text 10"/>
          <p:cNvSpPr/>
          <p:nvPr/>
        </p:nvSpPr>
        <p:spPr>
          <a:xfrm>
            <a:off x="4846320" y="2240280"/>
            <a:ext cx="2487168" cy="320040"/>
          </a:xfrm>
          <a:prstGeom prst="rect">
            <a:avLst/>
          </a:prstGeom>
          <a:noFill/>
          <a:ln/>
        </p:spPr>
        <p:txBody>
          <a:bodyPr wrap="square" lIns="0" tIns="0" rIns="0" bIns="0" rtlCol="0" anchor="t"/>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reads the task + environment</a:t>
            </a:r>
            <a:endParaRPr lang="en-US" sz="1050" dirty="0"/>
          </a:p>
        </p:txBody>
      </p:sp>
      <p:sp>
        <p:nvSpPr>
          <p:cNvPr id="13" name="Shape 11"/>
          <p:cNvSpPr/>
          <p:nvPr/>
        </p:nvSpPr>
        <p:spPr>
          <a:xfrm>
            <a:off x="1234440" y="3246120"/>
            <a:ext cx="2697480" cy="960120"/>
          </a:xfrm>
          <a:prstGeom prst="roundRect">
            <a:avLst>
              <a:gd name="adj" fmla="val 8571"/>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4" name="Text 12"/>
          <p:cNvSpPr/>
          <p:nvPr/>
        </p:nvSpPr>
        <p:spPr>
          <a:xfrm>
            <a:off x="1344168" y="3355848"/>
            <a:ext cx="2478024" cy="384048"/>
          </a:xfrm>
          <a:prstGeom prst="rect">
            <a:avLst/>
          </a:prstGeom>
          <a:noFill/>
          <a:ln/>
        </p:spPr>
        <p:txBody>
          <a:bodyPr wrap="square" lIns="0" tIns="0" rIns="0" bIns="0" rtlCol="0" anchor="ctr"/>
          <a:lstStyle/>
          <a:p>
            <a:pPr marL="0" indent="0" algn="ctr">
              <a:buNone/>
            </a:pPr>
            <a:r>
              <a:rPr lang="en-US" sz="1400" b="1" dirty="0">
                <a:solidFill>
                  <a:srgbClr val="B6F500"/>
                </a:solidFill>
                <a:latin typeface="Segoe UI Semibold" pitchFamily="34" charset="0"/>
                <a:ea typeface="Segoe UI Semibold" pitchFamily="34" charset="-122"/>
                <a:cs typeface="Segoe UI Semibold" pitchFamily="34" charset="-120"/>
              </a:rPr>
              <a:t>Memory</a:t>
            </a:r>
            <a:endParaRPr lang="en-US" sz="1400" dirty="0"/>
          </a:p>
        </p:txBody>
      </p:sp>
      <p:sp>
        <p:nvSpPr>
          <p:cNvPr id="15" name="Text 13"/>
          <p:cNvSpPr/>
          <p:nvPr/>
        </p:nvSpPr>
        <p:spPr>
          <a:xfrm>
            <a:off x="1344168" y="3749040"/>
            <a:ext cx="2478024" cy="411480"/>
          </a:xfrm>
          <a:prstGeom prst="rect">
            <a:avLst/>
          </a:prstGeom>
          <a:noFill/>
          <a:ln/>
        </p:spPr>
        <p:txBody>
          <a:bodyPr wrap="square" lIns="0" tIns="0" rIns="0" bIns="0" rtlCol="0" anchor="t"/>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context, history, knowledge</a:t>
            </a:r>
            <a:endParaRPr lang="en-US" sz="1050" dirty="0"/>
          </a:p>
        </p:txBody>
      </p:sp>
      <p:sp>
        <p:nvSpPr>
          <p:cNvPr id="16" name="Shape 14"/>
          <p:cNvSpPr/>
          <p:nvPr/>
        </p:nvSpPr>
        <p:spPr>
          <a:xfrm>
            <a:off x="8275320" y="3246120"/>
            <a:ext cx="2697480" cy="960120"/>
          </a:xfrm>
          <a:prstGeom prst="roundRect">
            <a:avLst>
              <a:gd name="adj" fmla="val 8571"/>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Text 15"/>
          <p:cNvSpPr/>
          <p:nvPr/>
        </p:nvSpPr>
        <p:spPr>
          <a:xfrm>
            <a:off x="8385048" y="3355848"/>
            <a:ext cx="2478024" cy="384048"/>
          </a:xfrm>
          <a:prstGeom prst="rect">
            <a:avLst/>
          </a:prstGeom>
          <a:noFill/>
          <a:ln/>
        </p:spPr>
        <p:txBody>
          <a:bodyPr wrap="square" lIns="0" tIns="0" rIns="0" bIns="0" rtlCol="0" anchor="ctr"/>
          <a:lstStyle/>
          <a:p>
            <a:pPr marL="0" indent="0" algn="ctr">
              <a:buNone/>
            </a:pPr>
            <a:r>
              <a:rPr lang="en-US" sz="1400" b="1" dirty="0">
                <a:solidFill>
                  <a:srgbClr val="B6F500"/>
                </a:solidFill>
                <a:latin typeface="Segoe UI Semibold" pitchFamily="34" charset="0"/>
                <a:ea typeface="Segoe UI Semibold" pitchFamily="34" charset="-122"/>
                <a:cs typeface="Segoe UI Semibold" pitchFamily="34" charset="-120"/>
              </a:rPr>
              <a:t>Tools &amp; APIs</a:t>
            </a:r>
            <a:endParaRPr lang="en-US" sz="1400" dirty="0"/>
          </a:p>
        </p:txBody>
      </p:sp>
      <p:sp>
        <p:nvSpPr>
          <p:cNvPr id="18" name="Text 16"/>
          <p:cNvSpPr/>
          <p:nvPr/>
        </p:nvSpPr>
        <p:spPr>
          <a:xfrm>
            <a:off x="8385048" y="3749040"/>
            <a:ext cx="2478024" cy="411480"/>
          </a:xfrm>
          <a:prstGeom prst="rect">
            <a:avLst/>
          </a:prstGeom>
          <a:noFill/>
          <a:ln/>
        </p:spPr>
        <p:txBody>
          <a:bodyPr wrap="square" lIns="0" tIns="0" rIns="0" bIns="0" rtlCol="0" anchor="t"/>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search · code · apps · data</a:t>
            </a:r>
            <a:endParaRPr lang="en-US" sz="1050" dirty="0"/>
          </a:p>
        </p:txBody>
      </p:sp>
      <p:sp>
        <p:nvSpPr>
          <p:cNvPr id="19" name="Shape 17"/>
          <p:cNvSpPr/>
          <p:nvPr/>
        </p:nvSpPr>
        <p:spPr>
          <a:xfrm>
            <a:off x="4736592" y="5074920"/>
            <a:ext cx="2706624" cy="868680"/>
          </a:xfrm>
          <a:prstGeom prst="roundRect">
            <a:avLst>
              <a:gd name="adj" fmla="val 9474"/>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0" name="Text 18"/>
          <p:cNvSpPr/>
          <p:nvPr/>
        </p:nvSpPr>
        <p:spPr>
          <a:xfrm>
            <a:off x="4846320" y="5184648"/>
            <a:ext cx="2487168" cy="384048"/>
          </a:xfrm>
          <a:prstGeom prst="rect">
            <a:avLst/>
          </a:prstGeom>
          <a:noFill/>
          <a:ln/>
        </p:spPr>
        <p:txBody>
          <a:bodyPr wrap="square" lIns="0" tIns="0" rIns="0" bIns="0" rtlCol="0" anchor="ctr"/>
          <a:lstStyle/>
          <a:p>
            <a:pPr marL="0" indent="0" algn="ctr">
              <a:buNone/>
            </a:pPr>
            <a:r>
              <a:rPr lang="en-US" sz="1400" b="1" dirty="0">
                <a:solidFill>
                  <a:srgbClr val="B6F500"/>
                </a:solidFill>
                <a:latin typeface="Segoe UI Semibold" pitchFamily="34" charset="0"/>
                <a:ea typeface="Segoe UI Semibold" pitchFamily="34" charset="-122"/>
                <a:cs typeface="Segoe UI Semibold" pitchFamily="34" charset="-120"/>
              </a:rPr>
              <a:t>Action &amp; Output</a:t>
            </a:r>
            <a:endParaRPr lang="en-US" sz="1400" dirty="0"/>
          </a:p>
        </p:txBody>
      </p:sp>
      <p:sp>
        <p:nvSpPr>
          <p:cNvPr id="21" name="Text 19"/>
          <p:cNvSpPr/>
          <p:nvPr/>
        </p:nvSpPr>
        <p:spPr>
          <a:xfrm>
            <a:off x="4846320" y="5532120"/>
            <a:ext cx="2487168" cy="320040"/>
          </a:xfrm>
          <a:prstGeom prst="rect">
            <a:avLst/>
          </a:prstGeom>
          <a:noFill/>
          <a:ln/>
        </p:spPr>
        <p:txBody>
          <a:bodyPr wrap="square" lIns="0" tIns="0" rIns="0" bIns="0" rtlCol="0" anchor="t"/>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executes the chosen step</a:t>
            </a:r>
            <a:endParaRPr lang="en-US" sz="1050" dirty="0"/>
          </a:p>
        </p:txBody>
      </p:sp>
      <p:sp>
        <p:nvSpPr>
          <p:cNvPr id="22" name="Text 20"/>
          <p:cNvSpPr/>
          <p:nvPr/>
        </p:nvSpPr>
        <p:spPr>
          <a:xfrm>
            <a:off x="548640" y="6080760"/>
            <a:ext cx="11091672" cy="320040"/>
          </a:xfrm>
          <a:prstGeom prst="rect">
            <a:avLst/>
          </a:prstGeom>
          <a:noFill/>
          <a:ln/>
        </p:spPr>
        <p:txBody>
          <a:bodyPr wrap="square" lIns="0" tIns="0" rIns="0" bIns="0" rtlCol="0" anchor="ctr"/>
          <a:lstStyle/>
          <a:p>
            <a:pPr marL="0" indent="0" algn="ctr">
              <a:buNone/>
            </a:pPr>
            <a:r>
              <a:rPr lang="en-US" sz="1250" i="1" dirty="0">
                <a:solidFill>
                  <a:srgbClr val="9AA6B2"/>
                </a:solidFill>
                <a:latin typeface="Segoe UI" pitchFamily="34" charset="0"/>
                <a:ea typeface="Segoe UI" pitchFamily="34" charset="-122"/>
                <a:cs typeface="Segoe UI" pitchFamily="34" charset="-120"/>
              </a:rPr>
              <a:t>The LLM is the brain; memory, tools, perception and action are the body it uses to get work done.</a:t>
            </a:r>
            <a:endParaRPr lang="en-US" sz="1250" dirty="0"/>
          </a:p>
        </p:txBody>
      </p:sp>
      <p:sp>
        <p:nvSpPr>
          <p:cNvPr id="23" name="Shape 21"/>
          <p:cNvSpPr/>
          <p:nvPr/>
        </p:nvSpPr>
        <p:spPr>
          <a:xfrm>
            <a:off x="548640" y="6437376"/>
            <a:ext cx="292608" cy="64008"/>
          </a:xfrm>
          <a:prstGeom prst="rect">
            <a:avLst/>
          </a:prstGeom>
          <a:solidFill>
            <a:srgbClr val="B6F500"/>
          </a:solidFill>
          <a:ln/>
        </p:spPr>
        <p:txBody>
          <a:bodyPr/>
          <a:lstStyle/>
          <a:p>
            <a:endParaRPr lang="en-IN"/>
          </a:p>
        </p:txBody>
      </p:sp>
      <p:sp>
        <p:nvSpPr>
          <p:cNvPr id="24" name="Text 22"/>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25" name="Text 23"/>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THE AGENT LOOP</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How AI Agents Work</a:t>
            </a:r>
            <a:endParaRPr lang="en-US" sz="3000" dirty="0"/>
          </a:p>
        </p:txBody>
      </p:sp>
      <p:sp>
        <p:nvSpPr>
          <p:cNvPr id="4" name="Shape 2"/>
          <p:cNvSpPr/>
          <p:nvPr/>
        </p:nvSpPr>
        <p:spPr>
          <a:xfrm>
            <a:off x="640080" y="2148840"/>
            <a:ext cx="1874520" cy="21031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1193292" y="2441448"/>
            <a:ext cx="768096" cy="768096"/>
          </a:xfrm>
          <a:prstGeom prst="ellipse">
            <a:avLst/>
          </a:prstGeom>
          <a:solidFill>
            <a:srgbClr val="B6F500"/>
          </a:solidFill>
          <a:ln/>
        </p:spPr>
        <p:txBody>
          <a:bodyPr/>
          <a:lstStyle/>
          <a:p>
            <a:endParaRPr lang="en-IN"/>
          </a:p>
        </p:txBody>
      </p:sp>
      <p:sp>
        <p:nvSpPr>
          <p:cNvPr id="6" name="Text 4"/>
          <p:cNvSpPr/>
          <p:nvPr/>
        </p:nvSpPr>
        <p:spPr>
          <a:xfrm>
            <a:off x="1193292" y="2441448"/>
            <a:ext cx="768096" cy="768096"/>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1</a:t>
            </a:r>
            <a:endParaRPr lang="en-US" sz="1700" dirty="0"/>
          </a:p>
        </p:txBody>
      </p:sp>
      <p:sp>
        <p:nvSpPr>
          <p:cNvPr id="7" name="Text 5"/>
          <p:cNvSpPr/>
          <p:nvPr/>
        </p:nvSpPr>
        <p:spPr>
          <a:xfrm>
            <a:off x="685800" y="3319272"/>
            <a:ext cx="1783080" cy="384048"/>
          </a:xfrm>
          <a:prstGeom prst="rect">
            <a:avLst/>
          </a:prstGeom>
          <a:noFill/>
          <a:ln/>
        </p:spPr>
        <p:txBody>
          <a:bodyPr wrap="square" lIns="0" tIns="0" rIns="0" bIns="0" rtlCol="0" anchor="ctr"/>
          <a:lstStyle/>
          <a:p>
            <a:pPr marL="0" indent="0" algn="ctr">
              <a:buNone/>
            </a:pPr>
            <a:r>
              <a:rPr lang="en-US" sz="1550" b="1" dirty="0">
                <a:solidFill>
                  <a:srgbClr val="FFFFFF"/>
                </a:solidFill>
                <a:latin typeface="Segoe UI Semibold" pitchFamily="34" charset="0"/>
                <a:ea typeface="Segoe UI Semibold" pitchFamily="34" charset="-122"/>
                <a:cs typeface="Segoe UI Semibold" pitchFamily="34" charset="-120"/>
              </a:rPr>
              <a:t>Goal</a:t>
            </a:r>
            <a:endParaRPr lang="en-US" sz="1550" dirty="0"/>
          </a:p>
        </p:txBody>
      </p:sp>
      <p:sp>
        <p:nvSpPr>
          <p:cNvPr id="8" name="Text 6"/>
          <p:cNvSpPr/>
          <p:nvPr/>
        </p:nvSpPr>
        <p:spPr>
          <a:xfrm>
            <a:off x="713232" y="3721608"/>
            <a:ext cx="1728216" cy="457200"/>
          </a:xfrm>
          <a:prstGeom prst="rect">
            <a:avLst/>
          </a:prstGeom>
          <a:noFill/>
          <a:ln/>
        </p:spPr>
        <p:txBody>
          <a:bodyPr wrap="square" lIns="0" tIns="0" rIns="0" bIns="0" rtlCol="0" anchor="ctr"/>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Receive the objective</a:t>
            </a:r>
            <a:endParaRPr lang="en-US" sz="1050" dirty="0"/>
          </a:p>
        </p:txBody>
      </p:sp>
      <p:sp>
        <p:nvSpPr>
          <p:cNvPr id="9" name="Shape 7"/>
          <p:cNvSpPr/>
          <p:nvPr/>
        </p:nvSpPr>
        <p:spPr>
          <a:xfrm>
            <a:off x="2551176" y="2825496"/>
            <a:ext cx="320040" cy="0"/>
          </a:xfrm>
          <a:prstGeom prst="line">
            <a:avLst/>
          </a:prstGeom>
          <a:noFill/>
          <a:ln w="28575">
            <a:solidFill>
              <a:srgbClr val="B6F500"/>
            </a:solidFill>
            <a:prstDash val="solid"/>
            <a:tailEnd type="triangle"/>
          </a:ln>
        </p:spPr>
        <p:txBody>
          <a:bodyPr/>
          <a:lstStyle/>
          <a:p>
            <a:endParaRPr lang="en-IN"/>
          </a:p>
        </p:txBody>
      </p:sp>
      <p:sp>
        <p:nvSpPr>
          <p:cNvPr id="10" name="Shape 8"/>
          <p:cNvSpPr/>
          <p:nvPr/>
        </p:nvSpPr>
        <p:spPr>
          <a:xfrm>
            <a:off x="2907792" y="2148840"/>
            <a:ext cx="1874520" cy="21031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1" name="Shape 9"/>
          <p:cNvSpPr/>
          <p:nvPr/>
        </p:nvSpPr>
        <p:spPr>
          <a:xfrm>
            <a:off x="3461004" y="2441448"/>
            <a:ext cx="768096" cy="768096"/>
          </a:xfrm>
          <a:prstGeom prst="ellipse">
            <a:avLst/>
          </a:prstGeom>
          <a:solidFill>
            <a:srgbClr val="B6F500"/>
          </a:solidFill>
          <a:ln/>
        </p:spPr>
        <p:txBody>
          <a:bodyPr/>
          <a:lstStyle/>
          <a:p>
            <a:endParaRPr lang="en-IN"/>
          </a:p>
        </p:txBody>
      </p:sp>
      <p:sp>
        <p:nvSpPr>
          <p:cNvPr id="12" name="Text 10"/>
          <p:cNvSpPr/>
          <p:nvPr/>
        </p:nvSpPr>
        <p:spPr>
          <a:xfrm>
            <a:off x="3461004" y="2441448"/>
            <a:ext cx="768096" cy="768096"/>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2</a:t>
            </a:r>
            <a:endParaRPr lang="en-US" sz="1700" dirty="0"/>
          </a:p>
        </p:txBody>
      </p:sp>
      <p:sp>
        <p:nvSpPr>
          <p:cNvPr id="13" name="Text 11"/>
          <p:cNvSpPr/>
          <p:nvPr/>
        </p:nvSpPr>
        <p:spPr>
          <a:xfrm>
            <a:off x="2953512" y="3319272"/>
            <a:ext cx="1783080" cy="384048"/>
          </a:xfrm>
          <a:prstGeom prst="rect">
            <a:avLst/>
          </a:prstGeom>
          <a:noFill/>
          <a:ln/>
        </p:spPr>
        <p:txBody>
          <a:bodyPr wrap="square" lIns="0" tIns="0" rIns="0" bIns="0" rtlCol="0" anchor="ctr"/>
          <a:lstStyle/>
          <a:p>
            <a:pPr marL="0" indent="0" algn="ctr">
              <a:buNone/>
            </a:pPr>
            <a:r>
              <a:rPr lang="en-US" sz="1550" b="1" dirty="0">
                <a:solidFill>
                  <a:srgbClr val="FFFFFF"/>
                </a:solidFill>
                <a:latin typeface="Segoe UI Semibold" pitchFamily="34" charset="0"/>
                <a:ea typeface="Segoe UI Semibold" pitchFamily="34" charset="-122"/>
                <a:cs typeface="Segoe UI Semibold" pitchFamily="34" charset="-120"/>
              </a:rPr>
              <a:t>Plan</a:t>
            </a:r>
            <a:endParaRPr lang="en-US" sz="1550" dirty="0"/>
          </a:p>
        </p:txBody>
      </p:sp>
      <p:sp>
        <p:nvSpPr>
          <p:cNvPr id="14" name="Text 12"/>
          <p:cNvSpPr/>
          <p:nvPr/>
        </p:nvSpPr>
        <p:spPr>
          <a:xfrm>
            <a:off x="2980944" y="3721608"/>
            <a:ext cx="1728216" cy="457200"/>
          </a:xfrm>
          <a:prstGeom prst="rect">
            <a:avLst/>
          </a:prstGeom>
          <a:noFill/>
          <a:ln/>
        </p:spPr>
        <p:txBody>
          <a:bodyPr wrap="square" lIns="0" tIns="0" rIns="0" bIns="0" rtlCol="0" anchor="ctr"/>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Decide the next step</a:t>
            </a:r>
            <a:endParaRPr lang="en-US" sz="1050" dirty="0"/>
          </a:p>
        </p:txBody>
      </p:sp>
      <p:sp>
        <p:nvSpPr>
          <p:cNvPr id="15" name="Shape 13"/>
          <p:cNvSpPr/>
          <p:nvPr/>
        </p:nvSpPr>
        <p:spPr>
          <a:xfrm>
            <a:off x="4818888" y="2825496"/>
            <a:ext cx="320040" cy="0"/>
          </a:xfrm>
          <a:prstGeom prst="line">
            <a:avLst/>
          </a:prstGeom>
          <a:noFill/>
          <a:ln w="28575">
            <a:solidFill>
              <a:srgbClr val="B6F500"/>
            </a:solidFill>
            <a:prstDash val="solid"/>
            <a:tailEnd type="triangle"/>
          </a:ln>
        </p:spPr>
        <p:txBody>
          <a:bodyPr/>
          <a:lstStyle/>
          <a:p>
            <a:endParaRPr lang="en-IN"/>
          </a:p>
        </p:txBody>
      </p:sp>
      <p:sp>
        <p:nvSpPr>
          <p:cNvPr id="16" name="Shape 14"/>
          <p:cNvSpPr/>
          <p:nvPr/>
        </p:nvSpPr>
        <p:spPr>
          <a:xfrm>
            <a:off x="5175504" y="2148840"/>
            <a:ext cx="1874520" cy="21031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Shape 15"/>
          <p:cNvSpPr/>
          <p:nvPr/>
        </p:nvSpPr>
        <p:spPr>
          <a:xfrm>
            <a:off x="5728716" y="2441448"/>
            <a:ext cx="768096" cy="768096"/>
          </a:xfrm>
          <a:prstGeom prst="ellipse">
            <a:avLst/>
          </a:prstGeom>
          <a:solidFill>
            <a:srgbClr val="B6F500"/>
          </a:solidFill>
          <a:ln/>
        </p:spPr>
        <p:txBody>
          <a:bodyPr/>
          <a:lstStyle/>
          <a:p>
            <a:endParaRPr lang="en-IN"/>
          </a:p>
        </p:txBody>
      </p:sp>
      <p:sp>
        <p:nvSpPr>
          <p:cNvPr id="18" name="Text 16"/>
          <p:cNvSpPr/>
          <p:nvPr/>
        </p:nvSpPr>
        <p:spPr>
          <a:xfrm>
            <a:off x="5728716" y="2441448"/>
            <a:ext cx="768096" cy="768096"/>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3</a:t>
            </a:r>
            <a:endParaRPr lang="en-US" sz="1700" dirty="0"/>
          </a:p>
        </p:txBody>
      </p:sp>
      <p:sp>
        <p:nvSpPr>
          <p:cNvPr id="19" name="Text 17"/>
          <p:cNvSpPr/>
          <p:nvPr/>
        </p:nvSpPr>
        <p:spPr>
          <a:xfrm>
            <a:off x="5221224" y="3319272"/>
            <a:ext cx="1783080" cy="384048"/>
          </a:xfrm>
          <a:prstGeom prst="rect">
            <a:avLst/>
          </a:prstGeom>
          <a:noFill/>
          <a:ln/>
        </p:spPr>
        <p:txBody>
          <a:bodyPr wrap="square" lIns="0" tIns="0" rIns="0" bIns="0" rtlCol="0" anchor="ctr"/>
          <a:lstStyle/>
          <a:p>
            <a:pPr marL="0" indent="0" algn="ctr">
              <a:buNone/>
            </a:pPr>
            <a:r>
              <a:rPr lang="en-US" sz="1550" b="1" dirty="0">
                <a:solidFill>
                  <a:srgbClr val="FFFFFF"/>
                </a:solidFill>
                <a:latin typeface="Segoe UI Semibold" pitchFamily="34" charset="0"/>
                <a:ea typeface="Segoe UI Semibold" pitchFamily="34" charset="-122"/>
                <a:cs typeface="Segoe UI Semibold" pitchFamily="34" charset="-120"/>
              </a:rPr>
              <a:t>Execute</a:t>
            </a:r>
            <a:endParaRPr lang="en-US" sz="1550" dirty="0"/>
          </a:p>
        </p:txBody>
      </p:sp>
      <p:sp>
        <p:nvSpPr>
          <p:cNvPr id="20" name="Text 18"/>
          <p:cNvSpPr/>
          <p:nvPr/>
        </p:nvSpPr>
        <p:spPr>
          <a:xfrm>
            <a:off x="5248656" y="3721608"/>
            <a:ext cx="1728216" cy="457200"/>
          </a:xfrm>
          <a:prstGeom prst="rect">
            <a:avLst/>
          </a:prstGeom>
          <a:noFill/>
          <a:ln/>
        </p:spPr>
        <p:txBody>
          <a:bodyPr wrap="square" lIns="0" tIns="0" rIns="0" bIns="0" rtlCol="0" anchor="ctr"/>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Act using a tool</a:t>
            </a:r>
            <a:endParaRPr lang="en-US" sz="1050" dirty="0"/>
          </a:p>
        </p:txBody>
      </p:sp>
      <p:sp>
        <p:nvSpPr>
          <p:cNvPr id="21" name="Shape 19"/>
          <p:cNvSpPr/>
          <p:nvPr/>
        </p:nvSpPr>
        <p:spPr>
          <a:xfrm>
            <a:off x="7086600" y="2825496"/>
            <a:ext cx="320040" cy="0"/>
          </a:xfrm>
          <a:prstGeom prst="line">
            <a:avLst/>
          </a:prstGeom>
          <a:noFill/>
          <a:ln w="28575">
            <a:solidFill>
              <a:srgbClr val="B6F500"/>
            </a:solidFill>
            <a:prstDash val="solid"/>
            <a:tailEnd type="triangle"/>
          </a:ln>
        </p:spPr>
        <p:txBody>
          <a:bodyPr/>
          <a:lstStyle/>
          <a:p>
            <a:endParaRPr lang="en-IN"/>
          </a:p>
        </p:txBody>
      </p:sp>
      <p:sp>
        <p:nvSpPr>
          <p:cNvPr id="22" name="Shape 20"/>
          <p:cNvSpPr/>
          <p:nvPr/>
        </p:nvSpPr>
        <p:spPr>
          <a:xfrm>
            <a:off x="7443216" y="2148840"/>
            <a:ext cx="1874520" cy="2103120"/>
          </a:xfrm>
          <a:prstGeom prst="roundRect">
            <a:avLst>
              <a:gd name="adj" fmla="val 439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3" name="Shape 21"/>
          <p:cNvSpPr/>
          <p:nvPr/>
        </p:nvSpPr>
        <p:spPr>
          <a:xfrm>
            <a:off x="7996428" y="2441448"/>
            <a:ext cx="768096" cy="768096"/>
          </a:xfrm>
          <a:prstGeom prst="ellipse">
            <a:avLst/>
          </a:prstGeom>
          <a:solidFill>
            <a:srgbClr val="B6F500"/>
          </a:solidFill>
          <a:ln/>
        </p:spPr>
        <p:txBody>
          <a:bodyPr/>
          <a:lstStyle/>
          <a:p>
            <a:endParaRPr lang="en-IN"/>
          </a:p>
        </p:txBody>
      </p:sp>
      <p:sp>
        <p:nvSpPr>
          <p:cNvPr id="24" name="Text 22"/>
          <p:cNvSpPr/>
          <p:nvPr/>
        </p:nvSpPr>
        <p:spPr>
          <a:xfrm>
            <a:off x="7996428" y="2441448"/>
            <a:ext cx="768096" cy="768096"/>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4</a:t>
            </a:r>
            <a:endParaRPr lang="en-US" sz="1700" dirty="0"/>
          </a:p>
        </p:txBody>
      </p:sp>
      <p:sp>
        <p:nvSpPr>
          <p:cNvPr id="25" name="Text 23"/>
          <p:cNvSpPr/>
          <p:nvPr/>
        </p:nvSpPr>
        <p:spPr>
          <a:xfrm>
            <a:off x="7488936" y="3319272"/>
            <a:ext cx="1783080" cy="384048"/>
          </a:xfrm>
          <a:prstGeom prst="rect">
            <a:avLst/>
          </a:prstGeom>
          <a:noFill/>
          <a:ln/>
        </p:spPr>
        <p:txBody>
          <a:bodyPr wrap="square" lIns="0" tIns="0" rIns="0" bIns="0" rtlCol="0" anchor="ctr"/>
          <a:lstStyle/>
          <a:p>
            <a:pPr marL="0" indent="0" algn="ctr">
              <a:buNone/>
            </a:pPr>
            <a:r>
              <a:rPr lang="en-US" sz="1550" b="1" dirty="0">
                <a:solidFill>
                  <a:srgbClr val="FFFFFF"/>
                </a:solidFill>
                <a:latin typeface="Segoe UI Semibold" pitchFamily="34" charset="0"/>
                <a:ea typeface="Segoe UI Semibold" pitchFamily="34" charset="-122"/>
                <a:cs typeface="Segoe UI Semibold" pitchFamily="34" charset="-120"/>
              </a:rPr>
              <a:t>Observe</a:t>
            </a:r>
            <a:endParaRPr lang="en-US" sz="1550" dirty="0"/>
          </a:p>
        </p:txBody>
      </p:sp>
      <p:sp>
        <p:nvSpPr>
          <p:cNvPr id="26" name="Text 24"/>
          <p:cNvSpPr/>
          <p:nvPr/>
        </p:nvSpPr>
        <p:spPr>
          <a:xfrm>
            <a:off x="7516368" y="3721608"/>
            <a:ext cx="1728216" cy="457200"/>
          </a:xfrm>
          <a:prstGeom prst="rect">
            <a:avLst/>
          </a:prstGeom>
          <a:noFill/>
          <a:ln/>
        </p:spPr>
        <p:txBody>
          <a:bodyPr wrap="square" lIns="0" tIns="0" rIns="0" bIns="0" rtlCol="0" anchor="ctr"/>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Read the result</a:t>
            </a:r>
            <a:endParaRPr lang="en-US" sz="1050" dirty="0"/>
          </a:p>
        </p:txBody>
      </p:sp>
      <p:sp>
        <p:nvSpPr>
          <p:cNvPr id="27" name="Shape 25"/>
          <p:cNvSpPr/>
          <p:nvPr/>
        </p:nvSpPr>
        <p:spPr>
          <a:xfrm>
            <a:off x="9354312" y="2825496"/>
            <a:ext cx="320040" cy="0"/>
          </a:xfrm>
          <a:prstGeom prst="line">
            <a:avLst/>
          </a:prstGeom>
          <a:noFill/>
          <a:ln w="28575">
            <a:solidFill>
              <a:srgbClr val="B6F500"/>
            </a:solidFill>
            <a:prstDash val="solid"/>
            <a:tailEnd type="triangle"/>
          </a:ln>
        </p:spPr>
        <p:txBody>
          <a:bodyPr/>
          <a:lstStyle/>
          <a:p>
            <a:endParaRPr lang="en-IN"/>
          </a:p>
        </p:txBody>
      </p:sp>
      <p:sp>
        <p:nvSpPr>
          <p:cNvPr id="28" name="Shape 26"/>
          <p:cNvSpPr/>
          <p:nvPr/>
        </p:nvSpPr>
        <p:spPr>
          <a:xfrm>
            <a:off x="9710928" y="2148840"/>
            <a:ext cx="1874520" cy="2103120"/>
          </a:xfrm>
          <a:prstGeom prst="roundRect">
            <a:avLst>
              <a:gd name="adj" fmla="val 4390"/>
            </a:avLst>
          </a:prstGeom>
          <a:solidFill>
            <a:srgbClr val="1E2127"/>
          </a:solidFill>
          <a:ln w="12700">
            <a:solidFill>
              <a:srgbClr val="B6F500"/>
            </a:solidFill>
            <a:prstDash val="solid"/>
          </a:ln>
          <a:effectLst>
            <a:outerShdw blurRad="114300" dist="38100" dir="5400000" algn="bl" rotWithShape="0">
              <a:srgbClr val="000000">
                <a:alpha val="35000"/>
              </a:srgbClr>
            </a:outerShdw>
          </a:effectLst>
        </p:spPr>
        <p:txBody>
          <a:bodyPr/>
          <a:lstStyle/>
          <a:p>
            <a:endParaRPr lang="en-IN"/>
          </a:p>
        </p:txBody>
      </p:sp>
      <p:sp>
        <p:nvSpPr>
          <p:cNvPr id="29" name="Shape 27"/>
          <p:cNvSpPr/>
          <p:nvPr/>
        </p:nvSpPr>
        <p:spPr>
          <a:xfrm>
            <a:off x="10264140" y="2441448"/>
            <a:ext cx="768096" cy="768096"/>
          </a:xfrm>
          <a:prstGeom prst="ellipse">
            <a:avLst/>
          </a:prstGeom>
          <a:solidFill>
            <a:srgbClr val="B6F500"/>
          </a:solidFill>
          <a:ln/>
        </p:spPr>
        <p:txBody>
          <a:bodyPr/>
          <a:lstStyle/>
          <a:p>
            <a:endParaRPr lang="en-IN"/>
          </a:p>
        </p:txBody>
      </p:sp>
      <p:sp>
        <p:nvSpPr>
          <p:cNvPr id="30" name="Text 28"/>
          <p:cNvSpPr/>
          <p:nvPr/>
        </p:nvSpPr>
        <p:spPr>
          <a:xfrm>
            <a:off x="10264140" y="2441448"/>
            <a:ext cx="768096" cy="768096"/>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5</a:t>
            </a:r>
            <a:endParaRPr lang="en-US" sz="1700" dirty="0"/>
          </a:p>
        </p:txBody>
      </p:sp>
      <p:sp>
        <p:nvSpPr>
          <p:cNvPr id="31" name="Text 29"/>
          <p:cNvSpPr/>
          <p:nvPr/>
        </p:nvSpPr>
        <p:spPr>
          <a:xfrm>
            <a:off x="9756648" y="3319272"/>
            <a:ext cx="1783080" cy="384048"/>
          </a:xfrm>
          <a:prstGeom prst="rect">
            <a:avLst/>
          </a:prstGeom>
          <a:noFill/>
          <a:ln/>
        </p:spPr>
        <p:txBody>
          <a:bodyPr wrap="square" lIns="0" tIns="0" rIns="0" bIns="0" rtlCol="0" anchor="ctr"/>
          <a:lstStyle/>
          <a:p>
            <a:pPr marL="0" indent="0" algn="ctr">
              <a:buNone/>
            </a:pPr>
            <a:r>
              <a:rPr lang="en-US" sz="1550" b="1" dirty="0">
                <a:solidFill>
                  <a:srgbClr val="B6F500"/>
                </a:solidFill>
                <a:latin typeface="Segoe UI Semibold" pitchFamily="34" charset="0"/>
                <a:ea typeface="Segoe UI Semibold" pitchFamily="34" charset="-122"/>
                <a:cs typeface="Segoe UI Semibold" pitchFamily="34" charset="-120"/>
              </a:rPr>
              <a:t>Improve</a:t>
            </a:r>
            <a:endParaRPr lang="en-US" sz="1550" dirty="0"/>
          </a:p>
        </p:txBody>
      </p:sp>
      <p:sp>
        <p:nvSpPr>
          <p:cNvPr id="32" name="Text 30"/>
          <p:cNvSpPr/>
          <p:nvPr/>
        </p:nvSpPr>
        <p:spPr>
          <a:xfrm>
            <a:off x="9784080" y="3721608"/>
            <a:ext cx="1728216" cy="457200"/>
          </a:xfrm>
          <a:prstGeom prst="rect">
            <a:avLst/>
          </a:prstGeom>
          <a:noFill/>
          <a:ln/>
        </p:spPr>
        <p:txBody>
          <a:bodyPr wrap="square" lIns="0" tIns="0" rIns="0" bIns="0" rtlCol="0" anchor="ctr"/>
          <a:lstStyle/>
          <a:p>
            <a:pPr marL="0" indent="0" algn="ctr">
              <a:lnSpc>
                <a:spcPts val="1300"/>
              </a:lnSpc>
              <a:buNone/>
            </a:pPr>
            <a:r>
              <a:rPr lang="en-US" sz="1050" dirty="0">
                <a:solidFill>
                  <a:srgbClr val="C9D1DA"/>
                </a:solidFill>
                <a:latin typeface="Segoe UI" pitchFamily="34" charset="0"/>
                <a:ea typeface="Segoe UI" pitchFamily="34" charset="-122"/>
                <a:cs typeface="Segoe UI" pitchFamily="34" charset="-120"/>
              </a:rPr>
              <a:t>Adjust &amp; retry</a:t>
            </a:r>
            <a:endParaRPr lang="en-US" sz="1050" dirty="0"/>
          </a:p>
        </p:txBody>
      </p:sp>
      <p:sp>
        <p:nvSpPr>
          <p:cNvPr id="33" name="Shape 31"/>
          <p:cNvSpPr/>
          <p:nvPr/>
        </p:nvSpPr>
        <p:spPr>
          <a:xfrm>
            <a:off x="1577340" y="4754880"/>
            <a:ext cx="9070848" cy="0"/>
          </a:xfrm>
          <a:prstGeom prst="line">
            <a:avLst/>
          </a:prstGeom>
          <a:noFill/>
          <a:ln w="25400">
            <a:solidFill>
              <a:srgbClr val="8FBF00"/>
            </a:solidFill>
            <a:prstDash val="dash"/>
            <a:headEnd type="triangle"/>
          </a:ln>
        </p:spPr>
        <p:txBody>
          <a:bodyPr/>
          <a:lstStyle/>
          <a:p>
            <a:endParaRPr lang="en-IN"/>
          </a:p>
        </p:txBody>
      </p:sp>
      <p:sp>
        <p:nvSpPr>
          <p:cNvPr id="34" name="Text 32"/>
          <p:cNvSpPr/>
          <p:nvPr/>
        </p:nvSpPr>
        <p:spPr>
          <a:xfrm>
            <a:off x="640080" y="4818888"/>
            <a:ext cx="11000232" cy="365760"/>
          </a:xfrm>
          <a:prstGeom prst="rect">
            <a:avLst/>
          </a:prstGeom>
          <a:noFill/>
          <a:ln/>
        </p:spPr>
        <p:txBody>
          <a:bodyPr wrap="square" lIns="0" tIns="0" rIns="0" bIns="0" rtlCol="0" anchor="ctr"/>
          <a:lstStyle/>
          <a:p>
            <a:pPr marL="0" indent="0" algn="ctr">
              <a:buNone/>
            </a:pPr>
            <a:r>
              <a:rPr lang="en-US" sz="1250" b="1" dirty="0">
                <a:solidFill>
                  <a:srgbClr val="B6F500"/>
                </a:solidFill>
                <a:latin typeface="Segoe UI Semibold" pitchFamily="34" charset="0"/>
                <a:ea typeface="Segoe UI Semibold" pitchFamily="34" charset="-122"/>
                <a:cs typeface="Segoe UI Semibold" pitchFamily="34" charset="-120"/>
              </a:rPr>
              <a:t>Repeat the loop until the goal is met</a:t>
            </a:r>
            <a:endParaRPr lang="en-US" sz="1250" dirty="0"/>
          </a:p>
        </p:txBody>
      </p:sp>
      <p:sp>
        <p:nvSpPr>
          <p:cNvPr id="35" name="Shape 33"/>
          <p:cNvSpPr/>
          <p:nvPr/>
        </p:nvSpPr>
        <p:spPr>
          <a:xfrm>
            <a:off x="548640" y="6437376"/>
            <a:ext cx="292608" cy="64008"/>
          </a:xfrm>
          <a:prstGeom prst="rect">
            <a:avLst/>
          </a:prstGeom>
          <a:solidFill>
            <a:srgbClr val="B6F500"/>
          </a:solidFill>
          <a:ln/>
        </p:spPr>
        <p:txBody>
          <a:bodyPr/>
          <a:lstStyle/>
          <a:p>
            <a:endParaRPr lang="en-IN"/>
          </a:p>
        </p:txBody>
      </p:sp>
      <p:sp>
        <p:nvSpPr>
          <p:cNvPr id="36" name="Text 34"/>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7" name="Text 35"/>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SYSTEM DESIGN</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Single-Agent vs Multi-Agent Systems</a:t>
            </a:r>
            <a:endParaRPr lang="en-US" sz="3000" dirty="0"/>
          </a:p>
        </p:txBody>
      </p:sp>
      <p:sp>
        <p:nvSpPr>
          <p:cNvPr id="4" name="Shape 2"/>
          <p:cNvSpPr/>
          <p:nvPr/>
        </p:nvSpPr>
        <p:spPr>
          <a:xfrm>
            <a:off x="548640" y="1783080"/>
            <a:ext cx="5394960" cy="3154680"/>
          </a:xfrm>
          <a:prstGeom prst="roundRect">
            <a:avLst>
              <a:gd name="adj" fmla="val 2609"/>
            </a:avLst>
          </a:prstGeom>
          <a:solidFill>
            <a:srgbClr val="1E2127"/>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Text 3"/>
          <p:cNvSpPr/>
          <p:nvPr/>
        </p:nvSpPr>
        <p:spPr>
          <a:xfrm>
            <a:off x="868680" y="1965960"/>
            <a:ext cx="4754880" cy="411480"/>
          </a:xfrm>
          <a:prstGeom prst="rect">
            <a:avLst/>
          </a:prstGeom>
          <a:noFill/>
          <a:ln/>
        </p:spPr>
        <p:txBody>
          <a:bodyPr wrap="square" lIns="0" tIns="0" rIns="0" bIns="0" rtlCol="0" anchor="ctr"/>
          <a:lstStyle/>
          <a:p>
            <a:pPr marL="0" indent="0">
              <a:buNone/>
            </a:pPr>
            <a:r>
              <a:rPr lang="en-US" sz="1800" b="1" dirty="0">
                <a:solidFill>
                  <a:srgbClr val="FFFFFF"/>
                </a:solidFill>
                <a:latin typeface="Segoe UI Semibold" pitchFamily="34" charset="0"/>
                <a:ea typeface="Segoe UI Semibold" pitchFamily="34" charset="-122"/>
                <a:cs typeface="Segoe UI Semibold" pitchFamily="34" charset="-120"/>
              </a:rPr>
              <a:t>Single-Agent</a:t>
            </a:r>
            <a:endParaRPr lang="en-US" sz="1800" dirty="0"/>
          </a:p>
        </p:txBody>
      </p:sp>
      <p:sp>
        <p:nvSpPr>
          <p:cNvPr id="6" name="Text 4"/>
          <p:cNvSpPr/>
          <p:nvPr/>
        </p:nvSpPr>
        <p:spPr>
          <a:xfrm>
            <a:off x="868680" y="2386584"/>
            <a:ext cx="4754880" cy="292608"/>
          </a:xfrm>
          <a:prstGeom prst="rect">
            <a:avLst/>
          </a:prstGeom>
          <a:noFill/>
          <a:ln/>
        </p:spPr>
        <p:txBody>
          <a:bodyPr wrap="square" lIns="0" tIns="0" rIns="0" bIns="0" rtlCol="0" anchor="ctr"/>
          <a:lstStyle/>
          <a:p>
            <a:pPr marL="0" indent="0">
              <a:buNone/>
            </a:pPr>
            <a:r>
              <a:rPr lang="en-US" sz="1150" dirty="0">
                <a:solidFill>
                  <a:srgbClr val="9AA6B2"/>
                </a:solidFill>
                <a:latin typeface="Segoe UI" pitchFamily="34" charset="0"/>
                <a:ea typeface="Segoe UI" pitchFamily="34" charset="-122"/>
                <a:cs typeface="Segoe UI" pitchFamily="34" charset="-120"/>
              </a:rPr>
              <a:t>One agent owns the whole job</a:t>
            </a:r>
            <a:endParaRPr lang="en-US" sz="1150" dirty="0"/>
          </a:p>
        </p:txBody>
      </p:sp>
      <p:sp>
        <p:nvSpPr>
          <p:cNvPr id="7" name="Shape 5"/>
          <p:cNvSpPr/>
          <p:nvPr/>
        </p:nvSpPr>
        <p:spPr>
          <a:xfrm>
            <a:off x="914400" y="2834640"/>
            <a:ext cx="822960" cy="822960"/>
          </a:xfrm>
          <a:prstGeom prst="ellipse">
            <a:avLst/>
          </a:prstGeom>
          <a:solidFill>
            <a:srgbClr val="B6F500"/>
          </a:solidFill>
          <a:ln/>
        </p:spPr>
        <p:txBody>
          <a:bodyPr/>
          <a:lstStyle/>
          <a:p>
            <a:endParaRPr lang="en-IN"/>
          </a:p>
        </p:txBody>
      </p:sp>
      <p:sp>
        <p:nvSpPr>
          <p:cNvPr id="8" name="Text 6"/>
          <p:cNvSpPr/>
          <p:nvPr/>
        </p:nvSpPr>
        <p:spPr>
          <a:xfrm>
            <a:off x="914400" y="2834640"/>
            <a:ext cx="822960" cy="822960"/>
          </a:xfrm>
          <a:prstGeom prst="rect">
            <a:avLst/>
          </a:prstGeom>
          <a:noFill/>
          <a:ln/>
        </p:spPr>
        <p:txBody>
          <a:bodyPr wrap="square" lIns="0" tIns="0" rIns="0" bIns="0" rtlCol="0" anchor="ctr"/>
          <a:lstStyle/>
          <a:p>
            <a:pPr marL="0" indent="0" algn="ctr">
              <a:buNone/>
            </a:pPr>
            <a:r>
              <a:rPr lang="en-US" sz="1500" b="1" dirty="0">
                <a:solidFill>
                  <a:srgbClr val="0F1012"/>
                </a:solidFill>
                <a:latin typeface="Segoe UI Semibold" pitchFamily="34" charset="0"/>
                <a:ea typeface="Segoe UI Semibold" pitchFamily="34" charset="-122"/>
                <a:cs typeface="Segoe UI Semibold" pitchFamily="34" charset="-120"/>
              </a:rPr>
              <a:t>AI</a:t>
            </a:r>
            <a:endParaRPr lang="en-US" sz="1500" dirty="0"/>
          </a:p>
        </p:txBody>
      </p:sp>
      <p:sp>
        <p:nvSpPr>
          <p:cNvPr id="9" name="Shape 7"/>
          <p:cNvSpPr/>
          <p:nvPr/>
        </p:nvSpPr>
        <p:spPr>
          <a:xfrm>
            <a:off x="1755648" y="3246120"/>
            <a:ext cx="310896" cy="0"/>
          </a:xfrm>
          <a:prstGeom prst="line">
            <a:avLst/>
          </a:prstGeom>
          <a:noFill/>
          <a:ln w="22225">
            <a:solidFill>
              <a:srgbClr val="B6F500"/>
            </a:solidFill>
            <a:prstDash val="solid"/>
            <a:tailEnd type="triangle"/>
          </a:ln>
        </p:spPr>
        <p:txBody>
          <a:bodyPr/>
          <a:lstStyle/>
          <a:p>
            <a:endParaRPr lang="en-IN"/>
          </a:p>
        </p:txBody>
      </p:sp>
      <p:sp>
        <p:nvSpPr>
          <p:cNvPr id="10" name="Shape 8"/>
          <p:cNvSpPr/>
          <p:nvPr/>
        </p:nvSpPr>
        <p:spPr>
          <a:xfrm>
            <a:off x="2121408"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11" name="Text 9"/>
          <p:cNvSpPr/>
          <p:nvPr/>
        </p:nvSpPr>
        <p:spPr>
          <a:xfrm>
            <a:off x="2121408" y="2926080"/>
            <a:ext cx="1051560" cy="640080"/>
          </a:xfrm>
          <a:prstGeom prst="rect">
            <a:avLst/>
          </a:prstGeom>
          <a:noFill/>
          <a:ln/>
        </p:spPr>
        <p:txBody>
          <a:bodyPr wrap="square" lIns="0" tIns="0" rIns="0" bIns="0" rtlCol="0" anchor="ctr"/>
          <a:lstStyle/>
          <a:p>
            <a:pPr marL="0" indent="0" algn="ctr">
              <a:buNone/>
            </a:pPr>
            <a:r>
              <a:rPr lang="en-US" sz="1000" dirty="0">
                <a:solidFill>
                  <a:srgbClr val="C9D1DA"/>
                </a:solidFill>
                <a:latin typeface="Segoe UI" pitchFamily="34" charset="0"/>
                <a:ea typeface="Segoe UI" pitchFamily="34" charset="-122"/>
                <a:cs typeface="Segoe UI" pitchFamily="34" charset="-120"/>
              </a:rPr>
              <a:t>Tools</a:t>
            </a:r>
            <a:endParaRPr lang="en-US" sz="1000" dirty="0"/>
          </a:p>
        </p:txBody>
      </p:sp>
      <p:sp>
        <p:nvSpPr>
          <p:cNvPr id="12" name="Shape 10"/>
          <p:cNvSpPr/>
          <p:nvPr/>
        </p:nvSpPr>
        <p:spPr>
          <a:xfrm>
            <a:off x="3282696"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13" name="Text 11"/>
          <p:cNvSpPr/>
          <p:nvPr/>
        </p:nvSpPr>
        <p:spPr>
          <a:xfrm>
            <a:off x="3282696" y="2926080"/>
            <a:ext cx="1051560" cy="640080"/>
          </a:xfrm>
          <a:prstGeom prst="rect">
            <a:avLst/>
          </a:prstGeom>
          <a:noFill/>
          <a:ln/>
        </p:spPr>
        <p:txBody>
          <a:bodyPr wrap="square" lIns="0" tIns="0" rIns="0" bIns="0" rtlCol="0" anchor="ctr"/>
          <a:lstStyle/>
          <a:p>
            <a:pPr marL="0" indent="0" algn="ctr">
              <a:buNone/>
            </a:pPr>
            <a:r>
              <a:rPr lang="en-US" sz="1000" dirty="0">
                <a:solidFill>
                  <a:srgbClr val="C9D1DA"/>
                </a:solidFill>
                <a:latin typeface="Segoe UI" pitchFamily="34" charset="0"/>
                <a:ea typeface="Segoe UI" pitchFamily="34" charset="-122"/>
                <a:cs typeface="Segoe UI" pitchFamily="34" charset="-120"/>
              </a:rPr>
              <a:t>Memory</a:t>
            </a:r>
            <a:endParaRPr lang="en-US" sz="1000" dirty="0"/>
          </a:p>
        </p:txBody>
      </p:sp>
      <p:sp>
        <p:nvSpPr>
          <p:cNvPr id="14" name="Shape 12"/>
          <p:cNvSpPr/>
          <p:nvPr/>
        </p:nvSpPr>
        <p:spPr>
          <a:xfrm>
            <a:off x="4443984"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15" name="Text 13"/>
          <p:cNvSpPr/>
          <p:nvPr/>
        </p:nvSpPr>
        <p:spPr>
          <a:xfrm>
            <a:off x="4443984" y="2926080"/>
            <a:ext cx="1051560" cy="640080"/>
          </a:xfrm>
          <a:prstGeom prst="rect">
            <a:avLst/>
          </a:prstGeom>
          <a:noFill/>
          <a:ln/>
        </p:spPr>
        <p:txBody>
          <a:bodyPr wrap="square" lIns="0" tIns="0" rIns="0" bIns="0" rtlCol="0" anchor="ctr"/>
          <a:lstStyle/>
          <a:p>
            <a:pPr marL="0" indent="0" algn="ctr">
              <a:buNone/>
            </a:pPr>
            <a:r>
              <a:rPr lang="en-US" sz="1000" dirty="0">
                <a:solidFill>
                  <a:srgbClr val="C9D1DA"/>
                </a:solidFill>
                <a:latin typeface="Segoe UI" pitchFamily="34" charset="0"/>
                <a:ea typeface="Segoe UI" pitchFamily="34" charset="-122"/>
                <a:cs typeface="Segoe UI" pitchFamily="34" charset="-120"/>
              </a:rPr>
              <a:t>Output</a:t>
            </a:r>
            <a:endParaRPr lang="en-US" sz="1000" dirty="0"/>
          </a:p>
        </p:txBody>
      </p:sp>
      <p:sp>
        <p:nvSpPr>
          <p:cNvPr id="16" name="Text 14"/>
          <p:cNvSpPr/>
          <p:nvPr/>
        </p:nvSpPr>
        <p:spPr>
          <a:xfrm>
            <a:off x="868680" y="4178808"/>
            <a:ext cx="4754880" cy="640080"/>
          </a:xfrm>
          <a:prstGeom prst="rect">
            <a:avLst/>
          </a:prstGeom>
          <a:noFill/>
          <a:ln/>
        </p:spPr>
        <p:txBody>
          <a:bodyPr wrap="square" lIns="0" tIns="0" rIns="0" bIns="0" rtlCol="0" anchor="t"/>
          <a:lstStyle/>
          <a:p>
            <a:pPr marL="177800" indent="-177800">
              <a:lnSpc>
                <a:spcPts val="1800"/>
              </a:lnSpc>
              <a:buSzPct val="100000"/>
              <a:buChar char="+"/>
            </a:pPr>
            <a:r>
              <a:rPr lang="en-US" sz="1150" dirty="0">
                <a:solidFill>
                  <a:srgbClr val="C9D1DA"/>
                </a:solidFill>
                <a:latin typeface="Segoe UI" pitchFamily="34" charset="0"/>
                <a:ea typeface="Segoe UI" pitchFamily="34" charset="-122"/>
                <a:cs typeface="Segoe UI" pitchFamily="34" charset="-120"/>
              </a:rPr>
              <a:t>Simpler, cheaper, predictable, easy to debug</a:t>
            </a:r>
            <a:endParaRPr lang="en-US" sz="1150" dirty="0"/>
          </a:p>
          <a:p>
            <a:pPr marL="177800" indent="-177800">
              <a:lnSpc>
                <a:spcPts val="1800"/>
              </a:lnSpc>
              <a:buSzPct val="100000"/>
              <a:buChar char="–"/>
            </a:pPr>
            <a:r>
              <a:rPr lang="en-US" sz="1150" dirty="0">
                <a:solidFill>
                  <a:srgbClr val="9AA6B2"/>
                </a:solidFill>
                <a:latin typeface="Segoe UI" pitchFamily="34" charset="0"/>
                <a:ea typeface="Segoe UI" pitchFamily="34" charset="-122"/>
                <a:cs typeface="Segoe UI" pitchFamily="34" charset="-120"/>
              </a:rPr>
              <a:t>Struggles with broad, multi-skill tasks</a:t>
            </a:r>
            <a:endParaRPr lang="en-US" sz="1150" dirty="0"/>
          </a:p>
        </p:txBody>
      </p:sp>
      <p:sp>
        <p:nvSpPr>
          <p:cNvPr id="17" name="Shape 15"/>
          <p:cNvSpPr/>
          <p:nvPr/>
        </p:nvSpPr>
        <p:spPr>
          <a:xfrm>
            <a:off x="6245352" y="1783080"/>
            <a:ext cx="5394960" cy="3154680"/>
          </a:xfrm>
          <a:prstGeom prst="roundRect">
            <a:avLst>
              <a:gd name="adj" fmla="val 2609"/>
            </a:avLst>
          </a:prstGeom>
          <a:solidFill>
            <a:srgbClr val="1E2127"/>
          </a:solidFill>
          <a:ln w="12700">
            <a:solidFill>
              <a:srgbClr val="B6F500"/>
            </a:solidFill>
            <a:prstDash val="solid"/>
          </a:ln>
          <a:effectLst>
            <a:outerShdw blurRad="114300" dist="38100" dir="5400000" algn="bl" rotWithShape="0">
              <a:srgbClr val="000000">
                <a:alpha val="35000"/>
              </a:srgbClr>
            </a:outerShdw>
          </a:effectLst>
        </p:spPr>
        <p:txBody>
          <a:bodyPr/>
          <a:lstStyle/>
          <a:p>
            <a:endParaRPr lang="en-IN"/>
          </a:p>
        </p:txBody>
      </p:sp>
      <p:sp>
        <p:nvSpPr>
          <p:cNvPr id="18" name="Text 16"/>
          <p:cNvSpPr/>
          <p:nvPr/>
        </p:nvSpPr>
        <p:spPr>
          <a:xfrm>
            <a:off x="6565392" y="1965960"/>
            <a:ext cx="4754880" cy="411480"/>
          </a:xfrm>
          <a:prstGeom prst="rect">
            <a:avLst/>
          </a:prstGeom>
          <a:noFill/>
          <a:ln/>
        </p:spPr>
        <p:txBody>
          <a:bodyPr wrap="square" lIns="0" tIns="0" rIns="0" bIns="0" rtlCol="0" anchor="ctr"/>
          <a:lstStyle/>
          <a:p>
            <a:pPr marL="0" indent="0">
              <a:buNone/>
            </a:pPr>
            <a:r>
              <a:rPr lang="en-US" sz="1800" b="1" dirty="0">
                <a:solidFill>
                  <a:srgbClr val="B6F500"/>
                </a:solidFill>
                <a:latin typeface="Segoe UI Semibold" pitchFamily="34" charset="0"/>
                <a:ea typeface="Segoe UI Semibold" pitchFamily="34" charset="-122"/>
                <a:cs typeface="Segoe UI Semibold" pitchFamily="34" charset="-120"/>
              </a:rPr>
              <a:t>Multi-Agent</a:t>
            </a:r>
            <a:endParaRPr lang="en-US" sz="1800" dirty="0"/>
          </a:p>
        </p:txBody>
      </p:sp>
      <p:sp>
        <p:nvSpPr>
          <p:cNvPr id="19" name="Text 17"/>
          <p:cNvSpPr/>
          <p:nvPr/>
        </p:nvSpPr>
        <p:spPr>
          <a:xfrm>
            <a:off x="6565392" y="2386584"/>
            <a:ext cx="4754880" cy="292608"/>
          </a:xfrm>
          <a:prstGeom prst="rect">
            <a:avLst/>
          </a:prstGeom>
          <a:noFill/>
          <a:ln/>
        </p:spPr>
        <p:txBody>
          <a:bodyPr wrap="square" lIns="0" tIns="0" rIns="0" bIns="0" rtlCol="0" anchor="ctr"/>
          <a:lstStyle/>
          <a:p>
            <a:pPr marL="0" indent="0">
              <a:buNone/>
            </a:pPr>
            <a:r>
              <a:rPr lang="en-US" sz="1150" dirty="0">
                <a:solidFill>
                  <a:srgbClr val="9AA6B2"/>
                </a:solidFill>
                <a:latin typeface="Segoe UI" pitchFamily="34" charset="0"/>
                <a:ea typeface="Segoe UI" pitchFamily="34" charset="-122"/>
                <a:cs typeface="Segoe UI" pitchFamily="34" charset="-120"/>
              </a:rPr>
              <a:t>A team of specialists with an orchestrator</a:t>
            </a:r>
            <a:endParaRPr lang="en-US" sz="1150" dirty="0"/>
          </a:p>
        </p:txBody>
      </p:sp>
      <p:sp>
        <p:nvSpPr>
          <p:cNvPr id="20" name="Shape 18"/>
          <p:cNvSpPr/>
          <p:nvPr/>
        </p:nvSpPr>
        <p:spPr>
          <a:xfrm>
            <a:off x="6611112" y="2834640"/>
            <a:ext cx="822960" cy="822960"/>
          </a:xfrm>
          <a:prstGeom prst="ellipse">
            <a:avLst/>
          </a:prstGeom>
          <a:solidFill>
            <a:srgbClr val="B6F500"/>
          </a:solidFill>
          <a:ln/>
        </p:spPr>
        <p:txBody>
          <a:bodyPr/>
          <a:lstStyle/>
          <a:p>
            <a:endParaRPr lang="en-IN"/>
          </a:p>
        </p:txBody>
      </p:sp>
      <p:sp>
        <p:nvSpPr>
          <p:cNvPr id="21" name="Text 19"/>
          <p:cNvSpPr/>
          <p:nvPr/>
        </p:nvSpPr>
        <p:spPr>
          <a:xfrm>
            <a:off x="6611112" y="2834640"/>
            <a:ext cx="822960" cy="822960"/>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Lead</a:t>
            </a:r>
            <a:endParaRPr lang="en-US" sz="1200" dirty="0"/>
          </a:p>
        </p:txBody>
      </p:sp>
      <p:sp>
        <p:nvSpPr>
          <p:cNvPr id="22" name="Shape 20"/>
          <p:cNvSpPr/>
          <p:nvPr/>
        </p:nvSpPr>
        <p:spPr>
          <a:xfrm>
            <a:off x="7452360" y="3246120"/>
            <a:ext cx="310896" cy="0"/>
          </a:xfrm>
          <a:prstGeom prst="line">
            <a:avLst/>
          </a:prstGeom>
          <a:noFill/>
          <a:ln w="22225">
            <a:solidFill>
              <a:srgbClr val="B6F500"/>
            </a:solidFill>
            <a:prstDash val="solid"/>
            <a:tailEnd type="triangle"/>
          </a:ln>
        </p:spPr>
        <p:txBody>
          <a:bodyPr/>
          <a:lstStyle/>
          <a:p>
            <a:endParaRPr lang="en-IN"/>
          </a:p>
        </p:txBody>
      </p:sp>
      <p:sp>
        <p:nvSpPr>
          <p:cNvPr id="23" name="Shape 21"/>
          <p:cNvSpPr/>
          <p:nvPr/>
        </p:nvSpPr>
        <p:spPr>
          <a:xfrm>
            <a:off x="7818120"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24" name="Text 22"/>
          <p:cNvSpPr/>
          <p:nvPr/>
        </p:nvSpPr>
        <p:spPr>
          <a:xfrm>
            <a:off x="7818120" y="2926080"/>
            <a:ext cx="1051560" cy="640080"/>
          </a:xfrm>
          <a:prstGeom prst="rect">
            <a:avLst/>
          </a:prstGeom>
          <a:noFill/>
          <a:ln/>
        </p:spPr>
        <p:txBody>
          <a:bodyPr wrap="square" lIns="0" tIns="0" rIns="0" bIns="0" rtlCol="0" anchor="ctr"/>
          <a:lstStyle/>
          <a:p>
            <a:pPr marL="0" indent="0" algn="ctr">
              <a:buNone/>
            </a:pPr>
            <a:r>
              <a:rPr lang="en-US" sz="950" dirty="0">
                <a:solidFill>
                  <a:srgbClr val="C9D1DA"/>
                </a:solidFill>
                <a:latin typeface="Segoe UI" pitchFamily="34" charset="0"/>
                <a:ea typeface="Segoe UI" pitchFamily="34" charset="-122"/>
                <a:cs typeface="Segoe UI" pitchFamily="34" charset="-120"/>
              </a:rPr>
              <a:t>Research</a:t>
            </a:r>
            <a:endParaRPr lang="en-US" sz="950" dirty="0"/>
          </a:p>
        </p:txBody>
      </p:sp>
      <p:sp>
        <p:nvSpPr>
          <p:cNvPr id="25" name="Shape 23"/>
          <p:cNvSpPr/>
          <p:nvPr/>
        </p:nvSpPr>
        <p:spPr>
          <a:xfrm>
            <a:off x="8979408"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26" name="Text 24"/>
          <p:cNvSpPr/>
          <p:nvPr/>
        </p:nvSpPr>
        <p:spPr>
          <a:xfrm>
            <a:off x="8979408" y="2926080"/>
            <a:ext cx="1051560" cy="640080"/>
          </a:xfrm>
          <a:prstGeom prst="rect">
            <a:avLst/>
          </a:prstGeom>
          <a:noFill/>
          <a:ln/>
        </p:spPr>
        <p:txBody>
          <a:bodyPr wrap="square" lIns="0" tIns="0" rIns="0" bIns="0" rtlCol="0" anchor="ctr"/>
          <a:lstStyle/>
          <a:p>
            <a:pPr marL="0" indent="0" algn="ctr">
              <a:buNone/>
            </a:pPr>
            <a:r>
              <a:rPr lang="en-US" sz="950" dirty="0">
                <a:solidFill>
                  <a:srgbClr val="C9D1DA"/>
                </a:solidFill>
                <a:latin typeface="Segoe UI" pitchFamily="34" charset="0"/>
                <a:ea typeface="Segoe UI" pitchFamily="34" charset="-122"/>
                <a:cs typeface="Segoe UI" pitchFamily="34" charset="-120"/>
              </a:rPr>
              <a:t>Writer</a:t>
            </a:r>
            <a:endParaRPr lang="en-US" sz="950" dirty="0"/>
          </a:p>
        </p:txBody>
      </p:sp>
      <p:sp>
        <p:nvSpPr>
          <p:cNvPr id="27" name="Shape 25"/>
          <p:cNvSpPr/>
          <p:nvPr/>
        </p:nvSpPr>
        <p:spPr>
          <a:xfrm>
            <a:off x="10140696" y="2926080"/>
            <a:ext cx="1051560" cy="640080"/>
          </a:xfrm>
          <a:prstGeom prst="roundRect">
            <a:avLst>
              <a:gd name="adj" fmla="val 8571"/>
            </a:avLst>
          </a:prstGeom>
          <a:solidFill>
            <a:srgbClr val="23272F"/>
          </a:solidFill>
          <a:ln w="12700">
            <a:solidFill>
              <a:srgbClr val="353B45"/>
            </a:solidFill>
            <a:prstDash val="solid"/>
          </a:ln>
        </p:spPr>
        <p:txBody>
          <a:bodyPr/>
          <a:lstStyle/>
          <a:p>
            <a:endParaRPr lang="en-IN"/>
          </a:p>
        </p:txBody>
      </p:sp>
      <p:sp>
        <p:nvSpPr>
          <p:cNvPr id="28" name="Text 26"/>
          <p:cNvSpPr/>
          <p:nvPr/>
        </p:nvSpPr>
        <p:spPr>
          <a:xfrm>
            <a:off x="10140696" y="2926080"/>
            <a:ext cx="1051560" cy="640080"/>
          </a:xfrm>
          <a:prstGeom prst="rect">
            <a:avLst/>
          </a:prstGeom>
          <a:noFill/>
          <a:ln/>
        </p:spPr>
        <p:txBody>
          <a:bodyPr wrap="square" lIns="0" tIns="0" rIns="0" bIns="0" rtlCol="0" anchor="ctr"/>
          <a:lstStyle/>
          <a:p>
            <a:pPr marL="0" indent="0" algn="ctr">
              <a:buNone/>
            </a:pPr>
            <a:r>
              <a:rPr lang="en-US" sz="950" dirty="0">
                <a:solidFill>
                  <a:srgbClr val="C9D1DA"/>
                </a:solidFill>
                <a:latin typeface="Segoe UI" pitchFamily="34" charset="0"/>
                <a:ea typeface="Segoe UI" pitchFamily="34" charset="-122"/>
                <a:cs typeface="Segoe UI" pitchFamily="34" charset="-120"/>
              </a:rPr>
              <a:t>Reviewer</a:t>
            </a:r>
            <a:endParaRPr lang="en-US" sz="950" dirty="0"/>
          </a:p>
        </p:txBody>
      </p:sp>
      <p:sp>
        <p:nvSpPr>
          <p:cNvPr id="29" name="Text 27"/>
          <p:cNvSpPr/>
          <p:nvPr/>
        </p:nvSpPr>
        <p:spPr>
          <a:xfrm>
            <a:off x="6565392" y="4178808"/>
            <a:ext cx="4754880" cy="640080"/>
          </a:xfrm>
          <a:prstGeom prst="rect">
            <a:avLst/>
          </a:prstGeom>
          <a:noFill/>
          <a:ln/>
        </p:spPr>
        <p:txBody>
          <a:bodyPr wrap="square" lIns="0" tIns="0" rIns="0" bIns="0" rtlCol="0" anchor="t"/>
          <a:lstStyle/>
          <a:p>
            <a:pPr marL="177800" indent="-177800">
              <a:lnSpc>
                <a:spcPts val="1800"/>
              </a:lnSpc>
              <a:buSzPct val="100000"/>
              <a:buChar char="+"/>
            </a:pPr>
            <a:r>
              <a:rPr lang="en-US" sz="1150" dirty="0">
                <a:solidFill>
                  <a:srgbClr val="C9D1DA"/>
                </a:solidFill>
                <a:latin typeface="Segoe UI" pitchFamily="34" charset="0"/>
                <a:ea typeface="Segoe UI" pitchFamily="34" charset="-122"/>
                <a:cs typeface="Segoe UI" pitchFamily="34" charset="-120"/>
              </a:rPr>
              <a:t>Modular, parallel, scales to complex work</a:t>
            </a:r>
            <a:endParaRPr lang="en-US" sz="1150" dirty="0"/>
          </a:p>
          <a:p>
            <a:pPr marL="177800" indent="-177800">
              <a:lnSpc>
                <a:spcPts val="1800"/>
              </a:lnSpc>
              <a:buSzPct val="100000"/>
              <a:buChar char="–"/>
            </a:pPr>
            <a:r>
              <a:rPr lang="en-US" sz="1150" dirty="0">
                <a:solidFill>
                  <a:srgbClr val="9AA6B2"/>
                </a:solidFill>
                <a:latin typeface="Segoe UI" pitchFamily="34" charset="0"/>
                <a:ea typeface="Segoe UI" pitchFamily="34" charset="-122"/>
                <a:cs typeface="Segoe UI" pitchFamily="34" charset="-120"/>
              </a:rPr>
              <a:t>More coordination, latency and failure points</a:t>
            </a:r>
            <a:endParaRPr lang="en-US" sz="1150" dirty="0"/>
          </a:p>
        </p:txBody>
      </p:sp>
      <p:sp>
        <p:nvSpPr>
          <p:cNvPr id="30" name="Shape 28"/>
          <p:cNvSpPr/>
          <p:nvPr/>
        </p:nvSpPr>
        <p:spPr>
          <a:xfrm>
            <a:off x="548640" y="5120640"/>
            <a:ext cx="11091672" cy="914400"/>
          </a:xfrm>
          <a:prstGeom prst="roundRect">
            <a:avLst>
              <a:gd name="adj" fmla="val 8000"/>
            </a:avLst>
          </a:prstGeom>
          <a:solidFill>
            <a:srgbClr val="23272F"/>
          </a:solidFill>
          <a:ln w="15875">
            <a:solidFill>
              <a:srgbClr val="B6F500"/>
            </a:solidFill>
            <a:prstDash val="solid"/>
          </a:ln>
        </p:spPr>
        <p:txBody>
          <a:bodyPr/>
          <a:lstStyle/>
          <a:p>
            <a:endParaRPr lang="en-IN"/>
          </a:p>
        </p:txBody>
      </p:sp>
      <p:sp>
        <p:nvSpPr>
          <p:cNvPr id="31" name="Shape 29"/>
          <p:cNvSpPr/>
          <p:nvPr/>
        </p:nvSpPr>
        <p:spPr>
          <a:xfrm>
            <a:off x="548640" y="5120640"/>
            <a:ext cx="128016" cy="914400"/>
          </a:xfrm>
          <a:prstGeom prst="rect">
            <a:avLst/>
          </a:prstGeom>
          <a:solidFill>
            <a:srgbClr val="B6F500"/>
          </a:solidFill>
          <a:ln/>
        </p:spPr>
        <p:txBody>
          <a:bodyPr/>
          <a:lstStyle/>
          <a:p>
            <a:endParaRPr lang="en-IN"/>
          </a:p>
        </p:txBody>
      </p:sp>
      <p:sp>
        <p:nvSpPr>
          <p:cNvPr id="32" name="Text 30"/>
          <p:cNvSpPr/>
          <p:nvPr/>
        </p:nvSpPr>
        <p:spPr>
          <a:xfrm>
            <a:off x="868680" y="5120640"/>
            <a:ext cx="10515600" cy="914400"/>
          </a:xfrm>
          <a:prstGeom prst="rect">
            <a:avLst/>
          </a:prstGeom>
          <a:noFill/>
          <a:ln/>
        </p:spPr>
        <p:txBody>
          <a:bodyPr wrap="square" lIns="0" tIns="0" rIns="0" bIns="0" rtlCol="0" anchor="ctr"/>
          <a:lstStyle/>
          <a:p>
            <a:pPr marL="0" indent="0">
              <a:lnSpc>
                <a:spcPts val="1800"/>
              </a:lnSpc>
              <a:buNone/>
            </a:pPr>
            <a:r>
              <a:rPr lang="en-US" sz="1200" b="1" kern="0" spc="100" dirty="0">
                <a:solidFill>
                  <a:srgbClr val="B6F500"/>
                </a:solidFill>
                <a:latin typeface="Segoe UI" pitchFamily="34" charset="0"/>
                <a:ea typeface="Segoe UI" pitchFamily="34" charset="-122"/>
                <a:cs typeface="Segoe UI" pitchFamily="34" charset="-120"/>
              </a:rPr>
              <a:t>GROUP DISCUSSION   </a:t>
            </a:r>
            <a:r>
              <a:rPr lang="en-US" sz="1300" dirty="0">
                <a:solidFill>
                  <a:srgbClr val="C9D1DA"/>
                </a:solidFill>
                <a:latin typeface="Segoe UI" pitchFamily="34" charset="0"/>
                <a:ea typeface="Segoe UI" pitchFamily="34" charset="-122"/>
                <a:cs typeface="Segoe UI" pitchFamily="34" charset="-120"/>
              </a:rPr>
              <a:t>In pairs (3 min): pick a task — planning a hackathon. Would you build ONE agent or a TEAM of agents? Why?</a:t>
            </a:r>
            <a:endParaRPr lang="en-US" sz="1200" dirty="0"/>
          </a:p>
        </p:txBody>
      </p:sp>
      <p:sp>
        <p:nvSpPr>
          <p:cNvPr id="33" name="Shape 31"/>
          <p:cNvSpPr/>
          <p:nvPr/>
        </p:nvSpPr>
        <p:spPr>
          <a:xfrm>
            <a:off x="548640" y="6437376"/>
            <a:ext cx="292608" cy="64008"/>
          </a:xfrm>
          <a:prstGeom prst="rect">
            <a:avLst/>
          </a:prstGeom>
          <a:solidFill>
            <a:srgbClr val="B6F500"/>
          </a:solidFill>
          <a:ln/>
        </p:spPr>
        <p:txBody>
          <a:bodyPr/>
          <a:lstStyle/>
          <a:p>
            <a:endParaRPr lang="en-IN"/>
          </a:p>
        </p:txBody>
      </p:sp>
      <p:sp>
        <p:nvSpPr>
          <p:cNvPr id="34" name="Text 32"/>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5" name="Text 33"/>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TOOLS OF THE TRADE</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Popular Agent Frameworks</a:t>
            </a:r>
            <a:endParaRPr lang="en-US" sz="3000" dirty="0"/>
          </a:p>
        </p:txBody>
      </p:sp>
      <p:sp>
        <p:nvSpPr>
          <p:cNvPr id="4" name="Shape 2"/>
          <p:cNvSpPr/>
          <p:nvPr/>
        </p:nvSpPr>
        <p:spPr>
          <a:xfrm>
            <a:off x="548640" y="1874520"/>
            <a:ext cx="2670048" cy="324612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548640" y="1874520"/>
            <a:ext cx="2670048" cy="128016"/>
          </a:xfrm>
          <a:prstGeom prst="rect">
            <a:avLst/>
          </a:prstGeom>
          <a:solidFill>
            <a:srgbClr val="B6F500"/>
          </a:solidFill>
          <a:ln/>
        </p:spPr>
        <p:txBody>
          <a:bodyPr/>
          <a:lstStyle/>
          <a:p>
            <a:endParaRPr lang="en-IN"/>
          </a:p>
        </p:txBody>
      </p:sp>
      <p:sp>
        <p:nvSpPr>
          <p:cNvPr id="6" name="Text 4"/>
          <p:cNvSpPr/>
          <p:nvPr/>
        </p:nvSpPr>
        <p:spPr>
          <a:xfrm>
            <a:off x="804672" y="2286000"/>
            <a:ext cx="2212848" cy="777240"/>
          </a:xfrm>
          <a:prstGeom prst="rect">
            <a:avLst/>
          </a:prstGeom>
          <a:noFill/>
          <a:ln/>
        </p:spPr>
        <p:txBody>
          <a:bodyPr wrap="square" lIns="0" tIns="0" rIns="0" bIns="0" rtlCol="0" anchor="t"/>
          <a:lstStyle/>
          <a:p>
            <a:pPr marL="0" indent="0">
              <a:buNone/>
            </a:pPr>
            <a:r>
              <a:rPr lang="en-US" sz="1800" b="1" dirty="0">
                <a:solidFill>
                  <a:srgbClr val="FFFFFF"/>
                </a:solidFill>
                <a:latin typeface="Segoe UI Semibold" pitchFamily="34" charset="0"/>
                <a:ea typeface="Segoe UI Semibold" pitchFamily="34" charset="-122"/>
                <a:cs typeface="Segoe UI Semibold" pitchFamily="34" charset="-120"/>
              </a:rPr>
              <a:t>LangGraph</a:t>
            </a:r>
            <a:endParaRPr lang="en-US" sz="1800" dirty="0"/>
          </a:p>
        </p:txBody>
      </p:sp>
      <p:sp>
        <p:nvSpPr>
          <p:cNvPr id="7" name="Text 5"/>
          <p:cNvSpPr/>
          <p:nvPr/>
        </p:nvSpPr>
        <p:spPr>
          <a:xfrm>
            <a:off x="804672" y="3017520"/>
            <a:ext cx="2212848" cy="320040"/>
          </a:xfrm>
          <a:prstGeom prst="rect">
            <a:avLst/>
          </a:prstGeom>
          <a:noFill/>
          <a:ln/>
        </p:spPr>
        <p:txBody>
          <a:bodyPr wrap="square" lIns="0" tIns="0" rIns="0" bIns="0" rtlCol="0" anchor="ctr"/>
          <a:lstStyle/>
          <a:p>
            <a:pPr marL="0" indent="0">
              <a:buNone/>
            </a:pPr>
            <a:r>
              <a:rPr lang="en-US" sz="1100" i="1" dirty="0">
                <a:solidFill>
                  <a:srgbClr val="B6F500"/>
                </a:solidFill>
                <a:latin typeface="Segoe UI" pitchFamily="34" charset="0"/>
                <a:ea typeface="Segoe UI" pitchFamily="34" charset="-122"/>
                <a:cs typeface="Segoe UI" pitchFamily="34" charset="-120"/>
              </a:rPr>
              <a:t>by LangChain</a:t>
            </a:r>
            <a:endParaRPr lang="en-US" sz="1100" dirty="0"/>
          </a:p>
        </p:txBody>
      </p:sp>
      <p:sp>
        <p:nvSpPr>
          <p:cNvPr id="8" name="Shape 6"/>
          <p:cNvSpPr/>
          <p:nvPr/>
        </p:nvSpPr>
        <p:spPr>
          <a:xfrm>
            <a:off x="804672" y="3447288"/>
            <a:ext cx="2157984" cy="0"/>
          </a:xfrm>
          <a:prstGeom prst="line">
            <a:avLst/>
          </a:prstGeom>
          <a:noFill/>
          <a:ln w="12700">
            <a:solidFill>
              <a:srgbClr val="353B45"/>
            </a:solidFill>
            <a:prstDash val="solid"/>
          </a:ln>
        </p:spPr>
        <p:txBody>
          <a:bodyPr/>
          <a:lstStyle/>
          <a:p>
            <a:endParaRPr lang="en-IN"/>
          </a:p>
        </p:txBody>
      </p:sp>
      <p:sp>
        <p:nvSpPr>
          <p:cNvPr id="9" name="Text 7"/>
          <p:cNvSpPr/>
          <p:nvPr/>
        </p:nvSpPr>
        <p:spPr>
          <a:xfrm>
            <a:off x="804672" y="3611880"/>
            <a:ext cx="2212848" cy="1371600"/>
          </a:xfrm>
          <a:prstGeom prst="rect">
            <a:avLst/>
          </a:prstGeom>
          <a:noFill/>
          <a:ln/>
        </p:spPr>
        <p:txBody>
          <a:bodyPr wrap="square" lIns="0" tIns="0" rIns="0" bIns="0" rtlCol="0" anchor="t"/>
          <a:lstStyle/>
          <a:p>
            <a:pPr marL="0" indent="0">
              <a:lnSpc>
                <a:spcPts val="1700"/>
              </a:lnSpc>
              <a:buNone/>
            </a:pPr>
            <a:r>
              <a:rPr lang="en-US" sz="1200" dirty="0">
                <a:solidFill>
                  <a:srgbClr val="C9D1DA"/>
                </a:solidFill>
                <a:latin typeface="Segoe UI" pitchFamily="34" charset="0"/>
                <a:ea typeface="Segoe UI" pitchFamily="34" charset="-122"/>
                <a:cs typeface="Segoe UI" pitchFamily="34" charset="-120"/>
              </a:rPr>
              <a:t>Graph-based, stateful workflows. The go-to for reliable, auditable production agents.</a:t>
            </a:r>
            <a:endParaRPr lang="en-US" sz="1200" dirty="0"/>
          </a:p>
        </p:txBody>
      </p:sp>
      <p:sp>
        <p:nvSpPr>
          <p:cNvPr id="10" name="Shape 8"/>
          <p:cNvSpPr/>
          <p:nvPr/>
        </p:nvSpPr>
        <p:spPr>
          <a:xfrm>
            <a:off x="3383280" y="1874520"/>
            <a:ext cx="2670048" cy="324612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1" name="Shape 9"/>
          <p:cNvSpPr/>
          <p:nvPr/>
        </p:nvSpPr>
        <p:spPr>
          <a:xfrm>
            <a:off x="3383280" y="1874520"/>
            <a:ext cx="2670048" cy="128016"/>
          </a:xfrm>
          <a:prstGeom prst="rect">
            <a:avLst/>
          </a:prstGeom>
          <a:solidFill>
            <a:srgbClr val="B6F500"/>
          </a:solidFill>
          <a:ln/>
        </p:spPr>
        <p:txBody>
          <a:bodyPr/>
          <a:lstStyle/>
          <a:p>
            <a:endParaRPr lang="en-IN"/>
          </a:p>
        </p:txBody>
      </p:sp>
      <p:sp>
        <p:nvSpPr>
          <p:cNvPr id="12" name="Text 10"/>
          <p:cNvSpPr/>
          <p:nvPr/>
        </p:nvSpPr>
        <p:spPr>
          <a:xfrm>
            <a:off x="3639312" y="2286000"/>
            <a:ext cx="2212848" cy="777240"/>
          </a:xfrm>
          <a:prstGeom prst="rect">
            <a:avLst/>
          </a:prstGeom>
          <a:noFill/>
          <a:ln/>
        </p:spPr>
        <p:txBody>
          <a:bodyPr wrap="square" lIns="0" tIns="0" rIns="0" bIns="0" rtlCol="0" anchor="t"/>
          <a:lstStyle/>
          <a:p>
            <a:pPr marL="0" indent="0">
              <a:buNone/>
            </a:pPr>
            <a:r>
              <a:rPr lang="en-US" sz="1800" b="1" dirty="0">
                <a:solidFill>
                  <a:srgbClr val="FFFFFF"/>
                </a:solidFill>
                <a:latin typeface="Segoe UI Semibold" pitchFamily="34" charset="0"/>
                <a:ea typeface="Segoe UI Semibold" pitchFamily="34" charset="-122"/>
                <a:cs typeface="Segoe UI Semibold" pitchFamily="34" charset="-120"/>
              </a:rPr>
              <a:t>CrewAI</a:t>
            </a:r>
            <a:endParaRPr lang="en-US" sz="1800" dirty="0"/>
          </a:p>
        </p:txBody>
      </p:sp>
      <p:sp>
        <p:nvSpPr>
          <p:cNvPr id="13" name="Text 11"/>
          <p:cNvSpPr/>
          <p:nvPr/>
        </p:nvSpPr>
        <p:spPr>
          <a:xfrm>
            <a:off x="3639312" y="3017520"/>
            <a:ext cx="2212848" cy="320040"/>
          </a:xfrm>
          <a:prstGeom prst="rect">
            <a:avLst/>
          </a:prstGeom>
          <a:noFill/>
          <a:ln/>
        </p:spPr>
        <p:txBody>
          <a:bodyPr wrap="square" lIns="0" tIns="0" rIns="0" bIns="0" rtlCol="0" anchor="ctr"/>
          <a:lstStyle/>
          <a:p>
            <a:pPr marL="0" indent="0">
              <a:buNone/>
            </a:pPr>
            <a:r>
              <a:rPr lang="en-US" sz="1100" i="1" dirty="0">
                <a:solidFill>
                  <a:srgbClr val="B6F500"/>
                </a:solidFill>
                <a:latin typeface="Segoe UI" pitchFamily="34" charset="0"/>
                <a:ea typeface="Segoe UI" pitchFamily="34" charset="-122"/>
                <a:cs typeface="Segoe UI" pitchFamily="34" charset="-120"/>
              </a:rPr>
              <a:t>by CrewAI Inc.</a:t>
            </a:r>
            <a:endParaRPr lang="en-US" sz="1100" dirty="0"/>
          </a:p>
        </p:txBody>
      </p:sp>
      <p:sp>
        <p:nvSpPr>
          <p:cNvPr id="14" name="Shape 12"/>
          <p:cNvSpPr/>
          <p:nvPr/>
        </p:nvSpPr>
        <p:spPr>
          <a:xfrm>
            <a:off x="3639312" y="3447288"/>
            <a:ext cx="2157984" cy="0"/>
          </a:xfrm>
          <a:prstGeom prst="line">
            <a:avLst/>
          </a:prstGeom>
          <a:noFill/>
          <a:ln w="12700">
            <a:solidFill>
              <a:srgbClr val="353B45"/>
            </a:solidFill>
            <a:prstDash val="solid"/>
          </a:ln>
        </p:spPr>
        <p:txBody>
          <a:bodyPr/>
          <a:lstStyle/>
          <a:p>
            <a:endParaRPr lang="en-IN"/>
          </a:p>
        </p:txBody>
      </p:sp>
      <p:sp>
        <p:nvSpPr>
          <p:cNvPr id="15" name="Text 13"/>
          <p:cNvSpPr/>
          <p:nvPr/>
        </p:nvSpPr>
        <p:spPr>
          <a:xfrm>
            <a:off x="3639312" y="3611880"/>
            <a:ext cx="2212848" cy="1371600"/>
          </a:xfrm>
          <a:prstGeom prst="rect">
            <a:avLst/>
          </a:prstGeom>
          <a:noFill/>
          <a:ln/>
        </p:spPr>
        <p:txBody>
          <a:bodyPr wrap="square" lIns="0" tIns="0" rIns="0" bIns="0" rtlCol="0" anchor="t"/>
          <a:lstStyle/>
          <a:p>
            <a:pPr marL="0" indent="0">
              <a:lnSpc>
                <a:spcPts val="1700"/>
              </a:lnSpc>
              <a:buNone/>
            </a:pPr>
            <a:r>
              <a:rPr lang="en-US" sz="1200" dirty="0">
                <a:solidFill>
                  <a:srgbClr val="C9D1DA"/>
                </a:solidFill>
                <a:latin typeface="Segoe UI" pitchFamily="34" charset="0"/>
                <a:ea typeface="Segoe UI" pitchFamily="34" charset="-122"/>
                <a:cs typeface="Segoe UI" pitchFamily="34" charset="-120"/>
              </a:rPr>
              <a:t>Role-based ‘crews’ of agents. Fastest way to a working multi-agent prototype.</a:t>
            </a:r>
            <a:endParaRPr lang="en-US" sz="1200" dirty="0"/>
          </a:p>
        </p:txBody>
      </p:sp>
      <p:sp>
        <p:nvSpPr>
          <p:cNvPr id="16" name="Shape 14"/>
          <p:cNvSpPr/>
          <p:nvPr/>
        </p:nvSpPr>
        <p:spPr>
          <a:xfrm>
            <a:off x="6217920" y="1874520"/>
            <a:ext cx="2670048" cy="324612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Shape 15"/>
          <p:cNvSpPr/>
          <p:nvPr/>
        </p:nvSpPr>
        <p:spPr>
          <a:xfrm>
            <a:off x="6217920" y="1874520"/>
            <a:ext cx="2670048" cy="128016"/>
          </a:xfrm>
          <a:prstGeom prst="rect">
            <a:avLst/>
          </a:prstGeom>
          <a:solidFill>
            <a:srgbClr val="B6F500"/>
          </a:solidFill>
          <a:ln/>
        </p:spPr>
        <p:txBody>
          <a:bodyPr/>
          <a:lstStyle/>
          <a:p>
            <a:endParaRPr lang="en-IN"/>
          </a:p>
        </p:txBody>
      </p:sp>
      <p:sp>
        <p:nvSpPr>
          <p:cNvPr id="18" name="Text 16"/>
          <p:cNvSpPr/>
          <p:nvPr/>
        </p:nvSpPr>
        <p:spPr>
          <a:xfrm>
            <a:off x="6473952" y="2286000"/>
            <a:ext cx="2212848" cy="777240"/>
          </a:xfrm>
          <a:prstGeom prst="rect">
            <a:avLst/>
          </a:prstGeom>
          <a:noFill/>
          <a:ln/>
        </p:spPr>
        <p:txBody>
          <a:bodyPr wrap="square" lIns="0" tIns="0" rIns="0" bIns="0" rtlCol="0" anchor="t"/>
          <a:lstStyle/>
          <a:p>
            <a:pPr marL="0" indent="0">
              <a:buNone/>
            </a:pPr>
            <a:r>
              <a:rPr lang="en-US" sz="1800" b="1" dirty="0">
                <a:solidFill>
                  <a:srgbClr val="FFFFFF"/>
                </a:solidFill>
                <a:latin typeface="Segoe UI Semibold" pitchFamily="34" charset="0"/>
                <a:ea typeface="Segoe UI Semibold" pitchFamily="34" charset="-122"/>
                <a:cs typeface="Segoe UI Semibold" pitchFamily="34" charset="-120"/>
              </a:rPr>
              <a:t>AutoGen</a:t>
            </a:r>
            <a:endParaRPr lang="en-US" sz="1800" dirty="0"/>
          </a:p>
        </p:txBody>
      </p:sp>
      <p:sp>
        <p:nvSpPr>
          <p:cNvPr id="19" name="Text 17"/>
          <p:cNvSpPr/>
          <p:nvPr/>
        </p:nvSpPr>
        <p:spPr>
          <a:xfrm>
            <a:off x="6473952" y="3017520"/>
            <a:ext cx="2212848" cy="320040"/>
          </a:xfrm>
          <a:prstGeom prst="rect">
            <a:avLst/>
          </a:prstGeom>
          <a:noFill/>
          <a:ln/>
        </p:spPr>
        <p:txBody>
          <a:bodyPr wrap="square" lIns="0" tIns="0" rIns="0" bIns="0" rtlCol="0" anchor="ctr"/>
          <a:lstStyle/>
          <a:p>
            <a:pPr marL="0" indent="0">
              <a:buNone/>
            </a:pPr>
            <a:r>
              <a:rPr lang="en-US" sz="1100" i="1" dirty="0">
                <a:solidFill>
                  <a:srgbClr val="B6F500"/>
                </a:solidFill>
                <a:latin typeface="Segoe UI" pitchFamily="34" charset="0"/>
                <a:ea typeface="Segoe UI" pitchFamily="34" charset="-122"/>
                <a:cs typeface="Segoe UI" pitchFamily="34" charset="-120"/>
              </a:rPr>
              <a:t>by Microsoft</a:t>
            </a:r>
            <a:endParaRPr lang="en-US" sz="1100" dirty="0"/>
          </a:p>
        </p:txBody>
      </p:sp>
      <p:sp>
        <p:nvSpPr>
          <p:cNvPr id="20" name="Shape 18"/>
          <p:cNvSpPr/>
          <p:nvPr/>
        </p:nvSpPr>
        <p:spPr>
          <a:xfrm>
            <a:off x="6473952" y="3447288"/>
            <a:ext cx="2157984" cy="0"/>
          </a:xfrm>
          <a:prstGeom prst="line">
            <a:avLst/>
          </a:prstGeom>
          <a:noFill/>
          <a:ln w="12700">
            <a:solidFill>
              <a:srgbClr val="353B45"/>
            </a:solidFill>
            <a:prstDash val="solid"/>
          </a:ln>
        </p:spPr>
        <p:txBody>
          <a:bodyPr/>
          <a:lstStyle/>
          <a:p>
            <a:endParaRPr lang="en-IN"/>
          </a:p>
        </p:txBody>
      </p:sp>
      <p:sp>
        <p:nvSpPr>
          <p:cNvPr id="21" name="Text 19"/>
          <p:cNvSpPr/>
          <p:nvPr/>
        </p:nvSpPr>
        <p:spPr>
          <a:xfrm>
            <a:off x="6473952" y="3611880"/>
            <a:ext cx="2212848" cy="1371600"/>
          </a:xfrm>
          <a:prstGeom prst="rect">
            <a:avLst/>
          </a:prstGeom>
          <a:noFill/>
          <a:ln/>
        </p:spPr>
        <p:txBody>
          <a:bodyPr wrap="square" lIns="0" tIns="0" rIns="0" bIns="0" rtlCol="0" anchor="t"/>
          <a:lstStyle/>
          <a:p>
            <a:pPr marL="0" indent="0">
              <a:lnSpc>
                <a:spcPts val="1700"/>
              </a:lnSpc>
              <a:buNone/>
            </a:pPr>
            <a:r>
              <a:rPr lang="en-US" sz="1200" dirty="0">
                <a:solidFill>
                  <a:srgbClr val="C9D1DA"/>
                </a:solidFill>
                <a:latin typeface="Segoe UI" pitchFamily="34" charset="0"/>
                <a:ea typeface="Segoe UI" pitchFamily="34" charset="-122"/>
                <a:cs typeface="Segoe UI" pitchFamily="34" charset="-120"/>
              </a:rPr>
              <a:t>Conversation-driven agents that collaborate. Great for agents that negotiate.</a:t>
            </a:r>
            <a:endParaRPr lang="en-US" sz="1200" dirty="0"/>
          </a:p>
        </p:txBody>
      </p:sp>
      <p:sp>
        <p:nvSpPr>
          <p:cNvPr id="22" name="Shape 20"/>
          <p:cNvSpPr/>
          <p:nvPr/>
        </p:nvSpPr>
        <p:spPr>
          <a:xfrm>
            <a:off x="9052560" y="1874520"/>
            <a:ext cx="2670048" cy="324612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3" name="Shape 21"/>
          <p:cNvSpPr/>
          <p:nvPr/>
        </p:nvSpPr>
        <p:spPr>
          <a:xfrm>
            <a:off x="9052560" y="1874520"/>
            <a:ext cx="2670048" cy="128016"/>
          </a:xfrm>
          <a:prstGeom prst="rect">
            <a:avLst/>
          </a:prstGeom>
          <a:solidFill>
            <a:srgbClr val="B6F500"/>
          </a:solidFill>
          <a:ln/>
        </p:spPr>
        <p:txBody>
          <a:bodyPr/>
          <a:lstStyle/>
          <a:p>
            <a:endParaRPr lang="en-IN"/>
          </a:p>
        </p:txBody>
      </p:sp>
      <p:sp>
        <p:nvSpPr>
          <p:cNvPr id="24" name="Text 22"/>
          <p:cNvSpPr/>
          <p:nvPr/>
        </p:nvSpPr>
        <p:spPr>
          <a:xfrm>
            <a:off x="9308592" y="2286000"/>
            <a:ext cx="2212848" cy="777240"/>
          </a:xfrm>
          <a:prstGeom prst="rect">
            <a:avLst/>
          </a:prstGeom>
          <a:noFill/>
          <a:ln/>
        </p:spPr>
        <p:txBody>
          <a:bodyPr wrap="square" lIns="0" tIns="0" rIns="0" bIns="0" rtlCol="0" anchor="t"/>
          <a:lstStyle/>
          <a:p>
            <a:pPr marL="0" indent="0">
              <a:buNone/>
            </a:pPr>
            <a:r>
              <a:rPr lang="en-US" sz="1800" b="1" dirty="0">
                <a:solidFill>
                  <a:srgbClr val="FFFFFF"/>
                </a:solidFill>
                <a:latin typeface="Segoe UI Semibold" pitchFamily="34" charset="0"/>
                <a:ea typeface="Segoe UI Semibold" pitchFamily="34" charset="-122"/>
                <a:cs typeface="Segoe UI Semibold" pitchFamily="34" charset="-120"/>
              </a:rPr>
              <a:t>OpenAI Agents SDK</a:t>
            </a:r>
            <a:endParaRPr lang="en-US" sz="1800" dirty="0"/>
          </a:p>
        </p:txBody>
      </p:sp>
      <p:sp>
        <p:nvSpPr>
          <p:cNvPr id="25" name="Text 23"/>
          <p:cNvSpPr/>
          <p:nvPr/>
        </p:nvSpPr>
        <p:spPr>
          <a:xfrm>
            <a:off x="9308592" y="3017520"/>
            <a:ext cx="2212848" cy="320040"/>
          </a:xfrm>
          <a:prstGeom prst="rect">
            <a:avLst/>
          </a:prstGeom>
          <a:noFill/>
          <a:ln/>
        </p:spPr>
        <p:txBody>
          <a:bodyPr wrap="square" lIns="0" tIns="0" rIns="0" bIns="0" rtlCol="0" anchor="ctr"/>
          <a:lstStyle/>
          <a:p>
            <a:pPr marL="0" indent="0">
              <a:buNone/>
            </a:pPr>
            <a:r>
              <a:rPr lang="en-US" sz="1100" i="1" dirty="0">
                <a:solidFill>
                  <a:srgbClr val="B6F500"/>
                </a:solidFill>
                <a:latin typeface="Segoe UI" pitchFamily="34" charset="0"/>
                <a:ea typeface="Segoe UI" pitchFamily="34" charset="-122"/>
                <a:cs typeface="Segoe UI" pitchFamily="34" charset="-120"/>
              </a:rPr>
              <a:t>by OpenAI</a:t>
            </a:r>
            <a:endParaRPr lang="en-US" sz="1100" dirty="0"/>
          </a:p>
        </p:txBody>
      </p:sp>
      <p:sp>
        <p:nvSpPr>
          <p:cNvPr id="26" name="Shape 24"/>
          <p:cNvSpPr/>
          <p:nvPr/>
        </p:nvSpPr>
        <p:spPr>
          <a:xfrm>
            <a:off x="9308592" y="3447288"/>
            <a:ext cx="2157984" cy="0"/>
          </a:xfrm>
          <a:prstGeom prst="line">
            <a:avLst/>
          </a:prstGeom>
          <a:noFill/>
          <a:ln w="12700">
            <a:solidFill>
              <a:srgbClr val="353B45"/>
            </a:solidFill>
            <a:prstDash val="solid"/>
          </a:ln>
        </p:spPr>
        <p:txBody>
          <a:bodyPr/>
          <a:lstStyle/>
          <a:p>
            <a:endParaRPr lang="en-IN"/>
          </a:p>
        </p:txBody>
      </p:sp>
      <p:sp>
        <p:nvSpPr>
          <p:cNvPr id="27" name="Text 25"/>
          <p:cNvSpPr/>
          <p:nvPr/>
        </p:nvSpPr>
        <p:spPr>
          <a:xfrm>
            <a:off x="9308592" y="3611880"/>
            <a:ext cx="2212848" cy="1371600"/>
          </a:xfrm>
          <a:prstGeom prst="rect">
            <a:avLst/>
          </a:prstGeom>
          <a:noFill/>
          <a:ln/>
        </p:spPr>
        <p:txBody>
          <a:bodyPr wrap="square" lIns="0" tIns="0" rIns="0" bIns="0" rtlCol="0" anchor="t"/>
          <a:lstStyle/>
          <a:p>
            <a:pPr marL="0" indent="0">
              <a:lnSpc>
                <a:spcPts val="1700"/>
              </a:lnSpc>
              <a:buNone/>
            </a:pPr>
            <a:r>
              <a:rPr lang="en-US" sz="1200" dirty="0">
                <a:solidFill>
                  <a:srgbClr val="C9D1DA"/>
                </a:solidFill>
                <a:latin typeface="Segoe UI" pitchFamily="34" charset="0"/>
                <a:ea typeface="Segoe UI" pitchFamily="34" charset="-122"/>
                <a:cs typeface="Segoe UI" pitchFamily="34" charset="-120"/>
              </a:rPr>
              <a:t>Lightweight: Agents, Handoffs, Guardrails. Best for GPT-centered builds.</a:t>
            </a:r>
            <a:endParaRPr lang="en-US" sz="1200" dirty="0"/>
          </a:p>
        </p:txBody>
      </p:sp>
      <p:sp>
        <p:nvSpPr>
          <p:cNvPr id="28" name="Text 26"/>
          <p:cNvSpPr/>
          <p:nvPr/>
        </p:nvSpPr>
        <p:spPr>
          <a:xfrm>
            <a:off x="548640" y="5486400"/>
            <a:ext cx="11091672" cy="457200"/>
          </a:xfrm>
          <a:prstGeom prst="rect">
            <a:avLst/>
          </a:prstGeom>
          <a:noFill/>
          <a:ln/>
        </p:spPr>
        <p:txBody>
          <a:bodyPr wrap="square" lIns="0" tIns="0" rIns="0" bIns="0" rtlCol="0" anchor="ctr"/>
          <a:lstStyle/>
          <a:p>
            <a:pPr marL="0" indent="0" algn="ctr">
              <a:buNone/>
            </a:pPr>
            <a:r>
              <a:rPr lang="en-US" sz="1400" dirty="0">
                <a:solidFill>
                  <a:srgbClr val="C9D1DA"/>
                </a:solidFill>
                <a:latin typeface="Segoe UI" pitchFamily="34" charset="0"/>
                <a:ea typeface="Segoe UI" pitchFamily="34" charset="-122"/>
                <a:cs typeface="Segoe UI" pitchFamily="34" charset="-120"/>
              </a:rPr>
              <a:t>You don't build agents from scratch — </a:t>
            </a:r>
            <a:r>
              <a:rPr lang="en-US" sz="1400" b="1" dirty="0">
                <a:solidFill>
                  <a:srgbClr val="FFFFFF"/>
                </a:solidFill>
                <a:latin typeface="Segoe UI" pitchFamily="34" charset="0"/>
                <a:ea typeface="Segoe UI" pitchFamily="34" charset="-122"/>
                <a:cs typeface="Segoe UI" pitchFamily="34" charset="-120"/>
              </a:rPr>
              <a:t>frameworks handle the loop, memory and tool-calling for you.</a:t>
            </a:r>
            <a:endParaRPr lang="en-US" sz="1400" dirty="0"/>
          </a:p>
        </p:txBody>
      </p:sp>
      <p:sp>
        <p:nvSpPr>
          <p:cNvPr id="29" name="Shape 27"/>
          <p:cNvSpPr/>
          <p:nvPr/>
        </p:nvSpPr>
        <p:spPr>
          <a:xfrm>
            <a:off x="548640" y="6437376"/>
            <a:ext cx="292608" cy="64008"/>
          </a:xfrm>
          <a:prstGeom prst="rect">
            <a:avLst/>
          </a:prstGeom>
          <a:solidFill>
            <a:srgbClr val="B6F500"/>
          </a:solidFill>
          <a:ln/>
        </p:spPr>
        <p:txBody>
          <a:bodyPr/>
          <a:lstStyle/>
          <a:p>
            <a:endParaRPr lang="en-IN"/>
          </a:p>
        </p:txBody>
      </p:sp>
      <p:sp>
        <p:nvSpPr>
          <p:cNvPr id="30" name="Text 28"/>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1" name="Text 29"/>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ALREADY IN THE WILD</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Real-World Use Cases</a:t>
            </a:r>
            <a:endParaRPr lang="en-US" sz="3000" dirty="0"/>
          </a:p>
        </p:txBody>
      </p:sp>
      <p:sp>
        <p:nvSpPr>
          <p:cNvPr id="4" name="Shape 2"/>
          <p:cNvSpPr/>
          <p:nvPr/>
        </p:nvSpPr>
        <p:spPr>
          <a:xfrm>
            <a:off x="548640" y="1783080"/>
            <a:ext cx="2121408" cy="2331720"/>
          </a:xfrm>
          <a:prstGeom prst="roundRect">
            <a:avLst>
              <a:gd name="adj" fmla="val 3879"/>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1280160" y="2057400"/>
            <a:ext cx="658368" cy="658368"/>
          </a:xfrm>
          <a:prstGeom prst="ellipse">
            <a:avLst/>
          </a:prstGeom>
          <a:solidFill>
            <a:srgbClr val="B6F500"/>
          </a:solidFill>
          <a:ln/>
        </p:spPr>
        <p:txBody>
          <a:bodyPr/>
          <a:lstStyle/>
          <a:p>
            <a:endParaRPr lang="en-IN"/>
          </a:p>
        </p:txBody>
      </p:sp>
      <p:sp>
        <p:nvSpPr>
          <p:cNvPr id="6" name="Text 4"/>
          <p:cNvSpPr/>
          <p:nvPr/>
        </p:nvSpPr>
        <p:spPr>
          <a:xfrm>
            <a:off x="1280160" y="2057400"/>
            <a:ext cx="658368" cy="658368"/>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1</a:t>
            </a:r>
            <a:endParaRPr lang="en-US" sz="1700" dirty="0"/>
          </a:p>
        </p:txBody>
      </p:sp>
      <p:sp>
        <p:nvSpPr>
          <p:cNvPr id="7" name="Text 5"/>
          <p:cNvSpPr/>
          <p:nvPr/>
        </p:nvSpPr>
        <p:spPr>
          <a:xfrm>
            <a:off x="640080" y="2770632"/>
            <a:ext cx="1938528" cy="548640"/>
          </a:xfrm>
          <a:prstGeom prst="rect">
            <a:avLst/>
          </a:prstGeom>
          <a:noFill/>
          <a:ln/>
        </p:spPr>
        <p:txBody>
          <a:bodyPr wrap="square" lIns="0" tIns="0" rIns="0" bIns="0" rtlCol="0" anchor="ctr"/>
          <a:lstStyle/>
          <a:p>
            <a:pPr marL="0" indent="0" algn="ctr">
              <a:lnSpc>
                <a:spcPts val="1500"/>
              </a:lnSpc>
              <a:buNone/>
            </a:pPr>
            <a:r>
              <a:rPr lang="en-US" sz="1400" b="1" dirty="0">
                <a:solidFill>
                  <a:srgbClr val="B6F500"/>
                </a:solidFill>
                <a:latin typeface="Segoe UI Semibold" pitchFamily="34" charset="0"/>
                <a:ea typeface="Segoe UI Semibold" pitchFamily="34" charset="-122"/>
                <a:cs typeface="Segoe UI Semibold" pitchFamily="34" charset="-120"/>
              </a:rPr>
              <a:t>Research</a:t>
            </a:r>
            <a:endParaRPr lang="en-US" sz="1400" dirty="0"/>
          </a:p>
        </p:txBody>
      </p:sp>
      <p:sp>
        <p:nvSpPr>
          <p:cNvPr id="8" name="Text 6"/>
          <p:cNvSpPr/>
          <p:nvPr/>
        </p:nvSpPr>
        <p:spPr>
          <a:xfrm>
            <a:off x="676656" y="3264408"/>
            <a:ext cx="1865376" cy="594360"/>
          </a:xfrm>
          <a:prstGeom prst="rect">
            <a:avLst/>
          </a:prstGeom>
          <a:noFill/>
          <a:ln/>
        </p:spPr>
        <p:txBody>
          <a:bodyPr wrap="square" lIns="0" tIns="0" rIns="0" bIns="0" rtlCol="0" anchor="t"/>
          <a:lstStyle/>
          <a:p>
            <a:pPr marL="0" indent="0" algn="ctr">
              <a:lnSpc>
                <a:spcPts val="1200"/>
              </a:lnSpc>
              <a:buNone/>
            </a:pPr>
            <a:r>
              <a:rPr lang="en-US" sz="1000" dirty="0">
                <a:solidFill>
                  <a:srgbClr val="C9D1DA"/>
                </a:solidFill>
                <a:latin typeface="Segoe UI" pitchFamily="34" charset="0"/>
                <a:ea typeface="Segoe UI" pitchFamily="34" charset="-122"/>
                <a:cs typeface="Segoe UI" pitchFamily="34" charset="-120"/>
              </a:rPr>
              <a:t>Gathers sources, synthesises insights and drafts reports.</a:t>
            </a:r>
            <a:endParaRPr lang="en-US" sz="1000" dirty="0"/>
          </a:p>
        </p:txBody>
      </p:sp>
      <p:sp>
        <p:nvSpPr>
          <p:cNvPr id="9" name="Text 7"/>
          <p:cNvSpPr/>
          <p:nvPr/>
        </p:nvSpPr>
        <p:spPr>
          <a:xfrm>
            <a:off x="658368" y="3657600"/>
            <a:ext cx="1901952" cy="384048"/>
          </a:xfrm>
          <a:prstGeom prst="rect">
            <a:avLst/>
          </a:prstGeom>
          <a:noFill/>
          <a:ln/>
        </p:spPr>
        <p:txBody>
          <a:bodyPr wrap="square" lIns="0" tIns="0" rIns="0" bIns="0" rtlCol="0" anchor="ctr"/>
          <a:lstStyle/>
          <a:p>
            <a:pPr marL="0" indent="0" algn="ctr">
              <a:lnSpc>
                <a:spcPts val="1100"/>
              </a:lnSpc>
              <a:buNone/>
            </a:pPr>
            <a:r>
              <a:rPr lang="en-US" sz="950" b="1" dirty="0">
                <a:solidFill>
                  <a:srgbClr val="FFFFFF"/>
                </a:solidFill>
                <a:latin typeface="Segoe UI Semibold" pitchFamily="34" charset="0"/>
                <a:ea typeface="Segoe UI Semibold" pitchFamily="34" charset="-122"/>
                <a:cs typeface="Segoe UI Semibold" pitchFamily="34" charset="-120"/>
              </a:rPr>
              <a:t>Hours of analyst work in minutes</a:t>
            </a:r>
            <a:endParaRPr lang="en-US" sz="950" dirty="0"/>
          </a:p>
        </p:txBody>
      </p:sp>
      <p:sp>
        <p:nvSpPr>
          <p:cNvPr id="10" name="Shape 8"/>
          <p:cNvSpPr/>
          <p:nvPr/>
        </p:nvSpPr>
        <p:spPr>
          <a:xfrm>
            <a:off x="2816352" y="1783080"/>
            <a:ext cx="2121408" cy="2331720"/>
          </a:xfrm>
          <a:prstGeom prst="roundRect">
            <a:avLst>
              <a:gd name="adj" fmla="val 3879"/>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1" name="Shape 9"/>
          <p:cNvSpPr/>
          <p:nvPr/>
        </p:nvSpPr>
        <p:spPr>
          <a:xfrm>
            <a:off x="3547872" y="2057400"/>
            <a:ext cx="658368" cy="658368"/>
          </a:xfrm>
          <a:prstGeom prst="ellipse">
            <a:avLst/>
          </a:prstGeom>
          <a:solidFill>
            <a:srgbClr val="B6F500"/>
          </a:solidFill>
          <a:ln/>
        </p:spPr>
        <p:txBody>
          <a:bodyPr/>
          <a:lstStyle/>
          <a:p>
            <a:endParaRPr lang="en-IN"/>
          </a:p>
        </p:txBody>
      </p:sp>
      <p:sp>
        <p:nvSpPr>
          <p:cNvPr id="12" name="Text 10"/>
          <p:cNvSpPr/>
          <p:nvPr/>
        </p:nvSpPr>
        <p:spPr>
          <a:xfrm>
            <a:off x="3547872" y="2057400"/>
            <a:ext cx="658368" cy="658368"/>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2</a:t>
            </a:r>
            <a:endParaRPr lang="en-US" sz="1700" dirty="0"/>
          </a:p>
        </p:txBody>
      </p:sp>
      <p:sp>
        <p:nvSpPr>
          <p:cNvPr id="13" name="Text 11"/>
          <p:cNvSpPr/>
          <p:nvPr/>
        </p:nvSpPr>
        <p:spPr>
          <a:xfrm>
            <a:off x="2907792" y="2770632"/>
            <a:ext cx="1938528" cy="548640"/>
          </a:xfrm>
          <a:prstGeom prst="rect">
            <a:avLst/>
          </a:prstGeom>
          <a:noFill/>
          <a:ln/>
        </p:spPr>
        <p:txBody>
          <a:bodyPr wrap="square" lIns="0" tIns="0" rIns="0" bIns="0" rtlCol="0" anchor="ctr"/>
          <a:lstStyle/>
          <a:p>
            <a:pPr marL="0" indent="0" algn="ctr">
              <a:lnSpc>
                <a:spcPts val="1500"/>
              </a:lnSpc>
              <a:buNone/>
            </a:pPr>
            <a:r>
              <a:rPr lang="en-US" sz="1400" b="1" dirty="0">
                <a:solidFill>
                  <a:srgbClr val="B6F500"/>
                </a:solidFill>
                <a:latin typeface="Segoe UI Semibold" pitchFamily="34" charset="0"/>
                <a:ea typeface="Segoe UI Semibold" pitchFamily="34" charset="-122"/>
                <a:cs typeface="Segoe UI Semibold" pitchFamily="34" charset="-120"/>
              </a:rPr>
              <a:t>Coding</a:t>
            </a:r>
            <a:endParaRPr lang="en-US" sz="1400" dirty="0"/>
          </a:p>
        </p:txBody>
      </p:sp>
      <p:sp>
        <p:nvSpPr>
          <p:cNvPr id="14" name="Text 12"/>
          <p:cNvSpPr/>
          <p:nvPr/>
        </p:nvSpPr>
        <p:spPr>
          <a:xfrm>
            <a:off x="2944368" y="3264408"/>
            <a:ext cx="1865376" cy="594360"/>
          </a:xfrm>
          <a:prstGeom prst="rect">
            <a:avLst/>
          </a:prstGeom>
          <a:noFill/>
          <a:ln/>
        </p:spPr>
        <p:txBody>
          <a:bodyPr wrap="square" lIns="0" tIns="0" rIns="0" bIns="0" rtlCol="0" anchor="t"/>
          <a:lstStyle/>
          <a:p>
            <a:pPr marL="0" indent="0" algn="ctr">
              <a:lnSpc>
                <a:spcPts val="1200"/>
              </a:lnSpc>
              <a:buNone/>
            </a:pPr>
            <a:r>
              <a:rPr lang="en-US" sz="1000" dirty="0">
                <a:solidFill>
                  <a:srgbClr val="C9D1DA"/>
                </a:solidFill>
                <a:latin typeface="Segoe UI" pitchFamily="34" charset="0"/>
                <a:ea typeface="Segoe UI" pitchFamily="34" charset="-122"/>
                <a:cs typeface="Segoe UI" pitchFamily="34" charset="-120"/>
              </a:rPr>
              <a:t>Writes, tests and fixes code inside your editor.</a:t>
            </a:r>
            <a:endParaRPr lang="en-US" sz="1000" dirty="0"/>
          </a:p>
        </p:txBody>
      </p:sp>
      <p:sp>
        <p:nvSpPr>
          <p:cNvPr id="15" name="Text 13"/>
          <p:cNvSpPr/>
          <p:nvPr/>
        </p:nvSpPr>
        <p:spPr>
          <a:xfrm>
            <a:off x="2926080" y="3657600"/>
            <a:ext cx="1901952" cy="384048"/>
          </a:xfrm>
          <a:prstGeom prst="rect">
            <a:avLst/>
          </a:prstGeom>
          <a:noFill/>
          <a:ln/>
        </p:spPr>
        <p:txBody>
          <a:bodyPr wrap="square" lIns="0" tIns="0" rIns="0" bIns="0" rtlCol="0" anchor="ctr"/>
          <a:lstStyle/>
          <a:p>
            <a:pPr marL="0" indent="0" algn="ctr">
              <a:lnSpc>
                <a:spcPts val="1100"/>
              </a:lnSpc>
              <a:buNone/>
            </a:pPr>
            <a:r>
              <a:rPr lang="en-US" sz="950" b="1" dirty="0">
                <a:solidFill>
                  <a:srgbClr val="FFFFFF"/>
                </a:solidFill>
                <a:latin typeface="Segoe UI Semibold" pitchFamily="34" charset="0"/>
                <a:ea typeface="Segoe UI Semibold" pitchFamily="34" charset="-122"/>
                <a:cs typeface="Segoe UI Semibold" pitchFamily="34" charset="-120"/>
              </a:rPr>
              <a:t>Copilot: 1M+ developers</a:t>
            </a:r>
            <a:endParaRPr lang="en-US" sz="950" dirty="0"/>
          </a:p>
        </p:txBody>
      </p:sp>
      <p:sp>
        <p:nvSpPr>
          <p:cNvPr id="16" name="Shape 14"/>
          <p:cNvSpPr/>
          <p:nvPr/>
        </p:nvSpPr>
        <p:spPr>
          <a:xfrm>
            <a:off x="5084064" y="1783080"/>
            <a:ext cx="2121408" cy="2331720"/>
          </a:xfrm>
          <a:prstGeom prst="roundRect">
            <a:avLst>
              <a:gd name="adj" fmla="val 3879"/>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Shape 15"/>
          <p:cNvSpPr/>
          <p:nvPr/>
        </p:nvSpPr>
        <p:spPr>
          <a:xfrm>
            <a:off x="5815584" y="2057400"/>
            <a:ext cx="658368" cy="658368"/>
          </a:xfrm>
          <a:prstGeom prst="ellipse">
            <a:avLst/>
          </a:prstGeom>
          <a:solidFill>
            <a:srgbClr val="B6F500"/>
          </a:solidFill>
          <a:ln/>
        </p:spPr>
        <p:txBody>
          <a:bodyPr/>
          <a:lstStyle/>
          <a:p>
            <a:endParaRPr lang="en-IN"/>
          </a:p>
        </p:txBody>
      </p:sp>
      <p:sp>
        <p:nvSpPr>
          <p:cNvPr id="18" name="Text 16"/>
          <p:cNvSpPr/>
          <p:nvPr/>
        </p:nvSpPr>
        <p:spPr>
          <a:xfrm>
            <a:off x="5815584" y="2057400"/>
            <a:ext cx="658368" cy="658368"/>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3</a:t>
            </a:r>
            <a:endParaRPr lang="en-US" sz="1700" dirty="0"/>
          </a:p>
        </p:txBody>
      </p:sp>
      <p:sp>
        <p:nvSpPr>
          <p:cNvPr id="19" name="Text 17"/>
          <p:cNvSpPr/>
          <p:nvPr/>
        </p:nvSpPr>
        <p:spPr>
          <a:xfrm>
            <a:off x="5175504" y="2770632"/>
            <a:ext cx="1938528" cy="548640"/>
          </a:xfrm>
          <a:prstGeom prst="rect">
            <a:avLst/>
          </a:prstGeom>
          <a:noFill/>
          <a:ln/>
        </p:spPr>
        <p:txBody>
          <a:bodyPr wrap="square" lIns="0" tIns="0" rIns="0" bIns="0" rtlCol="0" anchor="ctr"/>
          <a:lstStyle/>
          <a:p>
            <a:pPr marL="0" indent="0" algn="ctr">
              <a:lnSpc>
                <a:spcPts val="1500"/>
              </a:lnSpc>
              <a:buNone/>
            </a:pPr>
            <a:r>
              <a:rPr lang="en-US" sz="1400" b="1" dirty="0">
                <a:solidFill>
                  <a:srgbClr val="B6F500"/>
                </a:solidFill>
                <a:latin typeface="Segoe UI Semibold" pitchFamily="34" charset="0"/>
                <a:ea typeface="Segoe UI Semibold" pitchFamily="34" charset="-122"/>
                <a:cs typeface="Segoe UI Semibold" pitchFamily="34" charset="-120"/>
              </a:rPr>
              <a:t>Customer Support</a:t>
            </a:r>
            <a:endParaRPr lang="en-US" sz="1400" dirty="0"/>
          </a:p>
        </p:txBody>
      </p:sp>
      <p:sp>
        <p:nvSpPr>
          <p:cNvPr id="20" name="Text 18"/>
          <p:cNvSpPr/>
          <p:nvPr/>
        </p:nvSpPr>
        <p:spPr>
          <a:xfrm>
            <a:off x="5212080" y="3264408"/>
            <a:ext cx="1865376" cy="594360"/>
          </a:xfrm>
          <a:prstGeom prst="rect">
            <a:avLst/>
          </a:prstGeom>
          <a:noFill/>
          <a:ln/>
        </p:spPr>
        <p:txBody>
          <a:bodyPr wrap="square" lIns="0" tIns="0" rIns="0" bIns="0" rtlCol="0" anchor="t"/>
          <a:lstStyle/>
          <a:p>
            <a:pPr marL="0" indent="0" algn="ctr">
              <a:lnSpc>
                <a:spcPts val="1200"/>
              </a:lnSpc>
              <a:buNone/>
            </a:pPr>
            <a:r>
              <a:rPr lang="en-US" sz="1000" dirty="0">
                <a:solidFill>
                  <a:srgbClr val="C9D1DA"/>
                </a:solidFill>
                <a:latin typeface="Segoe UI" pitchFamily="34" charset="0"/>
                <a:ea typeface="Segoe UI" pitchFamily="34" charset="-122"/>
                <a:cs typeface="Segoe UI" pitchFamily="34" charset="-120"/>
              </a:rPr>
              <a:t>Resolves tickets end-to-end, 24/7.</a:t>
            </a:r>
            <a:endParaRPr lang="en-US" sz="1000" dirty="0"/>
          </a:p>
        </p:txBody>
      </p:sp>
      <p:sp>
        <p:nvSpPr>
          <p:cNvPr id="21" name="Text 19"/>
          <p:cNvSpPr/>
          <p:nvPr/>
        </p:nvSpPr>
        <p:spPr>
          <a:xfrm>
            <a:off x="5193792" y="3657600"/>
            <a:ext cx="1901952" cy="384048"/>
          </a:xfrm>
          <a:prstGeom prst="rect">
            <a:avLst/>
          </a:prstGeom>
          <a:noFill/>
          <a:ln/>
        </p:spPr>
        <p:txBody>
          <a:bodyPr wrap="square" lIns="0" tIns="0" rIns="0" bIns="0" rtlCol="0" anchor="ctr"/>
          <a:lstStyle/>
          <a:p>
            <a:pPr marL="0" indent="0" algn="ctr">
              <a:lnSpc>
                <a:spcPts val="1100"/>
              </a:lnSpc>
              <a:buNone/>
            </a:pPr>
            <a:r>
              <a:rPr lang="en-US" sz="950" b="1" dirty="0">
                <a:solidFill>
                  <a:srgbClr val="FFFFFF"/>
                </a:solidFill>
                <a:latin typeface="Segoe UI Semibold" pitchFamily="34" charset="0"/>
                <a:ea typeface="Segoe UI Semibold" pitchFamily="34" charset="-122"/>
                <a:cs typeface="Segoe UI Semibold" pitchFamily="34" charset="-120"/>
              </a:rPr>
              <a:t>Klarna: 2.3M chats/month</a:t>
            </a:r>
            <a:endParaRPr lang="en-US" sz="950" dirty="0"/>
          </a:p>
        </p:txBody>
      </p:sp>
      <p:sp>
        <p:nvSpPr>
          <p:cNvPr id="22" name="Shape 20"/>
          <p:cNvSpPr/>
          <p:nvPr/>
        </p:nvSpPr>
        <p:spPr>
          <a:xfrm>
            <a:off x="7351776" y="1783080"/>
            <a:ext cx="2121408" cy="2331720"/>
          </a:xfrm>
          <a:prstGeom prst="roundRect">
            <a:avLst>
              <a:gd name="adj" fmla="val 3879"/>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3" name="Shape 21"/>
          <p:cNvSpPr/>
          <p:nvPr/>
        </p:nvSpPr>
        <p:spPr>
          <a:xfrm>
            <a:off x="8083296" y="2057400"/>
            <a:ext cx="658368" cy="658368"/>
          </a:xfrm>
          <a:prstGeom prst="ellipse">
            <a:avLst/>
          </a:prstGeom>
          <a:solidFill>
            <a:srgbClr val="B6F500"/>
          </a:solidFill>
          <a:ln/>
        </p:spPr>
        <p:txBody>
          <a:bodyPr/>
          <a:lstStyle/>
          <a:p>
            <a:endParaRPr lang="en-IN"/>
          </a:p>
        </p:txBody>
      </p:sp>
      <p:sp>
        <p:nvSpPr>
          <p:cNvPr id="24" name="Text 22"/>
          <p:cNvSpPr/>
          <p:nvPr/>
        </p:nvSpPr>
        <p:spPr>
          <a:xfrm>
            <a:off x="8083296" y="2057400"/>
            <a:ext cx="658368" cy="658368"/>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4</a:t>
            </a:r>
            <a:endParaRPr lang="en-US" sz="1700" dirty="0"/>
          </a:p>
        </p:txBody>
      </p:sp>
      <p:sp>
        <p:nvSpPr>
          <p:cNvPr id="25" name="Text 23"/>
          <p:cNvSpPr/>
          <p:nvPr/>
        </p:nvSpPr>
        <p:spPr>
          <a:xfrm>
            <a:off x="7443216" y="2770632"/>
            <a:ext cx="1938528" cy="548640"/>
          </a:xfrm>
          <a:prstGeom prst="rect">
            <a:avLst/>
          </a:prstGeom>
          <a:noFill/>
          <a:ln/>
        </p:spPr>
        <p:txBody>
          <a:bodyPr wrap="square" lIns="0" tIns="0" rIns="0" bIns="0" rtlCol="0" anchor="ctr"/>
          <a:lstStyle/>
          <a:p>
            <a:pPr marL="0" indent="0" algn="ctr">
              <a:lnSpc>
                <a:spcPts val="1500"/>
              </a:lnSpc>
              <a:buNone/>
            </a:pPr>
            <a:r>
              <a:rPr lang="en-US" sz="1400" b="1" dirty="0">
                <a:solidFill>
                  <a:srgbClr val="B6F500"/>
                </a:solidFill>
                <a:latin typeface="Segoe UI Semibold" pitchFamily="34" charset="0"/>
                <a:ea typeface="Segoe UI Semibold" pitchFamily="34" charset="-122"/>
                <a:cs typeface="Segoe UI Semibold" pitchFamily="34" charset="-120"/>
              </a:rPr>
              <a:t>Healthcare</a:t>
            </a:r>
            <a:endParaRPr lang="en-US" sz="1400" dirty="0"/>
          </a:p>
        </p:txBody>
      </p:sp>
      <p:sp>
        <p:nvSpPr>
          <p:cNvPr id="26" name="Text 24"/>
          <p:cNvSpPr/>
          <p:nvPr/>
        </p:nvSpPr>
        <p:spPr>
          <a:xfrm>
            <a:off x="7479792" y="3264408"/>
            <a:ext cx="1865376" cy="594360"/>
          </a:xfrm>
          <a:prstGeom prst="rect">
            <a:avLst/>
          </a:prstGeom>
          <a:noFill/>
          <a:ln/>
        </p:spPr>
        <p:txBody>
          <a:bodyPr wrap="square" lIns="0" tIns="0" rIns="0" bIns="0" rtlCol="0" anchor="t"/>
          <a:lstStyle/>
          <a:p>
            <a:pPr marL="0" indent="0" algn="ctr">
              <a:lnSpc>
                <a:spcPts val="1200"/>
              </a:lnSpc>
              <a:buNone/>
            </a:pPr>
            <a:r>
              <a:rPr lang="en-US" sz="1000" dirty="0">
                <a:solidFill>
                  <a:srgbClr val="C9D1DA"/>
                </a:solidFill>
                <a:latin typeface="Segoe UI" pitchFamily="34" charset="0"/>
                <a:ea typeface="Segoe UI" pitchFamily="34" charset="-122"/>
                <a:cs typeface="Segoe UI" pitchFamily="34" charset="-120"/>
              </a:rPr>
              <a:t>Drafts clinical notes and assists documentation.</a:t>
            </a:r>
            <a:endParaRPr lang="en-US" sz="1000" dirty="0"/>
          </a:p>
        </p:txBody>
      </p:sp>
      <p:sp>
        <p:nvSpPr>
          <p:cNvPr id="27" name="Text 25"/>
          <p:cNvSpPr/>
          <p:nvPr/>
        </p:nvSpPr>
        <p:spPr>
          <a:xfrm>
            <a:off x="7461504" y="3657600"/>
            <a:ext cx="1901952" cy="384048"/>
          </a:xfrm>
          <a:prstGeom prst="rect">
            <a:avLst/>
          </a:prstGeom>
          <a:noFill/>
          <a:ln/>
        </p:spPr>
        <p:txBody>
          <a:bodyPr wrap="square" lIns="0" tIns="0" rIns="0" bIns="0" rtlCol="0" anchor="ctr"/>
          <a:lstStyle/>
          <a:p>
            <a:pPr marL="0" indent="0" algn="ctr">
              <a:lnSpc>
                <a:spcPts val="1100"/>
              </a:lnSpc>
              <a:buNone/>
            </a:pPr>
            <a:r>
              <a:rPr lang="en-US" sz="950" b="1" dirty="0">
                <a:solidFill>
                  <a:srgbClr val="FFFFFF"/>
                </a:solidFill>
                <a:latin typeface="Segoe UI Semibold" pitchFamily="34" charset="0"/>
                <a:ea typeface="Segoe UI Semibold" pitchFamily="34" charset="-122"/>
                <a:cs typeface="Segoe UI Semibold" pitchFamily="34" charset="-120"/>
              </a:rPr>
              <a:t>~2 hrs/day saved per physician</a:t>
            </a:r>
            <a:endParaRPr lang="en-US" sz="950" dirty="0"/>
          </a:p>
        </p:txBody>
      </p:sp>
      <p:sp>
        <p:nvSpPr>
          <p:cNvPr id="28" name="Shape 26"/>
          <p:cNvSpPr/>
          <p:nvPr/>
        </p:nvSpPr>
        <p:spPr>
          <a:xfrm>
            <a:off x="9619488" y="1783080"/>
            <a:ext cx="2121408" cy="2331720"/>
          </a:xfrm>
          <a:prstGeom prst="roundRect">
            <a:avLst>
              <a:gd name="adj" fmla="val 3879"/>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9" name="Shape 27"/>
          <p:cNvSpPr/>
          <p:nvPr/>
        </p:nvSpPr>
        <p:spPr>
          <a:xfrm>
            <a:off x="10351008" y="2057400"/>
            <a:ext cx="658368" cy="658368"/>
          </a:xfrm>
          <a:prstGeom prst="ellipse">
            <a:avLst/>
          </a:prstGeom>
          <a:solidFill>
            <a:srgbClr val="B6F500"/>
          </a:solidFill>
          <a:ln/>
        </p:spPr>
        <p:txBody>
          <a:bodyPr/>
          <a:lstStyle/>
          <a:p>
            <a:endParaRPr lang="en-IN"/>
          </a:p>
        </p:txBody>
      </p:sp>
      <p:sp>
        <p:nvSpPr>
          <p:cNvPr id="30" name="Text 28"/>
          <p:cNvSpPr/>
          <p:nvPr/>
        </p:nvSpPr>
        <p:spPr>
          <a:xfrm>
            <a:off x="10351008" y="2057400"/>
            <a:ext cx="658368" cy="658368"/>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5</a:t>
            </a:r>
            <a:endParaRPr lang="en-US" sz="1700" dirty="0"/>
          </a:p>
        </p:txBody>
      </p:sp>
      <p:sp>
        <p:nvSpPr>
          <p:cNvPr id="31" name="Text 29"/>
          <p:cNvSpPr/>
          <p:nvPr/>
        </p:nvSpPr>
        <p:spPr>
          <a:xfrm>
            <a:off x="9710928" y="2770632"/>
            <a:ext cx="1938528" cy="548640"/>
          </a:xfrm>
          <a:prstGeom prst="rect">
            <a:avLst/>
          </a:prstGeom>
          <a:noFill/>
          <a:ln/>
        </p:spPr>
        <p:txBody>
          <a:bodyPr wrap="square" lIns="0" tIns="0" rIns="0" bIns="0" rtlCol="0" anchor="ctr"/>
          <a:lstStyle/>
          <a:p>
            <a:pPr marL="0" indent="0" algn="ctr">
              <a:lnSpc>
                <a:spcPts val="1500"/>
              </a:lnSpc>
              <a:buNone/>
            </a:pPr>
            <a:r>
              <a:rPr lang="en-US" sz="1400" b="1" dirty="0">
                <a:solidFill>
                  <a:srgbClr val="B6F500"/>
                </a:solidFill>
                <a:latin typeface="Segoe UI Semibold" pitchFamily="34" charset="0"/>
                <a:ea typeface="Segoe UI Semibold" pitchFamily="34" charset="-122"/>
                <a:cs typeface="Segoe UI Semibold" pitchFamily="34" charset="-120"/>
              </a:rPr>
              <a:t>Finance</a:t>
            </a:r>
            <a:endParaRPr lang="en-US" sz="1400" dirty="0"/>
          </a:p>
        </p:txBody>
      </p:sp>
      <p:sp>
        <p:nvSpPr>
          <p:cNvPr id="32" name="Text 30"/>
          <p:cNvSpPr/>
          <p:nvPr/>
        </p:nvSpPr>
        <p:spPr>
          <a:xfrm>
            <a:off x="9747504" y="3264408"/>
            <a:ext cx="1865376" cy="594360"/>
          </a:xfrm>
          <a:prstGeom prst="rect">
            <a:avLst/>
          </a:prstGeom>
          <a:noFill/>
          <a:ln/>
        </p:spPr>
        <p:txBody>
          <a:bodyPr wrap="square" lIns="0" tIns="0" rIns="0" bIns="0" rtlCol="0" anchor="t"/>
          <a:lstStyle/>
          <a:p>
            <a:pPr marL="0" indent="0" algn="ctr">
              <a:lnSpc>
                <a:spcPts val="1200"/>
              </a:lnSpc>
              <a:buNone/>
            </a:pPr>
            <a:r>
              <a:rPr lang="en-US" sz="1000" dirty="0">
                <a:solidFill>
                  <a:srgbClr val="C9D1DA"/>
                </a:solidFill>
                <a:latin typeface="Segoe UI" pitchFamily="34" charset="0"/>
                <a:ea typeface="Segoe UI" pitchFamily="34" charset="-122"/>
                <a:cs typeface="Segoe UI" pitchFamily="34" charset="-120"/>
              </a:rPr>
              <a:t>Fraud checks, reports and trade settlement.</a:t>
            </a:r>
            <a:endParaRPr lang="en-US" sz="1000" dirty="0"/>
          </a:p>
        </p:txBody>
      </p:sp>
      <p:sp>
        <p:nvSpPr>
          <p:cNvPr id="33" name="Text 31"/>
          <p:cNvSpPr/>
          <p:nvPr/>
        </p:nvSpPr>
        <p:spPr>
          <a:xfrm>
            <a:off x="9729216" y="3657600"/>
            <a:ext cx="1901952" cy="384048"/>
          </a:xfrm>
          <a:prstGeom prst="rect">
            <a:avLst/>
          </a:prstGeom>
          <a:noFill/>
          <a:ln/>
        </p:spPr>
        <p:txBody>
          <a:bodyPr wrap="square" lIns="0" tIns="0" rIns="0" bIns="0" rtlCol="0" anchor="ctr"/>
          <a:lstStyle/>
          <a:p>
            <a:pPr marL="0" indent="0" algn="ctr">
              <a:lnSpc>
                <a:spcPts val="1100"/>
              </a:lnSpc>
              <a:buNone/>
            </a:pPr>
            <a:r>
              <a:rPr lang="en-US" sz="950" b="1" dirty="0">
                <a:solidFill>
                  <a:srgbClr val="FFFFFF"/>
                </a:solidFill>
                <a:latin typeface="Segoe UI Semibold" pitchFamily="34" charset="0"/>
                <a:ea typeface="Segoe UI Semibold" pitchFamily="34" charset="-122"/>
                <a:cs typeface="Segoe UI Semibold" pitchFamily="34" charset="-120"/>
              </a:rPr>
              <a:t>JPMorgan: 450+ use cases</a:t>
            </a:r>
            <a:endParaRPr lang="en-US" sz="950" dirty="0"/>
          </a:p>
        </p:txBody>
      </p:sp>
      <p:sp>
        <p:nvSpPr>
          <p:cNvPr id="34" name="Shape 32"/>
          <p:cNvSpPr/>
          <p:nvPr/>
        </p:nvSpPr>
        <p:spPr>
          <a:xfrm>
            <a:off x="548640" y="4434840"/>
            <a:ext cx="11091672" cy="914400"/>
          </a:xfrm>
          <a:prstGeom prst="roundRect">
            <a:avLst>
              <a:gd name="adj" fmla="val 8000"/>
            </a:avLst>
          </a:prstGeom>
          <a:solidFill>
            <a:srgbClr val="1E2127"/>
          </a:solidFill>
          <a:ln w="15875">
            <a:solidFill>
              <a:srgbClr val="B6F500"/>
            </a:solidFill>
            <a:prstDash val="solid"/>
          </a:ln>
        </p:spPr>
        <p:txBody>
          <a:bodyPr/>
          <a:lstStyle/>
          <a:p>
            <a:endParaRPr lang="en-IN"/>
          </a:p>
        </p:txBody>
      </p:sp>
      <p:sp>
        <p:nvSpPr>
          <p:cNvPr id="35" name="Shape 33"/>
          <p:cNvSpPr/>
          <p:nvPr/>
        </p:nvSpPr>
        <p:spPr>
          <a:xfrm>
            <a:off x="548640" y="4434840"/>
            <a:ext cx="128016" cy="914400"/>
          </a:xfrm>
          <a:prstGeom prst="rect">
            <a:avLst/>
          </a:prstGeom>
          <a:solidFill>
            <a:srgbClr val="B6F500"/>
          </a:solidFill>
          <a:ln/>
        </p:spPr>
        <p:txBody>
          <a:bodyPr/>
          <a:lstStyle/>
          <a:p>
            <a:endParaRPr lang="en-IN"/>
          </a:p>
        </p:txBody>
      </p:sp>
      <p:sp>
        <p:nvSpPr>
          <p:cNvPr id="36" name="Text 34"/>
          <p:cNvSpPr/>
          <p:nvPr/>
        </p:nvSpPr>
        <p:spPr>
          <a:xfrm>
            <a:off x="868680" y="4434840"/>
            <a:ext cx="10515600" cy="914400"/>
          </a:xfrm>
          <a:prstGeom prst="rect">
            <a:avLst/>
          </a:prstGeom>
          <a:noFill/>
          <a:ln/>
        </p:spPr>
        <p:txBody>
          <a:bodyPr wrap="square" lIns="0" tIns="0" rIns="0" bIns="0" rtlCol="0" anchor="ctr"/>
          <a:lstStyle/>
          <a:p>
            <a:pPr marL="0" indent="0">
              <a:lnSpc>
                <a:spcPts val="1800"/>
              </a:lnSpc>
              <a:buNone/>
            </a:pPr>
            <a:r>
              <a:rPr lang="en-US" sz="1200" b="1" kern="0" spc="100" dirty="0">
                <a:solidFill>
                  <a:srgbClr val="B6F500"/>
                </a:solidFill>
                <a:latin typeface="Segoe UI" pitchFamily="34" charset="0"/>
                <a:ea typeface="Segoe UI" pitchFamily="34" charset="-122"/>
                <a:cs typeface="Segoe UI" pitchFamily="34" charset="-120"/>
              </a:rPr>
              <a:t>INTERACTIVE QUESTION 2   </a:t>
            </a:r>
            <a:r>
              <a:rPr lang="en-US" sz="1300" dirty="0">
                <a:solidFill>
                  <a:srgbClr val="C9D1DA"/>
                </a:solidFill>
                <a:latin typeface="Segoe UI" pitchFamily="34" charset="0"/>
                <a:ea typeface="Segoe UI" pitchFamily="34" charset="-122"/>
                <a:cs typeface="Segoe UI" pitchFamily="34" charset="-120"/>
              </a:rPr>
              <a:t>Which task in YOUR internship would you hand to an agent first — and what tools would it need to do it?</a:t>
            </a:r>
            <a:endParaRPr lang="en-US" sz="1200" dirty="0"/>
          </a:p>
        </p:txBody>
      </p:sp>
      <p:sp>
        <p:nvSpPr>
          <p:cNvPr id="37" name="Text 35"/>
          <p:cNvSpPr/>
          <p:nvPr/>
        </p:nvSpPr>
        <p:spPr>
          <a:xfrm>
            <a:off x="548640" y="5989320"/>
            <a:ext cx="11091672" cy="274320"/>
          </a:xfrm>
          <a:prstGeom prst="rect">
            <a:avLst/>
          </a:prstGeom>
          <a:noFill/>
          <a:ln/>
        </p:spPr>
        <p:txBody>
          <a:bodyPr wrap="square" lIns="0" tIns="0" rIns="0" bIns="0" rtlCol="0" anchor="ctr"/>
          <a:lstStyle/>
          <a:p>
            <a:pPr marL="0" indent="0" algn="ctr">
              <a:buNone/>
            </a:pPr>
            <a:r>
              <a:rPr lang="en-US" sz="900" i="1" dirty="0">
                <a:solidFill>
                  <a:srgbClr val="9AA6B2"/>
                </a:solidFill>
                <a:latin typeface="Segoe UI" pitchFamily="34" charset="0"/>
                <a:ea typeface="Segoe UI" pitchFamily="34" charset="-122"/>
                <a:cs typeface="Segoe UI" pitchFamily="34" charset="-120"/>
              </a:rPr>
              <a:t>Figures are illustrative, drawn from 2025–2026 industry reports; treat exact numbers as directional.</a:t>
            </a:r>
            <a:endParaRPr lang="en-US" sz="900" dirty="0"/>
          </a:p>
        </p:txBody>
      </p:sp>
      <p:sp>
        <p:nvSpPr>
          <p:cNvPr id="38" name="Shape 36"/>
          <p:cNvSpPr/>
          <p:nvPr/>
        </p:nvSpPr>
        <p:spPr>
          <a:xfrm>
            <a:off x="548640" y="6437376"/>
            <a:ext cx="292608" cy="64008"/>
          </a:xfrm>
          <a:prstGeom prst="rect">
            <a:avLst/>
          </a:prstGeom>
          <a:solidFill>
            <a:srgbClr val="B6F500"/>
          </a:solidFill>
          <a:ln/>
        </p:spPr>
        <p:txBody>
          <a:bodyPr/>
          <a:lstStyle/>
          <a:p>
            <a:endParaRPr lang="en-IN"/>
          </a:p>
        </p:txBody>
      </p:sp>
      <p:sp>
        <p:nvSpPr>
          <p:cNvPr id="39" name="Text 3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40" name="Text 3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SEE IT IN ACTION</a:t>
            </a:r>
            <a:endParaRPr lang="en-US" sz="1250" dirty="0"/>
          </a:p>
        </p:txBody>
      </p:sp>
      <p:sp>
        <p:nvSpPr>
          <p:cNvPr id="3" name="Text 1"/>
          <p:cNvSpPr/>
          <p:nvPr/>
        </p:nvSpPr>
        <p:spPr>
          <a:xfrm>
            <a:off x="548640" y="676656"/>
            <a:ext cx="667512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Demo: An AI Travel Planner Agent</a:t>
            </a:r>
            <a:endParaRPr lang="en-US" sz="3000" dirty="0"/>
          </a:p>
        </p:txBody>
      </p:sp>
      <p:pic>
        <p:nvPicPr>
          <p:cNvPr id="4" name="Image 0" descr="/agent/turn2/workspace/images/image-8aeb751b5be49697579756b285315d39.jpg"/>
          <p:cNvPicPr>
            <a:picLocks noChangeAspect="1"/>
          </p:cNvPicPr>
          <p:nvPr/>
        </p:nvPicPr>
        <p:blipFill>
          <a:blip r:embed="rId3"/>
          <a:srcRect l="3239" r="3239"/>
          <a:stretch/>
        </p:blipFill>
        <p:spPr>
          <a:xfrm>
            <a:off x="7086600" y="1417320"/>
            <a:ext cx="4553712" cy="3246120"/>
          </a:xfrm>
          <a:prstGeom prst="rect">
            <a:avLst/>
          </a:prstGeom>
        </p:spPr>
      </p:pic>
      <p:sp>
        <p:nvSpPr>
          <p:cNvPr id="5" name="Shape 2"/>
          <p:cNvSpPr/>
          <p:nvPr/>
        </p:nvSpPr>
        <p:spPr>
          <a:xfrm>
            <a:off x="7086600" y="1417320"/>
            <a:ext cx="4553712" cy="3246120"/>
          </a:xfrm>
          <a:prstGeom prst="rect">
            <a:avLst/>
          </a:prstGeom>
          <a:ln w="12700">
            <a:solidFill>
              <a:srgbClr val="353B45"/>
            </a:solidFill>
            <a:prstDash val="solid"/>
          </a:ln>
        </p:spPr>
        <p:txBody>
          <a:bodyPr/>
          <a:lstStyle/>
          <a:p>
            <a:endParaRPr lang="en-IN"/>
          </a:p>
        </p:txBody>
      </p:sp>
      <p:sp>
        <p:nvSpPr>
          <p:cNvPr id="6" name="Text 3"/>
          <p:cNvSpPr/>
          <p:nvPr/>
        </p:nvSpPr>
        <p:spPr>
          <a:xfrm>
            <a:off x="548640" y="1600200"/>
            <a:ext cx="6309360" cy="320040"/>
          </a:xfrm>
          <a:prstGeom prst="rect">
            <a:avLst/>
          </a:prstGeom>
          <a:noFill/>
          <a:ln/>
        </p:spPr>
        <p:txBody>
          <a:bodyPr wrap="square" lIns="0" tIns="0" rIns="0" bIns="0" rtlCol="0" anchor="ctr"/>
          <a:lstStyle/>
          <a:p>
            <a:pPr marL="0" indent="0">
              <a:buNone/>
            </a:pPr>
            <a:r>
              <a:rPr lang="en-US" sz="1200" dirty="0">
                <a:solidFill>
                  <a:srgbClr val="9AA6B2"/>
                </a:solidFill>
                <a:latin typeface="Segoe UI" pitchFamily="34" charset="0"/>
                <a:ea typeface="Segoe UI" pitchFamily="34" charset="-122"/>
                <a:cs typeface="Segoe UI" pitchFamily="34" charset="-120"/>
              </a:rPr>
              <a:t>Goal given to the agent:</a:t>
            </a:r>
            <a:endParaRPr lang="en-US" sz="1200" dirty="0"/>
          </a:p>
        </p:txBody>
      </p:sp>
      <p:sp>
        <p:nvSpPr>
          <p:cNvPr id="7" name="Text 4"/>
          <p:cNvSpPr/>
          <p:nvPr/>
        </p:nvSpPr>
        <p:spPr>
          <a:xfrm>
            <a:off x="548640" y="1901952"/>
            <a:ext cx="6355080" cy="457200"/>
          </a:xfrm>
          <a:prstGeom prst="rect">
            <a:avLst/>
          </a:prstGeom>
          <a:noFill/>
          <a:ln/>
        </p:spPr>
        <p:txBody>
          <a:bodyPr wrap="square" lIns="0" tIns="0" rIns="0" bIns="0" rtlCol="0" anchor="ctr"/>
          <a:lstStyle/>
          <a:p>
            <a:pPr marL="0" indent="0">
              <a:buNone/>
            </a:pPr>
            <a:r>
              <a:rPr lang="en-US" sz="1700" b="1" i="1" dirty="0">
                <a:solidFill>
                  <a:srgbClr val="B6F500"/>
                </a:solidFill>
                <a:latin typeface="Segoe UI Semibold" pitchFamily="34" charset="0"/>
                <a:ea typeface="Segoe UI Semibold" pitchFamily="34" charset="-122"/>
                <a:cs typeface="Segoe UI Semibold" pitchFamily="34" charset="-120"/>
              </a:rPr>
              <a:t>“Plan a 3-day Goa trip under ₹20,000.”</a:t>
            </a:r>
            <a:endParaRPr lang="en-US" sz="1700" dirty="0"/>
          </a:p>
        </p:txBody>
      </p:sp>
      <p:sp>
        <p:nvSpPr>
          <p:cNvPr id="8" name="Shape 5"/>
          <p:cNvSpPr/>
          <p:nvPr/>
        </p:nvSpPr>
        <p:spPr>
          <a:xfrm>
            <a:off x="548640" y="2606040"/>
            <a:ext cx="475488" cy="475488"/>
          </a:xfrm>
          <a:prstGeom prst="ellipse">
            <a:avLst/>
          </a:prstGeom>
          <a:solidFill>
            <a:srgbClr val="B6F500"/>
          </a:solidFill>
          <a:ln/>
        </p:spPr>
        <p:txBody>
          <a:bodyPr/>
          <a:lstStyle/>
          <a:p>
            <a:endParaRPr lang="en-IN"/>
          </a:p>
        </p:txBody>
      </p:sp>
      <p:sp>
        <p:nvSpPr>
          <p:cNvPr id="9" name="Text 6"/>
          <p:cNvSpPr/>
          <p:nvPr/>
        </p:nvSpPr>
        <p:spPr>
          <a:xfrm>
            <a:off x="548640" y="2606040"/>
            <a:ext cx="475488" cy="475488"/>
          </a:xfrm>
          <a:prstGeom prst="rect">
            <a:avLst/>
          </a:prstGeom>
          <a:noFill/>
          <a:ln/>
        </p:spPr>
        <p:txBody>
          <a:bodyPr wrap="square" lIns="0" tIns="0" rIns="0" bIns="0" rtlCol="0" anchor="ctr"/>
          <a:lstStyle/>
          <a:p>
            <a:pPr marL="0" indent="0" algn="ctr">
              <a:buNone/>
            </a:pPr>
            <a:r>
              <a:rPr lang="en-US" sz="1300" b="1" dirty="0">
                <a:solidFill>
                  <a:srgbClr val="0F1012"/>
                </a:solidFill>
                <a:latin typeface="Segoe UI Semibold" pitchFamily="34" charset="0"/>
                <a:ea typeface="Segoe UI Semibold" pitchFamily="34" charset="-122"/>
                <a:cs typeface="Segoe UI Semibold" pitchFamily="34" charset="-120"/>
              </a:rPr>
              <a:t>1</a:t>
            </a:r>
            <a:endParaRPr lang="en-US" sz="1300" dirty="0"/>
          </a:p>
        </p:txBody>
      </p:sp>
      <p:sp>
        <p:nvSpPr>
          <p:cNvPr id="10" name="Text 7"/>
          <p:cNvSpPr/>
          <p:nvPr/>
        </p:nvSpPr>
        <p:spPr>
          <a:xfrm>
            <a:off x="1261872" y="2578608"/>
            <a:ext cx="5623560" cy="50292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Plans  </a:t>
            </a:r>
            <a:r>
              <a:rPr lang="en-US" sz="1200" dirty="0">
                <a:solidFill>
                  <a:srgbClr val="C9D1DA"/>
                </a:solidFill>
                <a:latin typeface="Segoe UI" pitchFamily="34" charset="0"/>
                <a:ea typeface="Segoe UI" pitchFamily="34" charset="-122"/>
                <a:cs typeface="Segoe UI" pitchFamily="34" charset="-120"/>
              </a:rPr>
              <a:t>— splits into flights, stay, activities, budget</a:t>
            </a:r>
            <a:endParaRPr lang="en-US" sz="1350" dirty="0"/>
          </a:p>
        </p:txBody>
      </p:sp>
      <p:sp>
        <p:nvSpPr>
          <p:cNvPr id="11" name="Shape 8"/>
          <p:cNvSpPr/>
          <p:nvPr/>
        </p:nvSpPr>
        <p:spPr>
          <a:xfrm>
            <a:off x="786384" y="3063240"/>
            <a:ext cx="0" cy="201168"/>
          </a:xfrm>
          <a:prstGeom prst="line">
            <a:avLst/>
          </a:prstGeom>
          <a:noFill/>
          <a:ln w="19050">
            <a:solidFill>
              <a:srgbClr val="8FBF00"/>
            </a:solidFill>
            <a:prstDash val="solid"/>
          </a:ln>
        </p:spPr>
        <p:txBody>
          <a:bodyPr/>
          <a:lstStyle/>
          <a:p>
            <a:endParaRPr lang="en-IN"/>
          </a:p>
        </p:txBody>
      </p:sp>
      <p:sp>
        <p:nvSpPr>
          <p:cNvPr id="12" name="Shape 9"/>
          <p:cNvSpPr/>
          <p:nvPr/>
        </p:nvSpPr>
        <p:spPr>
          <a:xfrm>
            <a:off x="548640" y="3264408"/>
            <a:ext cx="475488" cy="475488"/>
          </a:xfrm>
          <a:prstGeom prst="ellipse">
            <a:avLst/>
          </a:prstGeom>
          <a:solidFill>
            <a:srgbClr val="B6F500"/>
          </a:solidFill>
          <a:ln/>
        </p:spPr>
        <p:txBody>
          <a:bodyPr/>
          <a:lstStyle/>
          <a:p>
            <a:endParaRPr lang="en-IN"/>
          </a:p>
        </p:txBody>
      </p:sp>
      <p:sp>
        <p:nvSpPr>
          <p:cNvPr id="13" name="Text 10"/>
          <p:cNvSpPr/>
          <p:nvPr/>
        </p:nvSpPr>
        <p:spPr>
          <a:xfrm>
            <a:off x="548640" y="3264408"/>
            <a:ext cx="475488" cy="475488"/>
          </a:xfrm>
          <a:prstGeom prst="rect">
            <a:avLst/>
          </a:prstGeom>
          <a:noFill/>
          <a:ln/>
        </p:spPr>
        <p:txBody>
          <a:bodyPr wrap="square" lIns="0" tIns="0" rIns="0" bIns="0" rtlCol="0" anchor="ctr"/>
          <a:lstStyle/>
          <a:p>
            <a:pPr marL="0" indent="0" algn="ctr">
              <a:buNone/>
            </a:pPr>
            <a:r>
              <a:rPr lang="en-US" sz="1300" b="1" dirty="0">
                <a:solidFill>
                  <a:srgbClr val="0F1012"/>
                </a:solidFill>
                <a:latin typeface="Segoe UI Semibold" pitchFamily="34" charset="0"/>
                <a:ea typeface="Segoe UI Semibold" pitchFamily="34" charset="-122"/>
                <a:cs typeface="Segoe UI Semibold" pitchFamily="34" charset="-120"/>
              </a:rPr>
              <a:t>2</a:t>
            </a:r>
            <a:endParaRPr lang="en-US" sz="1300" dirty="0"/>
          </a:p>
        </p:txBody>
      </p:sp>
      <p:sp>
        <p:nvSpPr>
          <p:cNvPr id="14" name="Text 11"/>
          <p:cNvSpPr/>
          <p:nvPr/>
        </p:nvSpPr>
        <p:spPr>
          <a:xfrm>
            <a:off x="1261872" y="3236976"/>
            <a:ext cx="5623560" cy="50292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Searches  </a:t>
            </a:r>
            <a:r>
              <a:rPr lang="en-US" sz="1200" dirty="0">
                <a:solidFill>
                  <a:srgbClr val="C9D1DA"/>
                </a:solidFill>
                <a:latin typeface="Segoe UI" pitchFamily="34" charset="0"/>
                <a:ea typeface="Segoe UI" pitchFamily="34" charset="-122"/>
                <a:cs typeface="Segoe UI" pitchFamily="34" charset="-120"/>
              </a:rPr>
              <a:t>— calls travel &amp; maps tools for live options</a:t>
            </a:r>
            <a:endParaRPr lang="en-US" sz="1350" dirty="0"/>
          </a:p>
        </p:txBody>
      </p:sp>
      <p:sp>
        <p:nvSpPr>
          <p:cNvPr id="15" name="Shape 12"/>
          <p:cNvSpPr/>
          <p:nvPr/>
        </p:nvSpPr>
        <p:spPr>
          <a:xfrm>
            <a:off x="786384" y="3721608"/>
            <a:ext cx="0" cy="201168"/>
          </a:xfrm>
          <a:prstGeom prst="line">
            <a:avLst/>
          </a:prstGeom>
          <a:noFill/>
          <a:ln w="19050">
            <a:solidFill>
              <a:srgbClr val="8FBF00"/>
            </a:solidFill>
            <a:prstDash val="solid"/>
          </a:ln>
        </p:spPr>
        <p:txBody>
          <a:bodyPr/>
          <a:lstStyle/>
          <a:p>
            <a:endParaRPr lang="en-IN"/>
          </a:p>
        </p:txBody>
      </p:sp>
      <p:sp>
        <p:nvSpPr>
          <p:cNvPr id="16" name="Shape 13"/>
          <p:cNvSpPr/>
          <p:nvPr/>
        </p:nvSpPr>
        <p:spPr>
          <a:xfrm>
            <a:off x="548640" y="3922776"/>
            <a:ext cx="475488" cy="475488"/>
          </a:xfrm>
          <a:prstGeom prst="ellipse">
            <a:avLst/>
          </a:prstGeom>
          <a:solidFill>
            <a:srgbClr val="B6F500"/>
          </a:solidFill>
          <a:ln/>
        </p:spPr>
        <p:txBody>
          <a:bodyPr/>
          <a:lstStyle/>
          <a:p>
            <a:endParaRPr lang="en-IN"/>
          </a:p>
        </p:txBody>
      </p:sp>
      <p:sp>
        <p:nvSpPr>
          <p:cNvPr id="17" name="Text 14"/>
          <p:cNvSpPr/>
          <p:nvPr/>
        </p:nvSpPr>
        <p:spPr>
          <a:xfrm>
            <a:off x="548640" y="3922776"/>
            <a:ext cx="475488" cy="475488"/>
          </a:xfrm>
          <a:prstGeom prst="rect">
            <a:avLst/>
          </a:prstGeom>
          <a:noFill/>
          <a:ln/>
        </p:spPr>
        <p:txBody>
          <a:bodyPr wrap="square" lIns="0" tIns="0" rIns="0" bIns="0" rtlCol="0" anchor="ctr"/>
          <a:lstStyle/>
          <a:p>
            <a:pPr marL="0" indent="0" algn="ctr">
              <a:buNone/>
            </a:pPr>
            <a:r>
              <a:rPr lang="en-US" sz="1300" b="1" dirty="0">
                <a:solidFill>
                  <a:srgbClr val="0F1012"/>
                </a:solidFill>
                <a:latin typeface="Segoe UI Semibold" pitchFamily="34" charset="0"/>
                <a:ea typeface="Segoe UI Semibold" pitchFamily="34" charset="-122"/>
                <a:cs typeface="Segoe UI Semibold" pitchFamily="34" charset="-120"/>
              </a:rPr>
              <a:t>3</a:t>
            </a:r>
            <a:endParaRPr lang="en-US" sz="1300" dirty="0"/>
          </a:p>
        </p:txBody>
      </p:sp>
      <p:sp>
        <p:nvSpPr>
          <p:cNvPr id="18" name="Text 15"/>
          <p:cNvSpPr/>
          <p:nvPr/>
        </p:nvSpPr>
        <p:spPr>
          <a:xfrm>
            <a:off x="1261872" y="3895344"/>
            <a:ext cx="5623560" cy="50292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Compares  </a:t>
            </a:r>
            <a:r>
              <a:rPr lang="en-US" sz="1200" dirty="0">
                <a:solidFill>
                  <a:srgbClr val="C9D1DA"/>
                </a:solidFill>
                <a:latin typeface="Segoe UI" pitchFamily="34" charset="0"/>
                <a:ea typeface="Segoe UI" pitchFamily="34" charset="-122"/>
                <a:cs typeface="Segoe UI" pitchFamily="34" charset="-120"/>
              </a:rPr>
              <a:t>— weighs price, ratings and timings</a:t>
            </a:r>
            <a:endParaRPr lang="en-US" sz="1350" dirty="0"/>
          </a:p>
        </p:txBody>
      </p:sp>
      <p:sp>
        <p:nvSpPr>
          <p:cNvPr id="19" name="Shape 16"/>
          <p:cNvSpPr/>
          <p:nvPr/>
        </p:nvSpPr>
        <p:spPr>
          <a:xfrm>
            <a:off x="786384" y="4379976"/>
            <a:ext cx="0" cy="201168"/>
          </a:xfrm>
          <a:prstGeom prst="line">
            <a:avLst/>
          </a:prstGeom>
          <a:noFill/>
          <a:ln w="19050">
            <a:solidFill>
              <a:srgbClr val="8FBF00"/>
            </a:solidFill>
            <a:prstDash val="solid"/>
          </a:ln>
        </p:spPr>
        <p:txBody>
          <a:bodyPr/>
          <a:lstStyle/>
          <a:p>
            <a:endParaRPr lang="en-IN"/>
          </a:p>
        </p:txBody>
      </p:sp>
      <p:sp>
        <p:nvSpPr>
          <p:cNvPr id="20" name="Shape 17"/>
          <p:cNvSpPr/>
          <p:nvPr/>
        </p:nvSpPr>
        <p:spPr>
          <a:xfrm>
            <a:off x="548640" y="4581144"/>
            <a:ext cx="475488" cy="475488"/>
          </a:xfrm>
          <a:prstGeom prst="ellipse">
            <a:avLst/>
          </a:prstGeom>
          <a:solidFill>
            <a:srgbClr val="B6F500"/>
          </a:solidFill>
          <a:ln/>
        </p:spPr>
        <p:txBody>
          <a:bodyPr/>
          <a:lstStyle/>
          <a:p>
            <a:endParaRPr lang="en-IN"/>
          </a:p>
        </p:txBody>
      </p:sp>
      <p:sp>
        <p:nvSpPr>
          <p:cNvPr id="21" name="Text 18"/>
          <p:cNvSpPr/>
          <p:nvPr/>
        </p:nvSpPr>
        <p:spPr>
          <a:xfrm>
            <a:off x="548640" y="4581144"/>
            <a:ext cx="475488" cy="475488"/>
          </a:xfrm>
          <a:prstGeom prst="rect">
            <a:avLst/>
          </a:prstGeom>
          <a:noFill/>
          <a:ln/>
        </p:spPr>
        <p:txBody>
          <a:bodyPr wrap="square" lIns="0" tIns="0" rIns="0" bIns="0" rtlCol="0" anchor="ctr"/>
          <a:lstStyle/>
          <a:p>
            <a:pPr marL="0" indent="0" algn="ctr">
              <a:buNone/>
            </a:pPr>
            <a:r>
              <a:rPr lang="en-US" sz="1300" b="1" dirty="0">
                <a:solidFill>
                  <a:srgbClr val="0F1012"/>
                </a:solidFill>
                <a:latin typeface="Segoe UI Semibold" pitchFamily="34" charset="0"/>
                <a:ea typeface="Segoe UI Semibold" pitchFamily="34" charset="-122"/>
                <a:cs typeface="Segoe UI Semibold" pitchFamily="34" charset="-120"/>
              </a:rPr>
              <a:t>4</a:t>
            </a:r>
            <a:endParaRPr lang="en-US" sz="1300" dirty="0"/>
          </a:p>
        </p:txBody>
      </p:sp>
      <p:sp>
        <p:nvSpPr>
          <p:cNvPr id="22" name="Text 19"/>
          <p:cNvSpPr/>
          <p:nvPr/>
        </p:nvSpPr>
        <p:spPr>
          <a:xfrm>
            <a:off x="1261872" y="4553712"/>
            <a:ext cx="5623560" cy="50292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Checks budget  </a:t>
            </a:r>
            <a:r>
              <a:rPr lang="en-US" sz="1200" dirty="0">
                <a:solidFill>
                  <a:srgbClr val="C9D1DA"/>
                </a:solidFill>
                <a:latin typeface="Segoe UI" pitchFamily="34" charset="0"/>
                <a:ea typeface="Segoe UI" pitchFamily="34" charset="-122"/>
                <a:cs typeface="Segoe UI" pitchFamily="34" charset="-120"/>
              </a:rPr>
              <a:t>— totals cost, drops over-budget picks</a:t>
            </a:r>
            <a:endParaRPr lang="en-US" sz="1350" dirty="0"/>
          </a:p>
        </p:txBody>
      </p:sp>
      <p:sp>
        <p:nvSpPr>
          <p:cNvPr id="23" name="Shape 20"/>
          <p:cNvSpPr/>
          <p:nvPr/>
        </p:nvSpPr>
        <p:spPr>
          <a:xfrm>
            <a:off x="786384" y="5038344"/>
            <a:ext cx="0" cy="201168"/>
          </a:xfrm>
          <a:prstGeom prst="line">
            <a:avLst/>
          </a:prstGeom>
          <a:noFill/>
          <a:ln w="19050">
            <a:solidFill>
              <a:srgbClr val="8FBF00"/>
            </a:solidFill>
            <a:prstDash val="solid"/>
          </a:ln>
        </p:spPr>
        <p:txBody>
          <a:bodyPr/>
          <a:lstStyle/>
          <a:p>
            <a:endParaRPr lang="en-IN"/>
          </a:p>
        </p:txBody>
      </p:sp>
      <p:sp>
        <p:nvSpPr>
          <p:cNvPr id="24" name="Shape 21"/>
          <p:cNvSpPr/>
          <p:nvPr/>
        </p:nvSpPr>
        <p:spPr>
          <a:xfrm>
            <a:off x="548640" y="5239512"/>
            <a:ext cx="475488" cy="475488"/>
          </a:xfrm>
          <a:prstGeom prst="ellipse">
            <a:avLst/>
          </a:prstGeom>
          <a:solidFill>
            <a:srgbClr val="B6F500"/>
          </a:solidFill>
          <a:ln/>
        </p:spPr>
        <p:txBody>
          <a:bodyPr/>
          <a:lstStyle/>
          <a:p>
            <a:endParaRPr lang="en-IN"/>
          </a:p>
        </p:txBody>
      </p:sp>
      <p:sp>
        <p:nvSpPr>
          <p:cNvPr id="25" name="Text 22"/>
          <p:cNvSpPr/>
          <p:nvPr/>
        </p:nvSpPr>
        <p:spPr>
          <a:xfrm>
            <a:off x="548640" y="5239512"/>
            <a:ext cx="475488" cy="475488"/>
          </a:xfrm>
          <a:prstGeom prst="rect">
            <a:avLst/>
          </a:prstGeom>
          <a:noFill/>
          <a:ln/>
        </p:spPr>
        <p:txBody>
          <a:bodyPr wrap="square" lIns="0" tIns="0" rIns="0" bIns="0" rtlCol="0" anchor="ctr"/>
          <a:lstStyle/>
          <a:p>
            <a:pPr marL="0" indent="0" algn="ctr">
              <a:buNone/>
            </a:pPr>
            <a:r>
              <a:rPr lang="en-US" sz="1300" b="1" dirty="0">
                <a:solidFill>
                  <a:srgbClr val="0F1012"/>
                </a:solidFill>
                <a:latin typeface="Segoe UI Semibold" pitchFamily="34" charset="0"/>
                <a:ea typeface="Segoe UI Semibold" pitchFamily="34" charset="-122"/>
                <a:cs typeface="Segoe UI Semibold" pitchFamily="34" charset="-120"/>
              </a:rPr>
              <a:t>5</a:t>
            </a:r>
            <a:endParaRPr lang="en-US" sz="1300" dirty="0"/>
          </a:p>
        </p:txBody>
      </p:sp>
      <p:sp>
        <p:nvSpPr>
          <p:cNvPr id="26" name="Text 23"/>
          <p:cNvSpPr/>
          <p:nvPr/>
        </p:nvSpPr>
        <p:spPr>
          <a:xfrm>
            <a:off x="1261872" y="5212080"/>
            <a:ext cx="5623560" cy="50292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Delivers  </a:t>
            </a:r>
            <a:r>
              <a:rPr lang="en-US" sz="1200" dirty="0">
                <a:solidFill>
                  <a:srgbClr val="C9D1DA"/>
                </a:solidFill>
                <a:latin typeface="Segoe UI" pitchFamily="34" charset="0"/>
                <a:ea typeface="Segoe UI" pitchFamily="34" charset="-122"/>
                <a:cs typeface="Segoe UI" pitchFamily="34" charset="-120"/>
              </a:rPr>
              <a:t>— returns a day-by-day itinerary</a:t>
            </a:r>
            <a:endParaRPr lang="en-US" sz="1350" dirty="0"/>
          </a:p>
        </p:txBody>
      </p:sp>
      <p:sp>
        <p:nvSpPr>
          <p:cNvPr id="27" name="Shape 24"/>
          <p:cNvSpPr/>
          <p:nvPr/>
        </p:nvSpPr>
        <p:spPr>
          <a:xfrm>
            <a:off x="7086600" y="4846320"/>
            <a:ext cx="4553712" cy="1188720"/>
          </a:xfrm>
          <a:prstGeom prst="roundRect">
            <a:avLst>
              <a:gd name="adj" fmla="val 6154"/>
            </a:avLst>
          </a:prstGeom>
          <a:solidFill>
            <a:srgbClr val="1E2127"/>
          </a:solidFill>
          <a:ln w="15875">
            <a:solidFill>
              <a:srgbClr val="B6F500"/>
            </a:solidFill>
            <a:prstDash val="dash"/>
          </a:ln>
        </p:spPr>
        <p:txBody>
          <a:bodyPr/>
          <a:lstStyle/>
          <a:p>
            <a:endParaRPr lang="en-IN"/>
          </a:p>
        </p:txBody>
      </p:sp>
      <p:sp>
        <p:nvSpPr>
          <p:cNvPr id="28" name="Text 25"/>
          <p:cNvSpPr/>
          <p:nvPr/>
        </p:nvSpPr>
        <p:spPr>
          <a:xfrm>
            <a:off x="7269480" y="4846320"/>
            <a:ext cx="4206240" cy="1188720"/>
          </a:xfrm>
          <a:prstGeom prst="rect">
            <a:avLst/>
          </a:prstGeom>
          <a:noFill/>
          <a:ln/>
        </p:spPr>
        <p:txBody>
          <a:bodyPr wrap="square" lIns="0" tIns="0" rIns="0" bIns="0" rtlCol="0" anchor="ctr"/>
          <a:lstStyle/>
          <a:p>
            <a:pPr marL="0" indent="0">
              <a:lnSpc>
                <a:spcPts val="1500"/>
              </a:lnSpc>
              <a:buNone/>
            </a:pPr>
            <a:r>
              <a:rPr lang="en-US" sz="1300" b="1" dirty="0">
                <a:solidFill>
                  <a:srgbClr val="B6F500"/>
                </a:solidFill>
                <a:latin typeface="Segoe UI" pitchFamily="34" charset="0"/>
                <a:ea typeface="Segoe UI" pitchFamily="34" charset="-122"/>
                <a:cs typeface="Segoe UI" pitchFamily="34" charset="-120"/>
              </a:rPr>
              <a:t>▶  LIVE DEMO
</a:t>
            </a:r>
            <a:r>
              <a:rPr lang="en-US" sz="1100" dirty="0">
                <a:solidFill>
                  <a:srgbClr val="C9D1DA"/>
                </a:solidFill>
                <a:latin typeface="Segoe UI" pitchFamily="34" charset="0"/>
                <a:ea typeface="Segoe UI" pitchFamily="34" charset="-122"/>
                <a:cs typeface="Segoe UI" pitchFamily="34" charset="-120"/>
              </a:rPr>
              <a:t>Run the agent here and narrate each loop as it plans, calls tools and adapts.</a:t>
            </a:r>
            <a:endParaRPr lang="en-US" sz="1300" dirty="0"/>
          </a:p>
        </p:txBody>
      </p:sp>
      <p:sp>
        <p:nvSpPr>
          <p:cNvPr id="29" name="Shape 26"/>
          <p:cNvSpPr/>
          <p:nvPr/>
        </p:nvSpPr>
        <p:spPr>
          <a:xfrm>
            <a:off x="548640" y="6437376"/>
            <a:ext cx="292608" cy="64008"/>
          </a:xfrm>
          <a:prstGeom prst="rect">
            <a:avLst/>
          </a:prstGeom>
          <a:solidFill>
            <a:srgbClr val="B6F500"/>
          </a:solidFill>
          <a:ln/>
        </p:spPr>
        <p:txBody>
          <a:bodyPr/>
          <a:lstStyle/>
          <a:p>
            <a:endParaRPr lang="en-IN"/>
          </a:p>
        </p:txBody>
      </p:sp>
      <p:sp>
        <p:nvSpPr>
          <p:cNvPr id="30" name="Text 2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1" name="Text 2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WHY IT MATTERS</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Benefits of Agentic AI</a:t>
            </a:r>
            <a:endParaRPr lang="en-US" sz="3000" dirty="0"/>
          </a:p>
        </p:txBody>
      </p:sp>
      <p:sp>
        <p:nvSpPr>
          <p:cNvPr id="4" name="Shape 2"/>
          <p:cNvSpPr/>
          <p:nvPr/>
        </p:nvSpPr>
        <p:spPr>
          <a:xfrm>
            <a:off x="548640" y="1874520"/>
            <a:ext cx="5394960" cy="1783080"/>
          </a:xfrm>
          <a:prstGeom prst="roundRect">
            <a:avLst>
              <a:gd name="adj" fmla="val 4615"/>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868680" y="2377440"/>
            <a:ext cx="777240" cy="777240"/>
          </a:xfrm>
          <a:prstGeom prst="ellipse">
            <a:avLst/>
          </a:prstGeom>
          <a:solidFill>
            <a:srgbClr val="B6F500"/>
          </a:solidFill>
          <a:ln/>
        </p:spPr>
        <p:txBody>
          <a:bodyPr/>
          <a:lstStyle/>
          <a:p>
            <a:endParaRPr lang="en-IN"/>
          </a:p>
        </p:txBody>
      </p:sp>
      <p:sp>
        <p:nvSpPr>
          <p:cNvPr id="6" name="Text 4"/>
          <p:cNvSpPr/>
          <p:nvPr/>
        </p:nvSpPr>
        <p:spPr>
          <a:xfrm>
            <a:off x="868680" y="2377440"/>
            <a:ext cx="777240" cy="777240"/>
          </a:xfrm>
          <a:prstGeom prst="rect">
            <a:avLst/>
          </a:prstGeom>
          <a:noFill/>
          <a:ln/>
        </p:spPr>
        <p:txBody>
          <a:bodyPr wrap="square" lIns="0" tIns="0" rIns="0" bIns="0" rtlCol="0" anchor="ctr"/>
          <a:lstStyle/>
          <a:p>
            <a:pPr marL="0" indent="0" algn="ctr">
              <a:buNone/>
            </a:pPr>
            <a:r>
              <a:rPr lang="en-US" sz="2200" b="1" dirty="0">
                <a:solidFill>
                  <a:srgbClr val="0F1012"/>
                </a:solidFill>
                <a:latin typeface="Segoe UI Semibold" pitchFamily="34" charset="0"/>
                <a:ea typeface="Segoe UI Semibold" pitchFamily="34" charset="-122"/>
                <a:cs typeface="Segoe UI Semibold" pitchFamily="34" charset="-120"/>
              </a:rPr>
              <a:t>✓</a:t>
            </a:r>
            <a:endParaRPr lang="en-US" sz="2200" dirty="0"/>
          </a:p>
        </p:txBody>
      </p:sp>
      <p:sp>
        <p:nvSpPr>
          <p:cNvPr id="7" name="Text 5"/>
          <p:cNvSpPr/>
          <p:nvPr/>
        </p:nvSpPr>
        <p:spPr>
          <a:xfrm>
            <a:off x="1874520" y="2185416"/>
            <a:ext cx="3840480" cy="502920"/>
          </a:xfrm>
          <a:prstGeom prst="rect">
            <a:avLst/>
          </a:prstGeom>
          <a:noFill/>
          <a:ln/>
        </p:spPr>
        <p:txBody>
          <a:bodyPr wrap="square" lIns="0" tIns="0" rIns="0" bIns="0" rtlCol="0" anchor="ctr"/>
          <a:lstStyle/>
          <a:p>
            <a:pPr marL="0" indent="0">
              <a:buNone/>
            </a:pPr>
            <a:r>
              <a:rPr lang="en-US" sz="1700" b="1" dirty="0">
                <a:solidFill>
                  <a:srgbClr val="B6F500"/>
                </a:solidFill>
                <a:latin typeface="Segoe UI Semibold" pitchFamily="34" charset="0"/>
                <a:ea typeface="Segoe UI Semibold" pitchFamily="34" charset="-122"/>
                <a:cs typeface="Segoe UI Semibold" pitchFamily="34" charset="-120"/>
              </a:rPr>
              <a:t>Automates busywork</a:t>
            </a:r>
            <a:endParaRPr lang="en-US" sz="1700" dirty="0"/>
          </a:p>
        </p:txBody>
      </p:sp>
      <p:sp>
        <p:nvSpPr>
          <p:cNvPr id="8" name="Text 6"/>
          <p:cNvSpPr/>
          <p:nvPr/>
        </p:nvSpPr>
        <p:spPr>
          <a:xfrm>
            <a:off x="1874520" y="2743200"/>
            <a:ext cx="3840480" cy="777240"/>
          </a:xfrm>
          <a:prstGeom prst="rect">
            <a:avLst/>
          </a:prstGeom>
          <a:noFill/>
          <a:ln/>
        </p:spPr>
        <p:txBody>
          <a:bodyPr wrap="square" lIns="0" tIns="0" rIns="0" bIns="0" rtlCol="0" anchor="t"/>
          <a:lstStyle/>
          <a:p>
            <a:pPr marL="0" indent="0">
              <a:lnSpc>
                <a:spcPts val="1700"/>
              </a:lnSpc>
              <a:buNone/>
            </a:pPr>
            <a:r>
              <a:rPr lang="en-US" sz="1250" dirty="0">
                <a:solidFill>
                  <a:srgbClr val="C9D1DA"/>
                </a:solidFill>
                <a:latin typeface="Segoe UI" pitchFamily="34" charset="0"/>
                <a:ea typeface="Segoe UI" pitchFamily="34" charset="-122"/>
                <a:cs typeface="Segoe UI" pitchFamily="34" charset="-120"/>
              </a:rPr>
              <a:t>Offloads repetitive, multi-step tasks so people focus on judgement.</a:t>
            </a:r>
            <a:endParaRPr lang="en-US" sz="1250" dirty="0"/>
          </a:p>
        </p:txBody>
      </p:sp>
      <p:sp>
        <p:nvSpPr>
          <p:cNvPr id="9" name="Shape 7"/>
          <p:cNvSpPr/>
          <p:nvPr/>
        </p:nvSpPr>
        <p:spPr>
          <a:xfrm>
            <a:off x="6245352" y="1874520"/>
            <a:ext cx="5394960" cy="1783080"/>
          </a:xfrm>
          <a:prstGeom prst="roundRect">
            <a:avLst>
              <a:gd name="adj" fmla="val 4615"/>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0" name="Shape 8"/>
          <p:cNvSpPr/>
          <p:nvPr/>
        </p:nvSpPr>
        <p:spPr>
          <a:xfrm>
            <a:off x="6565392" y="2377440"/>
            <a:ext cx="777240" cy="777240"/>
          </a:xfrm>
          <a:prstGeom prst="ellipse">
            <a:avLst/>
          </a:prstGeom>
          <a:solidFill>
            <a:srgbClr val="B6F500"/>
          </a:solidFill>
          <a:ln/>
        </p:spPr>
        <p:txBody>
          <a:bodyPr/>
          <a:lstStyle/>
          <a:p>
            <a:endParaRPr lang="en-IN"/>
          </a:p>
        </p:txBody>
      </p:sp>
      <p:sp>
        <p:nvSpPr>
          <p:cNvPr id="11" name="Text 9"/>
          <p:cNvSpPr/>
          <p:nvPr/>
        </p:nvSpPr>
        <p:spPr>
          <a:xfrm>
            <a:off x="6565392" y="2377440"/>
            <a:ext cx="777240" cy="777240"/>
          </a:xfrm>
          <a:prstGeom prst="rect">
            <a:avLst/>
          </a:prstGeom>
          <a:noFill/>
          <a:ln/>
        </p:spPr>
        <p:txBody>
          <a:bodyPr wrap="square" lIns="0" tIns="0" rIns="0" bIns="0" rtlCol="0" anchor="ctr"/>
          <a:lstStyle/>
          <a:p>
            <a:pPr marL="0" indent="0" algn="ctr">
              <a:buNone/>
            </a:pPr>
            <a:r>
              <a:rPr lang="en-US" sz="2200" b="1" dirty="0">
                <a:solidFill>
                  <a:srgbClr val="0F1012"/>
                </a:solidFill>
                <a:latin typeface="Segoe UI Semibold" pitchFamily="34" charset="0"/>
                <a:ea typeface="Segoe UI Semibold" pitchFamily="34" charset="-122"/>
                <a:cs typeface="Segoe UI Semibold" pitchFamily="34" charset="-120"/>
              </a:rPr>
              <a:t>✓</a:t>
            </a:r>
            <a:endParaRPr lang="en-US" sz="2200" dirty="0"/>
          </a:p>
        </p:txBody>
      </p:sp>
      <p:sp>
        <p:nvSpPr>
          <p:cNvPr id="12" name="Text 10"/>
          <p:cNvSpPr/>
          <p:nvPr/>
        </p:nvSpPr>
        <p:spPr>
          <a:xfrm>
            <a:off x="7571232" y="2185416"/>
            <a:ext cx="3840480" cy="502920"/>
          </a:xfrm>
          <a:prstGeom prst="rect">
            <a:avLst/>
          </a:prstGeom>
          <a:noFill/>
          <a:ln/>
        </p:spPr>
        <p:txBody>
          <a:bodyPr wrap="square" lIns="0" tIns="0" rIns="0" bIns="0" rtlCol="0" anchor="ctr"/>
          <a:lstStyle/>
          <a:p>
            <a:pPr marL="0" indent="0">
              <a:buNone/>
            </a:pPr>
            <a:r>
              <a:rPr lang="en-US" sz="1700" b="1" dirty="0">
                <a:solidFill>
                  <a:srgbClr val="B6F500"/>
                </a:solidFill>
                <a:latin typeface="Segoe UI Semibold" pitchFamily="34" charset="0"/>
                <a:ea typeface="Segoe UI Semibold" pitchFamily="34" charset="-122"/>
                <a:cs typeface="Segoe UI Semibold" pitchFamily="34" charset="-120"/>
              </a:rPr>
              <a:t>Works 24/7 at scale</a:t>
            </a:r>
            <a:endParaRPr lang="en-US" sz="1700" dirty="0"/>
          </a:p>
        </p:txBody>
      </p:sp>
      <p:sp>
        <p:nvSpPr>
          <p:cNvPr id="13" name="Text 11"/>
          <p:cNvSpPr/>
          <p:nvPr/>
        </p:nvSpPr>
        <p:spPr>
          <a:xfrm>
            <a:off x="7571232" y="2743200"/>
            <a:ext cx="3840480" cy="777240"/>
          </a:xfrm>
          <a:prstGeom prst="rect">
            <a:avLst/>
          </a:prstGeom>
          <a:noFill/>
          <a:ln/>
        </p:spPr>
        <p:txBody>
          <a:bodyPr wrap="square" lIns="0" tIns="0" rIns="0" bIns="0" rtlCol="0" anchor="t"/>
          <a:lstStyle/>
          <a:p>
            <a:pPr marL="0" indent="0">
              <a:lnSpc>
                <a:spcPts val="1700"/>
              </a:lnSpc>
              <a:buNone/>
            </a:pPr>
            <a:r>
              <a:rPr lang="en-US" sz="1250" dirty="0">
                <a:solidFill>
                  <a:srgbClr val="C9D1DA"/>
                </a:solidFill>
                <a:latin typeface="Segoe UI" pitchFamily="34" charset="0"/>
                <a:ea typeface="Segoe UI" pitchFamily="34" charset="-122"/>
                <a:cs typeface="Segoe UI" pitchFamily="34" charset="-120"/>
              </a:rPr>
              <a:t>Always on, runs many tasks in parallel, faster cycle times.</a:t>
            </a:r>
            <a:endParaRPr lang="en-US" sz="1250" dirty="0"/>
          </a:p>
        </p:txBody>
      </p:sp>
      <p:sp>
        <p:nvSpPr>
          <p:cNvPr id="14" name="Shape 12"/>
          <p:cNvSpPr/>
          <p:nvPr/>
        </p:nvSpPr>
        <p:spPr>
          <a:xfrm>
            <a:off x="548640" y="3977640"/>
            <a:ext cx="5394960" cy="1783080"/>
          </a:xfrm>
          <a:prstGeom prst="roundRect">
            <a:avLst>
              <a:gd name="adj" fmla="val 4615"/>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5" name="Shape 13"/>
          <p:cNvSpPr/>
          <p:nvPr/>
        </p:nvSpPr>
        <p:spPr>
          <a:xfrm>
            <a:off x="868680" y="4480560"/>
            <a:ext cx="777240" cy="777240"/>
          </a:xfrm>
          <a:prstGeom prst="ellipse">
            <a:avLst/>
          </a:prstGeom>
          <a:solidFill>
            <a:srgbClr val="B6F500"/>
          </a:solidFill>
          <a:ln/>
        </p:spPr>
        <p:txBody>
          <a:bodyPr/>
          <a:lstStyle/>
          <a:p>
            <a:endParaRPr lang="en-IN"/>
          </a:p>
        </p:txBody>
      </p:sp>
      <p:sp>
        <p:nvSpPr>
          <p:cNvPr id="16" name="Text 14"/>
          <p:cNvSpPr/>
          <p:nvPr/>
        </p:nvSpPr>
        <p:spPr>
          <a:xfrm>
            <a:off x="868680" y="4480560"/>
            <a:ext cx="777240" cy="777240"/>
          </a:xfrm>
          <a:prstGeom prst="rect">
            <a:avLst/>
          </a:prstGeom>
          <a:noFill/>
          <a:ln/>
        </p:spPr>
        <p:txBody>
          <a:bodyPr wrap="square" lIns="0" tIns="0" rIns="0" bIns="0" rtlCol="0" anchor="ctr"/>
          <a:lstStyle/>
          <a:p>
            <a:pPr marL="0" indent="0" algn="ctr">
              <a:buNone/>
            </a:pPr>
            <a:r>
              <a:rPr lang="en-US" sz="2200" b="1" dirty="0">
                <a:solidFill>
                  <a:srgbClr val="0F1012"/>
                </a:solidFill>
                <a:latin typeface="Segoe UI Semibold" pitchFamily="34" charset="0"/>
                <a:ea typeface="Segoe UI Semibold" pitchFamily="34" charset="-122"/>
                <a:cs typeface="Segoe UI Semibold" pitchFamily="34" charset="-120"/>
              </a:rPr>
              <a:t>✓</a:t>
            </a:r>
            <a:endParaRPr lang="en-US" sz="2200" dirty="0"/>
          </a:p>
        </p:txBody>
      </p:sp>
      <p:sp>
        <p:nvSpPr>
          <p:cNvPr id="17" name="Text 15"/>
          <p:cNvSpPr/>
          <p:nvPr/>
        </p:nvSpPr>
        <p:spPr>
          <a:xfrm>
            <a:off x="1874520" y="4288536"/>
            <a:ext cx="3840480" cy="502920"/>
          </a:xfrm>
          <a:prstGeom prst="rect">
            <a:avLst/>
          </a:prstGeom>
          <a:noFill/>
          <a:ln/>
        </p:spPr>
        <p:txBody>
          <a:bodyPr wrap="square" lIns="0" tIns="0" rIns="0" bIns="0" rtlCol="0" anchor="ctr"/>
          <a:lstStyle/>
          <a:p>
            <a:pPr marL="0" indent="0">
              <a:buNone/>
            </a:pPr>
            <a:r>
              <a:rPr lang="en-US" sz="1700" b="1" dirty="0">
                <a:solidFill>
                  <a:srgbClr val="B6F500"/>
                </a:solidFill>
                <a:latin typeface="Segoe UI Semibold" pitchFamily="34" charset="0"/>
                <a:ea typeface="Segoe UI Semibold" pitchFamily="34" charset="-122"/>
                <a:cs typeface="Segoe UI Semibold" pitchFamily="34" charset="-120"/>
              </a:rPr>
              <a:t>Handles complexity</a:t>
            </a:r>
            <a:endParaRPr lang="en-US" sz="1700" dirty="0"/>
          </a:p>
        </p:txBody>
      </p:sp>
      <p:sp>
        <p:nvSpPr>
          <p:cNvPr id="18" name="Text 16"/>
          <p:cNvSpPr/>
          <p:nvPr/>
        </p:nvSpPr>
        <p:spPr>
          <a:xfrm>
            <a:off x="1874520" y="4846320"/>
            <a:ext cx="3840480" cy="777240"/>
          </a:xfrm>
          <a:prstGeom prst="rect">
            <a:avLst/>
          </a:prstGeom>
          <a:noFill/>
          <a:ln/>
        </p:spPr>
        <p:txBody>
          <a:bodyPr wrap="square" lIns="0" tIns="0" rIns="0" bIns="0" rtlCol="0" anchor="t"/>
          <a:lstStyle/>
          <a:p>
            <a:pPr marL="0" indent="0">
              <a:lnSpc>
                <a:spcPts val="1700"/>
              </a:lnSpc>
              <a:buNone/>
            </a:pPr>
            <a:r>
              <a:rPr lang="en-US" sz="1250" dirty="0">
                <a:solidFill>
                  <a:srgbClr val="C9D1DA"/>
                </a:solidFill>
                <a:latin typeface="Segoe UI" pitchFamily="34" charset="0"/>
                <a:ea typeface="Segoe UI" pitchFamily="34" charset="-122"/>
                <a:cs typeface="Segoe UI" pitchFamily="34" charset="-120"/>
              </a:rPr>
              <a:t>Adapts to dynamic, multi-step workflows rigid automation can't.</a:t>
            </a:r>
            <a:endParaRPr lang="en-US" sz="1250" dirty="0"/>
          </a:p>
        </p:txBody>
      </p:sp>
      <p:sp>
        <p:nvSpPr>
          <p:cNvPr id="19" name="Shape 17"/>
          <p:cNvSpPr/>
          <p:nvPr/>
        </p:nvSpPr>
        <p:spPr>
          <a:xfrm>
            <a:off x="6245352" y="3977640"/>
            <a:ext cx="5394960" cy="1783080"/>
          </a:xfrm>
          <a:prstGeom prst="roundRect">
            <a:avLst>
              <a:gd name="adj" fmla="val 4615"/>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0" name="Shape 18"/>
          <p:cNvSpPr/>
          <p:nvPr/>
        </p:nvSpPr>
        <p:spPr>
          <a:xfrm>
            <a:off x="6565392" y="4480560"/>
            <a:ext cx="777240" cy="777240"/>
          </a:xfrm>
          <a:prstGeom prst="ellipse">
            <a:avLst/>
          </a:prstGeom>
          <a:solidFill>
            <a:srgbClr val="B6F500"/>
          </a:solidFill>
          <a:ln/>
        </p:spPr>
        <p:txBody>
          <a:bodyPr/>
          <a:lstStyle/>
          <a:p>
            <a:endParaRPr lang="en-IN"/>
          </a:p>
        </p:txBody>
      </p:sp>
      <p:sp>
        <p:nvSpPr>
          <p:cNvPr id="21" name="Text 19"/>
          <p:cNvSpPr/>
          <p:nvPr/>
        </p:nvSpPr>
        <p:spPr>
          <a:xfrm>
            <a:off x="6565392" y="4480560"/>
            <a:ext cx="777240" cy="777240"/>
          </a:xfrm>
          <a:prstGeom prst="rect">
            <a:avLst/>
          </a:prstGeom>
          <a:noFill/>
          <a:ln/>
        </p:spPr>
        <p:txBody>
          <a:bodyPr wrap="square" lIns="0" tIns="0" rIns="0" bIns="0" rtlCol="0" anchor="ctr"/>
          <a:lstStyle/>
          <a:p>
            <a:pPr marL="0" indent="0" algn="ctr">
              <a:buNone/>
            </a:pPr>
            <a:r>
              <a:rPr lang="en-US" sz="2200" b="1" dirty="0">
                <a:solidFill>
                  <a:srgbClr val="0F1012"/>
                </a:solidFill>
                <a:latin typeface="Segoe UI Semibold" pitchFamily="34" charset="0"/>
                <a:ea typeface="Segoe UI Semibold" pitchFamily="34" charset="-122"/>
                <a:cs typeface="Segoe UI Semibold" pitchFamily="34" charset="-120"/>
              </a:rPr>
              <a:t>✓</a:t>
            </a:r>
            <a:endParaRPr lang="en-US" sz="2200" dirty="0"/>
          </a:p>
        </p:txBody>
      </p:sp>
      <p:sp>
        <p:nvSpPr>
          <p:cNvPr id="22" name="Text 20"/>
          <p:cNvSpPr/>
          <p:nvPr/>
        </p:nvSpPr>
        <p:spPr>
          <a:xfrm>
            <a:off x="7571232" y="4288536"/>
            <a:ext cx="3840480" cy="502920"/>
          </a:xfrm>
          <a:prstGeom prst="rect">
            <a:avLst/>
          </a:prstGeom>
          <a:noFill/>
          <a:ln/>
        </p:spPr>
        <p:txBody>
          <a:bodyPr wrap="square" lIns="0" tIns="0" rIns="0" bIns="0" rtlCol="0" anchor="ctr"/>
          <a:lstStyle/>
          <a:p>
            <a:pPr marL="0" indent="0">
              <a:buNone/>
            </a:pPr>
            <a:r>
              <a:rPr lang="en-US" sz="1700" b="1" dirty="0">
                <a:solidFill>
                  <a:srgbClr val="B6F500"/>
                </a:solidFill>
                <a:latin typeface="Segoe UI Semibold" pitchFamily="34" charset="0"/>
                <a:ea typeface="Segoe UI Semibold" pitchFamily="34" charset="-122"/>
                <a:cs typeface="Segoe UI Semibold" pitchFamily="34" charset="-120"/>
              </a:rPr>
              <a:t>Boosts productivity</a:t>
            </a:r>
            <a:endParaRPr lang="en-US" sz="1700" dirty="0"/>
          </a:p>
        </p:txBody>
      </p:sp>
      <p:sp>
        <p:nvSpPr>
          <p:cNvPr id="23" name="Text 21"/>
          <p:cNvSpPr/>
          <p:nvPr/>
        </p:nvSpPr>
        <p:spPr>
          <a:xfrm>
            <a:off x="7571232" y="4846320"/>
            <a:ext cx="3840480" cy="777240"/>
          </a:xfrm>
          <a:prstGeom prst="rect">
            <a:avLst/>
          </a:prstGeom>
          <a:noFill/>
          <a:ln/>
        </p:spPr>
        <p:txBody>
          <a:bodyPr wrap="square" lIns="0" tIns="0" rIns="0" bIns="0" rtlCol="0" anchor="t"/>
          <a:lstStyle/>
          <a:p>
            <a:pPr marL="0" indent="0">
              <a:lnSpc>
                <a:spcPts val="1700"/>
              </a:lnSpc>
              <a:buNone/>
            </a:pPr>
            <a:r>
              <a:rPr lang="en-US" sz="1250" dirty="0">
                <a:solidFill>
                  <a:srgbClr val="C9D1DA"/>
                </a:solidFill>
                <a:latin typeface="Segoe UI" pitchFamily="34" charset="0"/>
                <a:ea typeface="Segoe UI" pitchFamily="34" charset="-122"/>
                <a:cs typeface="Segoe UI" pitchFamily="34" charset="-120"/>
              </a:rPr>
              <a:t>Compresses hours of work into minutes across teams.</a:t>
            </a:r>
            <a:endParaRPr lang="en-US" sz="1250" dirty="0"/>
          </a:p>
        </p:txBody>
      </p:sp>
      <p:sp>
        <p:nvSpPr>
          <p:cNvPr id="24" name="Shape 22"/>
          <p:cNvSpPr/>
          <p:nvPr/>
        </p:nvSpPr>
        <p:spPr>
          <a:xfrm>
            <a:off x="548640" y="6437376"/>
            <a:ext cx="292608" cy="64008"/>
          </a:xfrm>
          <a:prstGeom prst="rect">
            <a:avLst/>
          </a:prstGeom>
          <a:solidFill>
            <a:srgbClr val="B6F500"/>
          </a:solidFill>
          <a:ln/>
        </p:spPr>
        <p:txBody>
          <a:bodyPr/>
          <a:lstStyle/>
          <a:p>
            <a:endParaRPr lang="en-IN"/>
          </a:p>
        </p:txBody>
      </p:sp>
      <p:sp>
        <p:nvSpPr>
          <p:cNvPr id="25" name="Text 23"/>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26" name="Text 24"/>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USE IT WISELY</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Risks &amp; Responsible AI</a:t>
            </a:r>
            <a:endParaRPr lang="en-US" sz="3000" dirty="0"/>
          </a:p>
        </p:txBody>
      </p:sp>
      <p:sp>
        <p:nvSpPr>
          <p:cNvPr id="4" name="Text 2"/>
          <p:cNvSpPr/>
          <p:nvPr/>
        </p:nvSpPr>
        <p:spPr>
          <a:xfrm>
            <a:off x="548640" y="1783080"/>
            <a:ext cx="5806440" cy="365760"/>
          </a:xfrm>
          <a:prstGeom prst="rect">
            <a:avLst/>
          </a:prstGeom>
          <a:noFill/>
          <a:ln/>
        </p:spPr>
        <p:txBody>
          <a:bodyPr wrap="square" lIns="0" tIns="0" rIns="0" bIns="0" rtlCol="0" anchor="ct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Key risks</a:t>
            </a:r>
            <a:endParaRPr lang="en-US" sz="1500" dirty="0"/>
          </a:p>
        </p:txBody>
      </p:sp>
      <p:sp>
        <p:nvSpPr>
          <p:cNvPr id="5" name="Shape 3"/>
          <p:cNvSpPr/>
          <p:nvPr/>
        </p:nvSpPr>
        <p:spPr>
          <a:xfrm>
            <a:off x="548640" y="2240280"/>
            <a:ext cx="5806440" cy="914400"/>
          </a:xfrm>
          <a:prstGeom prst="roundRect">
            <a:avLst>
              <a:gd name="adj" fmla="val 9000"/>
            </a:avLst>
          </a:prstGeom>
          <a:solidFill>
            <a:srgbClr val="23272F"/>
          </a:solidFill>
          <a:ln w="12700">
            <a:solidFill>
              <a:srgbClr val="353B45"/>
            </a:solidFill>
            <a:prstDash val="solid"/>
          </a:ln>
        </p:spPr>
        <p:txBody>
          <a:bodyPr/>
          <a:lstStyle/>
          <a:p>
            <a:endParaRPr lang="en-IN"/>
          </a:p>
        </p:txBody>
      </p:sp>
      <p:sp>
        <p:nvSpPr>
          <p:cNvPr id="6" name="Shape 4"/>
          <p:cNvSpPr/>
          <p:nvPr/>
        </p:nvSpPr>
        <p:spPr>
          <a:xfrm>
            <a:off x="548640" y="2240280"/>
            <a:ext cx="109728" cy="914400"/>
          </a:xfrm>
          <a:prstGeom prst="rect">
            <a:avLst/>
          </a:prstGeom>
          <a:solidFill>
            <a:srgbClr val="B6F500"/>
          </a:solidFill>
          <a:ln/>
        </p:spPr>
        <p:txBody>
          <a:bodyPr/>
          <a:lstStyle/>
          <a:p>
            <a:endParaRPr lang="en-IN"/>
          </a:p>
        </p:txBody>
      </p:sp>
      <p:sp>
        <p:nvSpPr>
          <p:cNvPr id="7" name="Text 5"/>
          <p:cNvSpPr/>
          <p:nvPr/>
        </p:nvSpPr>
        <p:spPr>
          <a:xfrm>
            <a:off x="822960" y="2350008"/>
            <a:ext cx="5349240" cy="365760"/>
          </a:xfrm>
          <a:prstGeom prst="rect">
            <a:avLst/>
          </a:prstGeom>
          <a:noFill/>
          <a:ln/>
        </p:spPr>
        <p:txBody>
          <a:bodyPr wrap="square" lIns="0" tIns="0" rIns="0" bIns="0" rtlCol="0" anchor="ctr"/>
          <a:lstStyle/>
          <a:p>
            <a:pPr marL="0" indent="0">
              <a:buNone/>
            </a:pPr>
            <a:r>
              <a:rPr lang="en-US" sz="1350" b="1" dirty="0">
                <a:solidFill>
                  <a:srgbClr val="B6F500"/>
                </a:solidFill>
                <a:latin typeface="Segoe UI Semibold" pitchFamily="34" charset="0"/>
                <a:ea typeface="Segoe UI Semibold" pitchFamily="34" charset="-122"/>
                <a:cs typeface="Segoe UI Semibold" pitchFamily="34" charset="-120"/>
              </a:rPr>
              <a:t>Wrong actions</a:t>
            </a:r>
            <a:endParaRPr lang="en-US" sz="1350" dirty="0"/>
          </a:p>
        </p:txBody>
      </p:sp>
      <p:sp>
        <p:nvSpPr>
          <p:cNvPr id="8" name="Text 6"/>
          <p:cNvSpPr/>
          <p:nvPr/>
        </p:nvSpPr>
        <p:spPr>
          <a:xfrm>
            <a:off x="822960" y="2697480"/>
            <a:ext cx="5349240" cy="411480"/>
          </a:xfrm>
          <a:prstGeom prst="rect">
            <a:avLst/>
          </a:prstGeom>
          <a:noFill/>
          <a:ln/>
        </p:spPr>
        <p:txBody>
          <a:bodyPr wrap="square" lIns="0" tIns="0" rIns="0" bIns="0" rtlCol="0" anchor="ctr"/>
          <a:lstStyle/>
          <a:p>
            <a:pPr marL="0" indent="0">
              <a:lnSpc>
                <a:spcPts val="1400"/>
              </a:lnSpc>
              <a:buNone/>
            </a:pPr>
            <a:r>
              <a:rPr lang="en-US" sz="1150" dirty="0">
                <a:solidFill>
                  <a:srgbClr val="C9D1DA"/>
                </a:solidFill>
                <a:latin typeface="Segoe UI" pitchFamily="34" charset="0"/>
                <a:ea typeface="Segoe UI" pitchFamily="34" charset="-122"/>
                <a:cs typeface="Segoe UI" pitchFamily="34" charset="-120"/>
              </a:rPr>
              <a:t>An agent with tools can do real damage if it misfires.</a:t>
            </a:r>
            <a:endParaRPr lang="en-US" sz="1150" dirty="0"/>
          </a:p>
        </p:txBody>
      </p:sp>
      <p:sp>
        <p:nvSpPr>
          <p:cNvPr id="9" name="Shape 7"/>
          <p:cNvSpPr/>
          <p:nvPr/>
        </p:nvSpPr>
        <p:spPr>
          <a:xfrm>
            <a:off x="548640" y="3300984"/>
            <a:ext cx="5806440" cy="914400"/>
          </a:xfrm>
          <a:prstGeom prst="roundRect">
            <a:avLst>
              <a:gd name="adj" fmla="val 9000"/>
            </a:avLst>
          </a:prstGeom>
          <a:solidFill>
            <a:srgbClr val="23272F"/>
          </a:solidFill>
          <a:ln w="12700">
            <a:solidFill>
              <a:srgbClr val="353B45"/>
            </a:solidFill>
            <a:prstDash val="solid"/>
          </a:ln>
        </p:spPr>
        <p:txBody>
          <a:bodyPr/>
          <a:lstStyle/>
          <a:p>
            <a:endParaRPr lang="en-IN"/>
          </a:p>
        </p:txBody>
      </p:sp>
      <p:sp>
        <p:nvSpPr>
          <p:cNvPr id="10" name="Shape 8"/>
          <p:cNvSpPr/>
          <p:nvPr/>
        </p:nvSpPr>
        <p:spPr>
          <a:xfrm>
            <a:off x="548640" y="3300984"/>
            <a:ext cx="109728" cy="914400"/>
          </a:xfrm>
          <a:prstGeom prst="rect">
            <a:avLst/>
          </a:prstGeom>
          <a:solidFill>
            <a:srgbClr val="B6F500"/>
          </a:solidFill>
          <a:ln/>
        </p:spPr>
        <p:txBody>
          <a:bodyPr/>
          <a:lstStyle/>
          <a:p>
            <a:endParaRPr lang="en-IN"/>
          </a:p>
        </p:txBody>
      </p:sp>
      <p:sp>
        <p:nvSpPr>
          <p:cNvPr id="11" name="Text 9"/>
          <p:cNvSpPr/>
          <p:nvPr/>
        </p:nvSpPr>
        <p:spPr>
          <a:xfrm>
            <a:off x="822960" y="3410712"/>
            <a:ext cx="5349240" cy="365760"/>
          </a:xfrm>
          <a:prstGeom prst="rect">
            <a:avLst/>
          </a:prstGeom>
          <a:noFill/>
          <a:ln/>
        </p:spPr>
        <p:txBody>
          <a:bodyPr wrap="square" lIns="0" tIns="0" rIns="0" bIns="0" rtlCol="0" anchor="ctr"/>
          <a:lstStyle/>
          <a:p>
            <a:pPr marL="0" indent="0">
              <a:buNone/>
            </a:pPr>
            <a:r>
              <a:rPr lang="en-US" sz="1350" b="1" dirty="0">
                <a:solidFill>
                  <a:srgbClr val="B6F500"/>
                </a:solidFill>
                <a:latin typeface="Segoe UI Semibold" pitchFamily="34" charset="0"/>
                <a:ea typeface="Segoe UI Semibold" pitchFamily="34" charset="-122"/>
                <a:cs typeface="Segoe UI Semibold" pitchFamily="34" charset="-120"/>
              </a:rPr>
              <a:t>Security &amp; prompt injection</a:t>
            </a:r>
            <a:endParaRPr lang="en-US" sz="1350" dirty="0"/>
          </a:p>
        </p:txBody>
      </p:sp>
      <p:sp>
        <p:nvSpPr>
          <p:cNvPr id="12" name="Text 10"/>
          <p:cNvSpPr/>
          <p:nvPr/>
        </p:nvSpPr>
        <p:spPr>
          <a:xfrm>
            <a:off x="822960" y="3758184"/>
            <a:ext cx="5349240" cy="411480"/>
          </a:xfrm>
          <a:prstGeom prst="rect">
            <a:avLst/>
          </a:prstGeom>
          <a:noFill/>
          <a:ln/>
        </p:spPr>
        <p:txBody>
          <a:bodyPr wrap="square" lIns="0" tIns="0" rIns="0" bIns="0" rtlCol="0" anchor="ctr"/>
          <a:lstStyle/>
          <a:p>
            <a:pPr marL="0" indent="0">
              <a:lnSpc>
                <a:spcPts val="1400"/>
              </a:lnSpc>
              <a:buNone/>
            </a:pPr>
            <a:r>
              <a:rPr lang="en-US" sz="1150" dirty="0">
                <a:solidFill>
                  <a:srgbClr val="C9D1DA"/>
                </a:solidFill>
                <a:latin typeface="Segoe UI" pitchFamily="34" charset="0"/>
                <a:ea typeface="Segoe UI" pitchFamily="34" charset="-122"/>
                <a:cs typeface="Segoe UI" pitchFamily="34" charset="-120"/>
              </a:rPr>
              <a:t>Malicious input can hijack an agent's behaviour.</a:t>
            </a:r>
            <a:endParaRPr lang="en-US" sz="1150" dirty="0"/>
          </a:p>
        </p:txBody>
      </p:sp>
      <p:sp>
        <p:nvSpPr>
          <p:cNvPr id="13" name="Shape 11"/>
          <p:cNvSpPr/>
          <p:nvPr/>
        </p:nvSpPr>
        <p:spPr>
          <a:xfrm>
            <a:off x="548640" y="4361688"/>
            <a:ext cx="5806440" cy="914400"/>
          </a:xfrm>
          <a:prstGeom prst="roundRect">
            <a:avLst>
              <a:gd name="adj" fmla="val 9000"/>
            </a:avLst>
          </a:prstGeom>
          <a:solidFill>
            <a:srgbClr val="23272F"/>
          </a:solidFill>
          <a:ln w="12700">
            <a:solidFill>
              <a:srgbClr val="353B45"/>
            </a:solidFill>
            <a:prstDash val="solid"/>
          </a:ln>
        </p:spPr>
        <p:txBody>
          <a:bodyPr/>
          <a:lstStyle/>
          <a:p>
            <a:endParaRPr lang="en-IN"/>
          </a:p>
        </p:txBody>
      </p:sp>
      <p:sp>
        <p:nvSpPr>
          <p:cNvPr id="14" name="Shape 12"/>
          <p:cNvSpPr/>
          <p:nvPr/>
        </p:nvSpPr>
        <p:spPr>
          <a:xfrm>
            <a:off x="548640" y="4361688"/>
            <a:ext cx="109728" cy="914400"/>
          </a:xfrm>
          <a:prstGeom prst="rect">
            <a:avLst/>
          </a:prstGeom>
          <a:solidFill>
            <a:srgbClr val="B6F500"/>
          </a:solidFill>
          <a:ln/>
        </p:spPr>
        <p:txBody>
          <a:bodyPr/>
          <a:lstStyle/>
          <a:p>
            <a:endParaRPr lang="en-IN"/>
          </a:p>
        </p:txBody>
      </p:sp>
      <p:sp>
        <p:nvSpPr>
          <p:cNvPr id="15" name="Text 13"/>
          <p:cNvSpPr/>
          <p:nvPr/>
        </p:nvSpPr>
        <p:spPr>
          <a:xfrm>
            <a:off x="822960" y="4471416"/>
            <a:ext cx="5349240" cy="365760"/>
          </a:xfrm>
          <a:prstGeom prst="rect">
            <a:avLst/>
          </a:prstGeom>
          <a:noFill/>
          <a:ln/>
        </p:spPr>
        <p:txBody>
          <a:bodyPr wrap="square" lIns="0" tIns="0" rIns="0" bIns="0" rtlCol="0" anchor="ctr"/>
          <a:lstStyle/>
          <a:p>
            <a:pPr marL="0" indent="0">
              <a:buNone/>
            </a:pPr>
            <a:r>
              <a:rPr lang="en-US" sz="1350" b="1" dirty="0">
                <a:solidFill>
                  <a:srgbClr val="B6F500"/>
                </a:solidFill>
                <a:latin typeface="Segoe UI Semibold" pitchFamily="34" charset="0"/>
                <a:ea typeface="Segoe UI Semibold" pitchFamily="34" charset="-122"/>
                <a:cs typeface="Segoe UI Semibold" pitchFamily="34" charset="-120"/>
              </a:rPr>
              <a:t>Reliability &amp; cost</a:t>
            </a:r>
            <a:endParaRPr lang="en-US" sz="1350" dirty="0"/>
          </a:p>
        </p:txBody>
      </p:sp>
      <p:sp>
        <p:nvSpPr>
          <p:cNvPr id="16" name="Text 14"/>
          <p:cNvSpPr/>
          <p:nvPr/>
        </p:nvSpPr>
        <p:spPr>
          <a:xfrm>
            <a:off x="822960" y="4818888"/>
            <a:ext cx="5349240" cy="411480"/>
          </a:xfrm>
          <a:prstGeom prst="rect">
            <a:avLst/>
          </a:prstGeom>
          <a:noFill/>
          <a:ln/>
        </p:spPr>
        <p:txBody>
          <a:bodyPr wrap="square" lIns="0" tIns="0" rIns="0" bIns="0" rtlCol="0" anchor="ctr"/>
          <a:lstStyle/>
          <a:p>
            <a:pPr marL="0" indent="0">
              <a:lnSpc>
                <a:spcPts val="1400"/>
              </a:lnSpc>
              <a:buNone/>
            </a:pPr>
            <a:r>
              <a:rPr lang="en-US" sz="1150" dirty="0">
                <a:solidFill>
                  <a:srgbClr val="C9D1DA"/>
                </a:solidFill>
                <a:latin typeface="Segoe UI" pitchFamily="34" charset="0"/>
                <a:ea typeface="Segoe UI" pitchFamily="34" charset="-122"/>
                <a:cs typeface="Segoe UI" pitchFamily="34" charset="-120"/>
              </a:rPr>
              <a:t>Loops can run away, hallucinate or rack up spend.</a:t>
            </a:r>
            <a:endParaRPr lang="en-US" sz="1150" dirty="0"/>
          </a:p>
        </p:txBody>
      </p:sp>
      <p:sp>
        <p:nvSpPr>
          <p:cNvPr id="17" name="Shape 15"/>
          <p:cNvSpPr/>
          <p:nvPr/>
        </p:nvSpPr>
        <p:spPr>
          <a:xfrm>
            <a:off x="548640" y="5422392"/>
            <a:ext cx="5806440" cy="914400"/>
          </a:xfrm>
          <a:prstGeom prst="roundRect">
            <a:avLst>
              <a:gd name="adj" fmla="val 9000"/>
            </a:avLst>
          </a:prstGeom>
          <a:solidFill>
            <a:srgbClr val="23272F"/>
          </a:solidFill>
          <a:ln w="12700">
            <a:solidFill>
              <a:srgbClr val="353B45"/>
            </a:solidFill>
            <a:prstDash val="solid"/>
          </a:ln>
        </p:spPr>
        <p:txBody>
          <a:bodyPr/>
          <a:lstStyle/>
          <a:p>
            <a:endParaRPr lang="en-IN"/>
          </a:p>
        </p:txBody>
      </p:sp>
      <p:sp>
        <p:nvSpPr>
          <p:cNvPr id="18" name="Shape 16"/>
          <p:cNvSpPr/>
          <p:nvPr/>
        </p:nvSpPr>
        <p:spPr>
          <a:xfrm>
            <a:off x="548640" y="5422392"/>
            <a:ext cx="109728" cy="914400"/>
          </a:xfrm>
          <a:prstGeom prst="rect">
            <a:avLst/>
          </a:prstGeom>
          <a:solidFill>
            <a:srgbClr val="B6F500"/>
          </a:solidFill>
          <a:ln/>
        </p:spPr>
        <p:txBody>
          <a:bodyPr/>
          <a:lstStyle/>
          <a:p>
            <a:endParaRPr lang="en-IN"/>
          </a:p>
        </p:txBody>
      </p:sp>
      <p:sp>
        <p:nvSpPr>
          <p:cNvPr id="19" name="Text 17"/>
          <p:cNvSpPr/>
          <p:nvPr/>
        </p:nvSpPr>
        <p:spPr>
          <a:xfrm>
            <a:off x="822960" y="5532120"/>
            <a:ext cx="5349240" cy="365760"/>
          </a:xfrm>
          <a:prstGeom prst="rect">
            <a:avLst/>
          </a:prstGeom>
          <a:noFill/>
          <a:ln/>
        </p:spPr>
        <p:txBody>
          <a:bodyPr wrap="square" lIns="0" tIns="0" rIns="0" bIns="0" rtlCol="0" anchor="ctr"/>
          <a:lstStyle/>
          <a:p>
            <a:pPr marL="0" indent="0">
              <a:buNone/>
            </a:pPr>
            <a:r>
              <a:rPr lang="en-US" sz="1350" b="1" dirty="0">
                <a:solidFill>
                  <a:srgbClr val="B6F500"/>
                </a:solidFill>
                <a:latin typeface="Segoe UI Semibold" pitchFamily="34" charset="0"/>
                <a:ea typeface="Segoe UI Semibold" pitchFamily="34" charset="-122"/>
                <a:cs typeface="Segoe UI Semibold" pitchFamily="34" charset="-120"/>
              </a:rPr>
              <a:t>Accountability</a:t>
            </a:r>
            <a:endParaRPr lang="en-US" sz="1350" dirty="0"/>
          </a:p>
        </p:txBody>
      </p:sp>
      <p:sp>
        <p:nvSpPr>
          <p:cNvPr id="20" name="Text 18"/>
          <p:cNvSpPr/>
          <p:nvPr/>
        </p:nvSpPr>
        <p:spPr>
          <a:xfrm>
            <a:off x="822960" y="5879592"/>
            <a:ext cx="5349240" cy="411480"/>
          </a:xfrm>
          <a:prstGeom prst="rect">
            <a:avLst/>
          </a:prstGeom>
          <a:noFill/>
          <a:ln/>
        </p:spPr>
        <p:txBody>
          <a:bodyPr wrap="square" lIns="0" tIns="0" rIns="0" bIns="0" rtlCol="0" anchor="ctr"/>
          <a:lstStyle/>
          <a:p>
            <a:pPr marL="0" indent="0">
              <a:lnSpc>
                <a:spcPts val="1400"/>
              </a:lnSpc>
              <a:buNone/>
            </a:pPr>
            <a:r>
              <a:rPr lang="en-US" sz="1150" dirty="0">
                <a:solidFill>
                  <a:srgbClr val="C9D1DA"/>
                </a:solidFill>
                <a:latin typeface="Segoe UI" pitchFamily="34" charset="0"/>
                <a:ea typeface="Segoe UI" pitchFamily="34" charset="-122"/>
                <a:cs typeface="Segoe UI" pitchFamily="34" charset="-120"/>
              </a:rPr>
              <a:t>Who is responsible when an agent acts? You are.</a:t>
            </a:r>
            <a:endParaRPr lang="en-US" sz="1150" dirty="0"/>
          </a:p>
        </p:txBody>
      </p:sp>
      <p:sp>
        <p:nvSpPr>
          <p:cNvPr id="21" name="Shape 19"/>
          <p:cNvSpPr/>
          <p:nvPr/>
        </p:nvSpPr>
        <p:spPr>
          <a:xfrm>
            <a:off x="6629400" y="1783080"/>
            <a:ext cx="5010912" cy="2377440"/>
          </a:xfrm>
          <a:prstGeom prst="roundRect">
            <a:avLst>
              <a:gd name="adj" fmla="val 3462"/>
            </a:avLst>
          </a:prstGeom>
          <a:solidFill>
            <a:srgbClr val="1E2127"/>
          </a:solidFill>
          <a:ln w="12700">
            <a:solidFill>
              <a:srgbClr val="B6F500"/>
            </a:solidFill>
            <a:prstDash val="solid"/>
          </a:ln>
          <a:effectLst>
            <a:outerShdw blurRad="114300" dist="38100" dir="5400000" algn="bl" rotWithShape="0">
              <a:srgbClr val="000000">
                <a:alpha val="35000"/>
              </a:srgbClr>
            </a:outerShdw>
          </a:effectLst>
        </p:spPr>
        <p:txBody>
          <a:bodyPr/>
          <a:lstStyle/>
          <a:p>
            <a:endParaRPr lang="en-IN"/>
          </a:p>
        </p:txBody>
      </p:sp>
      <p:sp>
        <p:nvSpPr>
          <p:cNvPr id="22" name="Text 20"/>
          <p:cNvSpPr/>
          <p:nvPr/>
        </p:nvSpPr>
        <p:spPr>
          <a:xfrm>
            <a:off x="6949440" y="1938528"/>
            <a:ext cx="4370832" cy="411480"/>
          </a:xfrm>
          <a:prstGeom prst="rect">
            <a:avLst/>
          </a:prstGeom>
          <a:noFill/>
          <a:ln/>
        </p:spPr>
        <p:txBody>
          <a:bodyPr wrap="square" lIns="0" tIns="0" rIns="0" bIns="0" rtlCol="0" anchor="ctr"/>
          <a:lstStyle/>
          <a:p>
            <a:pPr marL="0" indent="0">
              <a:buNone/>
            </a:pPr>
            <a:r>
              <a:rPr lang="en-US" sz="1500" b="1" dirty="0">
                <a:solidFill>
                  <a:srgbClr val="B6F500"/>
                </a:solidFill>
                <a:latin typeface="Segoe UI Semibold" pitchFamily="34" charset="0"/>
                <a:ea typeface="Segoe UI Semibold" pitchFamily="34" charset="-122"/>
                <a:cs typeface="Segoe UI Semibold" pitchFamily="34" charset="-120"/>
              </a:rPr>
              <a:t>Build responsibly</a:t>
            </a:r>
            <a:endParaRPr lang="en-US" sz="1500" dirty="0"/>
          </a:p>
        </p:txBody>
      </p:sp>
      <p:sp>
        <p:nvSpPr>
          <p:cNvPr id="23" name="Text 21"/>
          <p:cNvSpPr/>
          <p:nvPr/>
        </p:nvSpPr>
        <p:spPr>
          <a:xfrm>
            <a:off x="6995160" y="2377440"/>
            <a:ext cx="4279392" cy="1691640"/>
          </a:xfrm>
          <a:prstGeom prst="rect">
            <a:avLst/>
          </a:prstGeom>
          <a:noFill/>
          <a:ln/>
        </p:spPr>
        <p:txBody>
          <a:bodyPr wrap="square" lIns="0" tIns="0" rIns="0" bIns="0" rtlCol="0" anchor="t"/>
          <a:lstStyle/>
          <a:p>
            <a:pPr marL="177800" indent="-177800">
              <a:lnSpc>
                <a:spcPts val="2200"/>
              </a:lnSpc>
              <a:buSzPct val="100000"/>
              <a:buChar char="•"/>
            </a:pPr>
            <a:r>
              <a:rPr lang="en-US" sz="1250" dirty="0">
                <a:solidFill>
                  <a:srgbClr val="C9D1DA"/>
                </a:solidFill>
                <a:latin typeface="Segoe UI" pitchFamily="34" charset="0"/>
                <a:ea typeface="Segoe UI" pitchFamily="34" charset="-122"/>
                <a:cs typeface="Segoe UI" pitchFamily="34" charset="-120"/>
              </a:rPr>
              <a:t>Keep a human in the loop for high-stakes actions</a:t>
            </a:r>
            <a:endParaRPr lang="en-US" sz="1250" dirty="0"/>
          </a:p>
          <a:p>
            <a:pPr marL="177800" indent="-177800">
              <a:lnSpc>
                <a:spcPts val="2200"/>
              </a:lnSpc>
              <a:buSzPct val="100000"/>
              <a:buChar char="•"/>
            </a:pPr>
            <a:r>
              <a:rPr lang="en-US" sz="1250" dirty="0">
                <a:solidFill>
                  <a:srgbClr val="C9D1DA"/>
                </a:solidFill>
                <a:latin typeface="Segoe UI" pitchFamily="34" charset="0"/>
                <a:ea typeface="Segoe UI" pitchFamily="34" charset="-122"/>
                <a:cs typeface="Segoe UI" pitchFamily="34" charset="-120"/>
              </a:rPr>
              <a:t>Set guardrails, permissions and spend limits</a:t>
            </a:r>
            <a:endParaRPr lang="en-US" sz="1250" dirty="0"/>
          </a:p>
          <a:p>
            <a:pPr marL="177800" indent="-177800">
              <a:lnSpc>
                <a:spcPts val="2200"/>
              </a:lnSpc>
              <a:buSzPct val="100000"/>
              <a:buChar char="•"/>
            </a:pPr>
            <a:r>
              <a:rPr lang="en-US" sz="1250" dirty="0">
                <a:solidFill>
                  <a:srgbClr val="C9D1DA"/>
                </a:solidFill>
                <a:latin typeface="Segoe UI" pitchFamily="34" charset="0"/>
                <a:ea typeface="Segoe UI" pitchFamily="34" charset="-122"/>
                <a:cs typeface="Segoe UI" pitchFamily="34" charset="-120"/>
              </a:rPr>
              <a:t>Log every action so it can be audited</a:t>
            </a:r>
            <a:endParaRPr lang="en-US" sz="1250" dirty="0"/>
          </a:p>
          <a:p>
            <a:pPr marL="177800" indent="-177800">
              <a:lnSpc>
                <a:spcPts val="2200"/>
              </a:lnSpc>
              <a:buSzPct val="100000"/>
              <a:buChar char="•"/>
            </a:pPr>
            <a:r>
              <a:rPr lang="en-US" sz="1250" dirty="0">
                <a:solidFill>
                  <a:srgbClr val="C9D1DA"/>
                </a:solidFill>
                <a:latin typeface="Segoe UI" pitchFamily="34" charset="0"/>
                <a:ea typeface="Segoe UI" pitchFamily="34" charset="-122"/>
                <a:cs typeface="Segoe UI" pitchFamily="34" charset="-120"/>
              </a:rPr>
              <a:t>Test, monitor and limit tool access</a:t>
            </a:r>
            <a:endParaRPr lang="en-US" sz="1250" dirty="0"/>
          </a:p>
        </p:txBody>
      </p:sp>
      <p:sp>
        <p:nvSpPr>
          <p:cNvPr id="24" name="Shape 22"/>
          <p:cNvSpPr/>
          <p:nvPr/>
        </p:nvSpPr>
        <p:spPr>
          <a:xfrm>
            <a:off x="6629400" y="4343400"/>
            <a:ext cx="5010912" cy="1691640"/>
          </a:xfrm>
          <a:prstGeom prst="roundRect">
            <a:avLst>
              <a:gd name="adj" fmla="val 4865"/>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5" name="Text 23"/>
          <p:cNvSpPr/>
          <p:nvPr/>
        </p:nvSpPr>
        <p:spPr>
          <a:xfrm>
            <a:off x="6903720" y="4434840"/>
            <a:ext cx="1920240" cy="1508760"/>
          </a:xfrm>
          <a:prstGeom prst="rect">
            <a:avLst/>
          </a:prstGeom>
          <a:noFill/>
          <a:ln/>
        </p:spPr>
        <p:txBody>
          <a:bodyPr wrap="square" lIns="0" tIns="0" rIns="0" bIns="0" rtlCol="0" anchor="ctr"/>
          <a:lstStyle/>
          <a:p>
            <a:pPr marL="0" indent="0" algn="ctr">
              <a:buNone/>
            </a:pPr>
            <a:r>
              <a:rPr lang="en-US" sz="5000" b="1" dirty="0">
                <a:solidFill>
                  <a:srgbClr val="B6F500"/>
                </a:solidFill>
                <a:latin typeface="Segoe UI Semibold" pitchFamily="34" charset="0"/>
                <a:ea typeface="Segoe UI Semibold" pitchFamily="34" charset="-122"/>
                <a:cs typeface="Segoe UI Semibold" pitchFamily="34" charset="-120"/>
              </a:rPr>
              <a:t>88%</a:t>
            </a:r>
            <a:endParaRPr lang="en-US" sz="5000" dirty="0"/>
          </a:p>
        </p:txBody>
      </p:sp>
      <p:sp>
        <p:nvSpPr>
          <p:cNvPr id="26" name="Text 24"/>
          <p:cNvSpPr/>
          <p:nvPr/>
        </p:nvSpPr>
        <p:spPr>
          <a:xfrm>
            <a:off x="8778240" y="4434840"/>
            <a:ext cx="2587752" cy="1508760"/>
          </a:xfrm>
          <a:prstGeom prst="rect">
            <a:avLst/>
          </a:prstGeom>
          <a:noFill/>
          <a:ln/>
        </p:spPr>
        <p:txBody>
          <a:bodyPr wrap="square" lIns="0" tIns="0" rIns="0" bIns="0" rtlCol="0" anchor="ctr"/>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of organisations deploying agents reported a security incident — safety is a first-class design concern, not an afterthought.</a:t>
            </a:r>
            <a:endParaRPr lang="en-US" sz="1200" dirty="0"/>
          </a:p>
        </p:txBody>
      </p:sp>
      <p:sp>
        <p:nvSpPr>
          <p:cNvPr id="27" name="Shape 25"/>
          <p:cNvSpPr/>
          <p:nvPr/>
        </p:nvSpPr>
        <p:spPr>
          <a:xfrm>
            <a:off x="548640" y="6437376"/>
            <a:ext cx="292608" cy="64008"/>
          </a:xfrm>
          <a:prstGeom prst="rect">
            <a:avLst/>
          </a:prstGeom>
          <a:solidFill>
            <a:srgbClr val="B6F500"/>
          </a:solidFill>
          <a:ln/>
        </p:spPr>
        <p:txBody>
          <a:bodyPr/>
          <a:lstStyle/>
          <a:p>
            <a:endParaRPr lang="en-IN"/>
          </a:p>
        </p:txBody>
      </p:sp>
      <p:sp>
        <p:nvSpPr>
          <p:cNvPr id="28" name="Text 26"/>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29" name="Text 27"/>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61A"/>
        </a:solidFill>
        <a:effectLst/>
      </p:bgPr>
    </p:bg>
    <p:spTree>
      <p:nvGrpSpPr>
        <p:cNvPr id="1" name=""/>
        <p:cNvGrpSpPr/>
        <p:nvPr/>
      </p:nvGrpSpPr>
      <p:grpSpPr>
        <a:xfrm>
          <a:off x="0" y="0"/>
          <a:ext cx="0" cy="0"/>
          <a:chOff x="0" y="0"/>
          <a:chExt cx="0" cy="0"/>
        </a:xfrm>
      </p:grpSpPr>
      <p:pic>
        <p:nvPicPr>
          <p:cNvPr id="2" name="Image 0" descr="/agent/turn2/workspace/images/image-90d8666bd3df521f799950a236251b46.jp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61A">
              <a:alpha val="70000"/>
            </a:srgbClr>
          </a:solidFill>
          <a:ln/>
        </p:spPr>
        <p:txBody>
          <a:bodyPr/>
          <a:lstStyle/>
          <a:p>
            <a:endParaRPr lang="en-IN"/>
          </a:p>
        </p:txBody>
      </p:sp>
      <p:sp>
        <p:nvSpPr>
          <p:cNvPr id="4" name="Shape 1"/>
          <p:cNvSpPr/>
          <p:nvPr/>
        </p:nvSpPr>
        <p:spPr>
          <a:xfrm>
            <a:off x="0" y="3931920"/>
            <a:ext cx="12191695" cy="2926080"/>
          </a:xfrm>
          <a:prstGeom prst="rect">
            <a:avLst/>
          </a:prstGeom>
          <a:solidFill>
            <a:srgbClr val="14161A">
              <a:alpha val="92000"/>
            </a:srgbClr>
          </a:solidFill>
          <a:ln/>
        </p:spPr>
        <p:txBody>
          <a:bodyPr/>
          <a:lstStyle/>
          <a:p>
            <a:endParaRPr lang="en-IN"/>
          </a:p>
        </p:txBody>
      </p:sp>
      <p:sp>
        <p:nvSpPr>
          <p:cNvPr id="5" name="Text 2"/>
          <p:cNvSpPr/>
          <p:nvPr/>
        </p:nvSpPr>
        <p:spPr>
          <a:xfrm>
            <a:off x="548640" y="502920"/>
            <a:ext cx="10058400" cy="365760"/>
          </a:xfrm>
          <a:prstGeom prst="rect">
            <a:avLst/>
          </a:prstGeom>
          <a:noFill/>
          <a:ln/>
        </p:spPr>
        <p:txBody>
          <a:bodyPr wrap="square" lIns="0" tIns="0" rIns="0" bIns="0" rtlCol="0" anchor="ctr"/>
          <a:lstStyle/>
          <a:p>
            <a:pPr marL="0" indent="0">
              <a:buNone/>
            </a:pPr>
            <a:r>
              <a:rPr lang="en-US" sz="1250" b="1" kern="0" spc="300" dirty="0">
                <a:solidFill>
                  <a:srgbClr val="B6F500"/>
                </a:solidFill>
                <a:latin typeface="Segoe UI Semibold" pitchFamily="34" charset="0"/>
                <a:ea typeface="Segoe UI Semibold" pitchFamily="34" charset="-122"/>
                <a:cs typeface="Segoe UI Semibold" pitchFamily="34" charset="-120"/>
              </a:rPr>
              <a:t>THE ROAD AHEAD</a:t>
            </a:r>
            <a:endParaRPr lang="en-US" sz="1250" dirty="0"/>
          </a:p>
        </p:txBody>
      </p:sp>
      <p:sp>
        <p:nvSpPr>
          <p:cNvPr id="6" name="Text 3"/>
          <p:cNvSpPr/>
          <p:nvPr/>
        </p:nvSpPr>
        <p:spPr>
          <a:xfrm>
            <a:off x="548640" y="868680"/>
            <a:ext cx="10058400" cy="777240"/>
          </a:xfrm>
          <a:prstGeom prst="rect">
            <a:avLst/>
          </a:prstGeom>
          <a:noFill/>
          <a:ln/>
        </p:spPr>
        <p:txBody>
          <a:bodyPr wrap="square" lIns="0" tIns="0" rIns="0" bIns="0" rtlCol="0" anchor="ctr"/>
          <a:lstStyle/>
          <a:p>
            <a:pPr marL="0" indent="0">
              <a:buNone/>
            </a:pPr>
            <a:r>
              <a:rPr lang="en-US" sz="3200" b="1" dirty="0">
                <a:solidFill>
                  <a:srgbClr val="FFFFFF"/>
                </a:solidFill>
                <a:latin typeface="Segoe UI Semibold" pitchFamily="34" charset="0"/>
                <a:ea typeface="Segoe UI Semibold" pitchFamily="34" charset="-122"/>
                <a:cs typeface="Segoe UI Semibold" pitchFamily="34" charset="-120"/>
              </a:rPr>
              <a:t>The Future of Agentic AI</a:t>
            </a:r>
            <a:endParaRPr lang="en-US" sz="3200" dirty="0"/>
          </a:p>
        </p:txBody>
      </p:sp>
      <p:sp>
        <p:nvSpPr>
          <p:cNvPr id="7" name="Shape 4"/>
          <p:cNvSpPr/>
          <p:nvPr/>
        </p:nvSpPr>
        <p:spPr>
          <a:xfrm>
            <a:off x="548640" y="4160520"/>
            <a:ext cx="2697480" cy="1783080"/>
          </a:xfrm>
          <a:prstGeom prst="roundRect">
            <a:avLst>
              <a:gd name="adj" fmla="val 4103"/>
            </a:avLst>
          </a:prstGeom>
          <a:solidFill>
            <a:srgbClr val="1E2127">
              <a:alpha val="94000"/>
            </a:srgbClr>
          </a:solidFill>
          <a:ln w="12700">
            <a:solidFill>
              <a:srgbClr val="B6F500"/>
            </a:solidFill>
            <a:prstDash val="solid"/>
          </a:ln>
        </p:spPr>
        <p:txBody>
          <a:bodyPr/>
          <a:lstStyle/>
          <a:p>
            <a:endParaRPr lang="en-IN"/>
          </a:p>
        </p:txBody>
      </p:sp>
      <p:sp>
        <p:nvSpPr>
          <p:cNvPr id="8" name="Text 5"/>
          <p:cNvSpPr/>
          <p:nvPr/>
        </p:nvSpPr>
        <p:spPr>
          <a:xfrm>
            <a:off x="713232" y="4306824"/>
            <a:ext cx="2368296" cy="603504"/>
          </a:xfrm>
          <a:prstGeom prst="rect">
            <a:avLst/>
          </a:prstGeom>
          <a:noFill/>
          <a:ln/>
        </p:spPr>
        <p:txBody>
          <a:bodyPr wrap="square" lIns="0" tIns="0" rIns="0" bIns="0" rtlCol="0" anchor="ctr"/>
          <a:lstStyle/>
          <a:p>
            <a:pPr marL="0" indent="0">
              <a:buNone/>
            </a:pPr>
            <a:r>
              <a:rPr lang="en-US" sz="2200" b="1" dirty="0">
                <a:solidFill>
                  <a:srgbClr val="B6F500"/>
                </a:solidFill>
                <a:latin typeface="Segoe UI Semibold" pitchFamily="34" charset="0"/>
                <a:ea typeface="Segoe UI Semibold" pitchFamily="34" charset="-122"/>
                <a:cs typeface="Segoe UI Semibold" pitchFamily="34" charset="-120"/>
              </a:rPr>
              <a:t>40%</a:t>
            </a:r>
            <a:endParaRPr lang="en-US" sz="2200" dirty="0"/>
          </a:p>
        </p:txBody>
      </p:sp>
      <p:sp>
        <p:nvSpPr>
          <p:cNvPr id="9" name="Text 6"/>
          <p:cNvSpPr/>
          <p:nvPr/>
        </p:nvSpPr>
        <p:spPr>
          <a:xfrm>
            <a:off x="731520" y="4946904"/>
            <a:ext cx="2331720" cy="868680"/>
          </a:xfrm>
          <a:prstGeom prst="rect">
            <a:avLst/>
          </a:prstGeom>
          <a:noFill/>
          <a:ln/>
        </p:spPr>
        <p:txBody>
          <a:bodyPr wrap="square" lIns="0" tIns="0" rIns="0" bIns="0" rtlCol="0" anchor="t"/>
          <a:lstStyle/>
          <a:p>
            <a:pPr marL="0" indent="0">
              <a:lnSpc>
                <a:spcPts val="1300"/>
              </a:lnSpc>
              <a:buNone/>
            </a:pPr>
            <a:r>
              <a:rPr lang="en-US" sz="1050" dirty="0">
                <a:solidFill>
                  <a:srgbClr val="C9D1DA"/>
                </a:solidFill>
                <a:latin typeface="Segoe UI" pitchFamily="34" charset="0"/>
                <a:ea typeface="Segoe UI" pitchFamily="34" charset="-122"/>
                <a:cs typeface="Segoe UI" pitchFamily="34" charset="-120"/>
              </a:rPr>
              <a:t>of enterprise apps to include task-specific agents by end of 2026 (up from &lt;5%)</a:t>
            </a:r>
            <a:endParaRPr lang="en-US" sz="1050" dirty="0"/>
          </a:p>
        </p:txBody>
      </p:sp>
      <p:sp>
        <p:nvSpPr>
          <p:cNvPr id="10" name="Shape 7"/>
          <p:cNvSpPr/>
          <p:nvPr/>
        </p:nvSpPr>
        <p:spPr>
          <a:xfrm>
            <a:off x="3410712" y="4160520"/>
            <a:ext cx="2697480" cy="1783080"/>
          </a:xfrm>
          <a:prstGeom prst="roundRect">
            <a:avLst>
              <a:gd name="adj" fmla="val 4103"/>
            </a:avLst>
          </a:prstGeom>
          <a:solidFill>
            <a:srgbClr val="1E2127">
              <a:alpha val="94000"/>
            </a:srgbClr>
          </a:solidFill>
          <a:ln w="12700">
            <a:solidFill>
              <a:srgbClr val="B6F500"/>
            </a:solidFill>
            <a:prstDash val="solid"/>
          </a:ln>
        </p:spPr>
        <p:txBody>
          <a:bodyPr/>
          <a:lstStyle/>
          <a:p>
            <a:endParaRPr lang="en-IN"/>
          </a:p>
        </p:txBody>
      </p:sp>
      <p:sp>
        <p:nvSpPr>
          <p:cNvPr id="11" name="Text 8"/>
          <p:cNvSpPr/>
          <p:nvPr/>
        </p:nvSpPr>
        <p:spPr>
          <a:xfrm>
            <a:off x="3575304" y="4306824"/>
            <a:ext cx="2368296" cy="603504"/>
          </a:xfrm>
          <a:prstGeom prst="rect">
            <a:avLst/>
          </a:prstGeom>
          <a:noFill/>
          <a:ln/>
        </p:spPr>
        <p:txBody>
          <a:bodyPr wrap="square" lIns="0" tIns="0" rIns="0" bIns="0" rtlCol="0" anchor="ctr"/>
          <a:lstStyle/>
          <a:p>
            <a:pPr marL="0" indent="0">
              <a:buNone/>
            </a:pPr>
            <a:r>
              <a:rPr lang="en-US" sz="2200" b="1" dirty="0">
                <a:solidFill>
                  <a:srgbClr val="B6F500"/>
                </a:solidFill>
                <a:latin typeface="Segoe UI Semibold" pitchFamily="34" charset="0"/>
                <a:ea typeface="Segoe UI Semibold" pitchFamily="34" charset="-122"/>
                <a:cs typeface="Segoe UI Semibold" pitchFamily="34" charset="-120"/>
              </a:rPr>
              <a:t>$200B+</a:t>
            </a:r>
            <a:endParaRPr lang="en-US" sz="2200" dirty="0"/>
          </a:p>
        </p:txBody>
      </p:sp>
      <p:sp>
        <p:nvSpPr>
          <p:cNvPr id="12" name="Text 9"/>
          <p:cNvSpPr/>
          <p:nvPr/>
        </p:nvSpPr>
        <p:spPr>
          <a:xfrm>
            <a:off x="3593592" y="4946904"/>
            <a:ext cx="2331720" cy="868680"/>
          </a:xfrm>
          <a:prstGeom prst="rect">
            <a:avLst/>
          </a:prstGeom>
          <a:noFill/>
          <a:ln/>
        </p:spPr>
        <p:txBody>
          <a:bodyPr wrap="square" lIns="0" tIns="0" rIns="0" bIns="0" rtlCol="0" anchor="t"/>
          <a:lstStyle/>
          <a:p>
            <a:pPr marL="0" indent="0">
              <a:lnSpc>
                <a:spcPts val="1300"/>
              </a:lnSpc>
              <a:buNone/>
            </a:pPr>
            <a:r>
              <a:rPr lang="en-US" sz="1050" dirty="0">
                <a:solidFill>
                  <a:srgbClr val="C9D1DA"/>
                </a:solidFill>
                <a:latin typeface="Segoe UI" pitchFamily="34" charset="0"/>
                <a:ea typeface="Segoe UI" pitchFamily="34" charset="-122"/>
                <a:cs typeface="Segoe UI" pitchFamily="34" charset="-120"/>
              </a:rPr>
              <a:t>in software with agentic capabilities forecast for 2026</a:t>
            </a:r>
            <a:endParaRPr lang="en-US" sz="1050" dirty="0"/>
          </a:p>
        </p:txBody>
      </p:sp>
      <p:sp>
        <p:nvSpPr>
          <p:cNvPr id="13" name="Shape 10"/>
          <p:cNvSpPr/>
          <p:nvPr/>
        </p:nvSpPr>
        <p:spPr>
          <a:xfrm>
            <a:off x="6272784" y="4160520"/>
            <a:ext cx="2697480" cy="1783080"/>
          </a:xfrm>
          <a:prstGeom prst="roundRect">
            <a:avLst>
              <a:gd name="adj" fmla="val 4103"/>
            </a:avLst>
          </a:prstGeom>
          <a:solidFill>
            <a:srgbClr val="1E2127">
              <a:alpha val="94000"/>
            </a:srgbClr>
          </a:solidFill>
          <a:ln w="12700">
            <a:solidFill>
              <a:srgbClr val="B6F500"/>
            </a:solidFill>
            <a:prstDash val="solid"/>
          </a:ln>
        </p:spPr>
        <p:txBody>
          <a:bodyPr/>
          <a:lstStyle/>
          <a:p>
            <a:endParaRPr lang="en-IN"/>
          </a:p>
        </p:txBody>
      </p:sp>
      <p:sp>
        <p:nvSpPr>
          <p:cNvPr id="14" name="Text 11"/>
          <p:cNvSpPr/>
          <p:nvPr/>
        </p:nvSpPr>
        <p:spPr>
          <a:xfrm>
            <a:off x="6437376" y="4306824"/>
            <a:ext cx="2368296" cy="603504"/>
          </a:xfrm>
          <a:prstGeom prst="rect">
            <a:avLst/>
          </a:prstGeom>
          <a:noFill/>
          <a:ln/>
        </p:spPr>
        <p:txBody>
          <a:bodyPr wrap="square" lIns="0" tIns="0" rIns="0" bIns="0" rtlCol="0" anchor="ctr"/>
          <a:lstStyle/>
          <a:p>
            <a:pPr marL="0" indent="0">
              <a:buNone/>
            </a:pPr>
            <a:r>
              <a:rPr lang="en-US" sz="2200" b="1" dirty="0">
                <a:solidFill>
                  <a:srgbClr val="B6F500"/>
                </a:solidFill>
                <a:latin typeface="Segoe UI Semibold" pitchFamily="34" charset="0"/>
                <a:ea typeface="Segoe UI Semibold" pitchFamily="34" charset="-122"/>
                <a:cs typeface="Segoe UI Semibold" pitchFamily="34" charset="-120"/>
              </a:rPr>
              <a:t>Agents → teams</a:t>
            </a:r>
            <a:endParaRPr lang="en-US" sz="2200" dirty="0"/>
          </a:p>
        </p:txBody>
      </p:sp>
      <p:sp>
        <p:nvSpPr>
          <p:cNvPr id="15" name="Text 12"/>
          <p:cNvSpPr/>
          <p:nvPr/>
        </p:nvSpPr>
        <p:spPr>
          <a:xfrm>
            <a:off x="6455664" y="4946904"/>
            <a:ext cx="2331720" cy="868680"/>
          </a:xfrm>
          <a:prstGeom prst="rect">
            <a:avLst/>
          </a:prstGeom>
          <a:noFill/>
          <a:ln/>
        </p:spPr>
        <p:txBody>
          <a:bodyPr wrap="square" lIns="0" tIns="0" rIns="0" bIns="0" rtlCol="0" anchor="t"/>
          <a:lstStyle/>
          <a:p>
            <a:pPr marL="0" indent="0">
              <a:lnSpc>
                <a:spcPts val="1300"/>
              </a:lnSpc>
              <a:buNone/>
            </a:pPr>
            <a:r>
              <a:rPr lang="en-US" sz="1050" dirty="0">
                <a:solidFill>
                  <a:srgbClr val="C9D1DA"/>
                </a:solidFill>
                <a:latin typeface="Segoe UI" pitchFamily="34" charset="0"/>
                <a:ea typeface="Segoe UI" pitchFamily="34" charset="-122"/>
                <a:cs typeface="Segoe UI" pitchFamily="34" charset="-120"/>
              </a:rPr>
              <a:t>from solo assistants to coordinated agent workforces</a:t>
            </a:r>
            <a:endParaRPr lang="en-US" sz="1050" dirty="0"/>
          </a:p>
        </p:txBody>
      </p:sp>
      <p:sp>
        <p:nvSpPr>
          <p:cNvPr id="16" name="Shape 13"/>
          <p:cNvSpPr/>
          <p:nvPr/>
        </p:nvSpPr>
        <p:spPr>
          <a:xfrm>
            <a:off x="9134856" y="4160520"/>
            <a:ext cx="2697480" cy="1783080"/>
          </a:xfrm>
          <a:prstGeom prst="roundRect">
            <a:avLst>
              <a:gd name="adj" fmla="val 4103"/>
            </a:avLst>
          </a:prstGeom>
          <a:solidFill>
            <a:srgbClr val="1E2127">
              <a:alpha val="94000"/>
            </a:srgbClr>
          </a:solidFill>
          <a:ln w="12700">
            <a:solidFill>
              <a:srgbClr val="B6F500"/>
            </a:solidFill>
            <a:prstDash val="solid"/>
          </a:ln>
        </p:spPr>
        <p:txBody>
          <a:bodyPr/>
          <a:lstStyle/>
          <a:p>
            <a:endParaRPr lang="en-IN"/>
          </a:p>
        </p:txBody>
      </p:sp>
      <p:sp>
        <p:nvSpPr>
          <p:cNvPr id="17" name="Text 14"/>
          <p:cNvSpPr/>
          <p:nvPr/>
        </p:nvSpPr>
        <p:spPr>
          <a:xfrm>
            <a:off x="9299448" y="4306824"/>
            <a:ext cx="2368296" cy="603504"/>
          </a:xfrm>
          <a:prstGeom prst="rect">
            <a:avLst/>
          </a:prstGeom>
          <a:noFill/>
          <a:ln/>
        </p:spPr>
        <p:txBody>
          <a:bodyPr wrap="square" lIns="0" tIns="0" rIns="0" bIns="0" rtlCol="0" anchor="ctr"/>
          <a:lstStyle/>
          <a:p>
            <a:pPr marL="0" indent="0">
              <a:buNone/>
            </a:pPr>
            <a:r>
              <a:rPr lang="en-US" sz="2200" b="1" dirty="0">
                <a:solidFill>
                  <a:srgbClr val="B6F500"/>
                </a:solidFill>
                <a:latin typeface="Segoe UI Semibold" pitchFamily="34" charset="0"/>
                <a:ea typeface="Segoe UI Semibold" pitchFamily="34" charset="-122"/>
                <a:cs typeface="Segoe UI Semibold" pitchFamily="34" charset="-120"/>
              </a:rPr>
              <a:t>Reality check</a:t>
            </a:r>
            <a:endParaRPr lang="en-US" sz="2200" dirty="0"/>
          </a:p>
        </p:txBody>
      </p:sp>
      <p:sp>
        <p:nvSpPr>
          <p:cNvPr id="18" name="Text 15"/>
          <p:cNvSpPr/>
          <p:nvPr/>
        </p:nvSpPr>
        <p:spPr>
          <a:xfrm>
            <a:off x="9317736" y="4946904"/>
            <a:ext cx="2331720" cy="868680"/>
          </a:xfrm>
          <a:prstGeom prst="rect">
            <a:avLst/>
          </a:prstGeom>
          <a:noFill/>
          <a:ln/>
        </p:spPr>
        <p:txBody>
          <a:bodyPr wrap="square" lIns="0" tIns="0" rIns="0" bIns="0" rtlCol="0" anchor="t"/>
          <a:lstStyle/>
          <a:p>
            <a:pPr marL="0" indent="0">
              <a:lnSpc>
                <a:spcPts val="1300"/>
              </a:lnSpc>
              <a:buNone/>
            </a:pPr>
            <a:r>
              <a:rPr lang="en-US" sz="1050" dirty="0">
                <a:solidFill>
                  <a:srgbClr val="C9D1DA"/>
                </a:solidFill>
                <a:latin typeface="Segoe UI" pitchFamily="34" charset="0"/>
                <a:ea typeface="Segoe UI" pitchFamily="34" charset="-122"/>
                <a:cs typeface="Segoe UI" pitchFamily="34" charset="-120"/>
              </a:rPr>
              <a:t>Gartner expects many early projects to fail — value &amp; governance win</a:t>
            </a:r>
            <a:endParaRPr lang="en-US" sz="1050" dirty="0"/>
          </a:p>
        </p:txBody>
      </p:sp>
      <p:sp>
        <p:nvSpPr>
          <p:cNvPr id="19" name="Shape 16"/>
          <p:cNvSpPr/>
          <p:nvPr/>
        </p:nvSpPr>
        <p:spPr>
          <a:xfrm>
            <a:off x="548640" y="6437376"/>
            <a:ext cx="292608" cy="64008"/>
          </a:xfrm>
          <a:prstGeom prst="rect">
            <a:avLst/>
          </a:prstGeom>
          <a:solidFill>
            <a:srgbClr val="B6F500"/>
          </a:solidFill>
          <a:ln/>
        </p:spPr>
        <p:txBody>
          <a:bodyPr/>
          <a:lstStyle/>
          <a:p>
            <a:endParaRPr lang="en-IN"/>
          </a:p>
        </p:txBody>
      </p:sp>
      <p:sp>
        <p:nvSpPr>
          <p:cNvPr id="20" name="Text 1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21" name="Text 1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YOUR OPPORTUNITY</a:t>
            </a:r>
            <a:endParaRPr lang="en-US" sz="1250" dirty="0"/>
          </a:p>
        </p:txBody>
      </p:sp>
      <p:sp>
        <p:nvSpPr>
          <p:cNvPr id="3" name="Text 1"/>
          <p:cNvSpPr/>
          <p:nvPr/>
        </p:nvSpPr>
        <p:spPr>
          <a:xfrm>
            <a:off x="548640" y="676656"/>
            <a:ext cx="667512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Careers &amp; Skills to Learn</a:t>
            </a:r>
            <a:endParaRPr lang="en-US" sz="3000" dirty="0"/>
          </a:p>
        </p:txBody>
      </p:sp>
      <p:pic>
        <p:nvPicPr>
          <p:cNvPr id="4" name="Image 0" descr="/agent/turn2/workspace/images/image-375901ffaef2a0aa7f6c28ce20dff210.jpg"/>
          <p:cNvPicPr>
            <a:picLocks noChangeAspect="1"/>
          </p:cNvPicPr>
          <p:nvPr/>
        </p:nvPicPr>
        <p:blipFill>
          <a:blip r:embed="rId3"/>
          <a:srcRect l="12697" r="12697"/>
          <a:stretch/>
        </p:blipFill>
        <p:spPr>
          <a:xfrm>
            <a:off x="7086600" y="1417320"/>
            <a:ext cx="4553712" cy="4069080"/>
          </a:xfrm>
          <a:prstGeom prst="rect">
            <a:avLst/>
          </a:prstGeom>
        </p:spPr>
      </p:pic>
      <p:sp>
        <p:nvSpPr>
          <p:cNvPr id="5" name="Shape 2"/>
          <p:cNvSpPr/>
          <p:nvPr/>
        </p:nvSpPr>
        <p:spPr>
          <a:xfrm>
            <a:off x="7086600" y="1417320"/>
            <a:ext cx="4553712" cy="4069080"/>
          </a:xfrm>
          <a:prstGeom prst="rect">
            <a:avLst/>
          </a:prstGeom>
          <a:ln w="12700">
            <a:solidFill>
              <a:srgbClr val="353B45"/>
            </a:solidFill>
            <a:prstDash val="solid"/>
          </a:ln>
        </p:spPr>
        <p:txBody>
          <a:bodyPr/>
          <a:lstStyle/>
          <a:p>
            <a:endParaRPr lang="en-IN"/>
          </a:p>
        </p:txBody>
      </p:sp>
      <p:sp>
        <p:nvSpPr>
          <p:cNvPr id="6" name="Text 3"/>
          <p:cNvSpPr/>
          <p:nvPr/>
        </p:nvSpPr>
        <p:spPr>
          <a:xfrm>
            <a:off x="548640" y="1627632"/>
            <a:ext cx="6309360" cy="365760"/>
          </a:xfrm>
          <a:prstGeom prst="rect">
            <a:avLst/>
          </a:prstGeom>
          <a:noFill/>
          <a:ln/>
        </p:spPr>
        <p:txBody>
          <a:bodyPr wrap="square" lIns="0" tIns="0" rIns="0" bIns="0" rtlCol="0" anchor="ctr"/>
          <a:lstStyle/>
          <a:p>
            <a:pPr marL="0" indent="0">
              <a:buNone/>
            </a:pPr>
            <a:r>
              <a:rPr lang="en-US" sz="1400" b="1" dirty="0">
                <a:solidFill>
                  <a:srgbClr val="B6F500"/>
                </a:solidFill>
                <a:latin typeface="Segoe UI Semibold" pitchFamily="34" charset="0"/>
                <a:ea typeface="Segoe UI Semibold" pitchFamily="34" charset="-122"/>
                <a:cs typeface="Segoe UI Semibold" pitchFamily="34" charset="-120"/>
              </a:rPr>
              <a:t>Emerging roles</a:t>
            </a:r>
            <a:endParaRPr lang="en-US" sz="1400" dirty="0"/>
          </a:p>
        </p:txBody>
      </p:sp>
      <p:sp>
        <p:nvSpPr>
          <p:cNvPr id="7" name="Text 4"/>
          <p:cNvSpPr/>
          <p:nvPr/>
        </p:nvSpPr>
        <p:spPr>
          <a:xfrm>
            <a:off x="548640" y="2011680"/>
            <a:ext cx="6355080" cy="960120"/>
          </a:xfrm>
          <a:prstGeom prst="rect">
            <a:avLst/>
          </a:prstGeom>
          <a:noFill/>
          <a:ln/>
        </p:spPr>
        <p:txBody>
          <a:bodyPr wrap="square" lIns="0" tIns="0" rIns="0" bIns="0" rtlCol="0" anchor="t"/>
          <a:lstStyle/>
          <a:p>
            <a:pPr marL="0" indent="0">
              <a:lnSpc>
                <a:spcPts val="2100"/>
              </a:lnSpc>
              <a:buNone/>
            </a:pPr>
            <a:r>
              <a:rPr lang="en-US" sz="1300" dirty="0">
                <a:solidFill>
                  <a:srgbClr val="C9D1DA"/>
                </a:solidFill>
                <a:latin typeface="Segoe UI" pitchFamily="34" charset="0"/>
                <a:ea typeface="Segoe UI" pitchFamily="34" charset="-122"/>
                <a:cs typeface="Segoe UI" pitchFamily="34" charset="-120"/>
              </a:rPr>
              <a:t>AI / Agent Engineer   ·   LLM App Developer</a:t>
            </a:r>
            <a:endParaRPr lang="en-US" sz="1300" dirty="0"/>
          </a:p>
          <a:p>
            <a:pPr marL="0" indent="0">
              <a:lnSpc>
                <a:spcPts val="2100"/>
              </a:lnSpc>
              <a:buNone/>
            </a:pPr>
            <a:r>
              <a:rPr lang="en-US" sz="1300" dirty="0">
                <a:solidFill>
                  <a:srgbClr val="C9D1DA"/>
                </a:solidFill>
                <a:latin typeface="Segoe UI" pitchFamily="34" charset="0"/>
                <a:ea typeface="Segoe UI" pitchFamily="34" charset="-122"/>
                <a:cs typeface="Segoe UI" pitchFamily="34" charset="-120"/>
              </a:rPr>
              <a:t>AI Product Manager   ·   AI Safety &amp; Governance</a:t>
            </a:r>
            <a:endParaRPr lang="en-US" sz="1300" dirty="0"/>
          </a:p>
          <a:p>
            <a:pPr marL="0" indent="0">
              <a:lnSpc>
                <a:spcPts val="2100"/>
              </a:lnSpc>
              <a:buNone/>
            </a:pPr>
            <a:r>
              <a:rPr lang="en-US" sz="1300" dirty="0">
                <a:solidFill>
                  <a:srgbClr val="C9D1DA"/>
                </a:solidFill>
                <a:latin typeface="Segoe UI" pitchFamily="34" charset="0"/>
                <a:ea typeface="Segoe UI" pitchFamily="34" charset="-122"/>
                <a:cs typeface="Segoe UI" pitchFamily="34" charset="-120"/>
              </a:rPr>
              <a:t>Automation / Workflow Designer   ·   Data Analyst</a:t>
            </a:r>
            <a:endParaRPr lang="en-US" sz="1300" dirty="0"/>
          </a:p>
        </p:txBody>
      </p:sp>
      <p:sp>
        <p:nvSpPr>
          <p:cNvPr id="8" name="Text 5"/>
          <p:cNvSpPr/>
          <p:nvPr/>
        </p:nvSpPr>
        <p:spPr>
          <a:xfrm>
            <a:off x="548640" y="3154680"/>
            <a:ext cx="6309360" cy="365760"/>
          </a:xfrm>
          <a:prstGeom prst="rect">
            <a:avLst/>
          </a:prstGeom>
          <a:noFill/>
          <a:ln/>
        </p:spPr>
        <p:txBody>
          <a:bodyPr wrap="square" lIns="0" tIns="0" rIns="0" bIns="0" rtlCol="0" anchor="ctr"/>
          <a:lstStyle/>
          <a:p>
            <a:pPr marL="0" indent="0">
              <a:buNone/>
            </a:pPr>
            <a:r>
              <a:rPr lang="en-US" sz="1400" b="1" dirty="0">
                <a:solidFill>
                  <a:srgbClr val="B6F500"/>
                </a:solidFill>
                <a:latin typeface="Segoe UI Semibold" pitchFamily="34" charset="0"/>
                <a:ea typeface="Segoe UI Semibold" pitchFamily="34" charset="-122"/>
                <a:cs typeface="Segoe UI Semibold" pitchFamily="34" charset="-120"/>
              </a:rPr>
              <a:t>Skills to start building</a:t>
            </a:r>
            <a:endParaRPr lang="en-US" sz="1400" dirty="0"/>
          </a:p>
        </p:txBody>
      </p:sp>
      <p:sp>
        <p:nvSpPr>
          <p:cNvPr id="9" name="Text 6"/>
          <p:cNvSpPr/>
          <p:nvPr/>
        </p:nvSpPr>
        <p:spPr>
          <a:xfrm>
            <a:off x="548640" y="3566160"/>
            <a:ext cx="6355080" cy="2057400"/>
          </a:xfrm>
          <a:prstGeom prst="rect">
            <a:avLst/>
          </a:prstGeom>
          <a:noFill/>
          <a:ln/>
        </p:spPr>
        <p:txBody>
          <a:bodyPr wrap="square" lIns="0" tIns="0" rIns="0" bIns="0" rtlCol="0" anchor="t"/>
          <a:lstStyle/>
          <a:p>
            <a:pPr marL="177800" indent="-177800">
              <a:lnSpc>
                <a:spcPts val="2100"/>
              </a:lnSpc>
              <a:buSzPct val="100000"/>
              <a:buChar char="•"/>
            </a:pPr>
            <a:r>
              <a:rPr lang="en-US" sz="1250" dirty="0">
                <a:solidFill>
                  <a:srgbClr val="C9D1DA"/>
                </a:solidFill>
                <a:latin typeface="Segoe UI" pitchFamily="34" charset="0"/>
                <a:ea typeface="Segoe UI" pitchFamily="34" charset="-122"/>
                <a:cs typeface="Segoe UI" pitchFamily="34" charset="-120"/>
              </a:rPr>
              <a:t>Prompting &amp; working with LLM APIs</a:t>
            </a:r>
            <a:endParaRPr lang="en-US" sz="1250" dirty="0"/>
          </a:p>
          <a:p>
            <a:pPr marL="177800" indent="-177800">
              <a:lnSpc>
                <a:spcPts val="2100"/>
              </a:lnSpc>
              <a:buSzPct val="100000"/>
              <a:buChar char="•"/>
            </a:pPr>
            <a:r>
              <a:rPr lang="en-US" sz="1250" dirty="0">
                <a:solidFill>
                  <a:srgbClr val="C9D1DA"/>
                </a:solidFill>
                <a:latin typeface="Segoe UI" pitchFamily="34" charset="0"/>
                <a:ea typeface="Segoe UI" pitchFamily="34" charset="-122"/>
                <a:cs typeface="Segoe UI" pitchFamily="34" charset="-120"/>
              </a:rPr>
              <a:t>One agent framework (LangGraph / CrewAI…)</a:t>
            </a:r>
            <a:endParaRPr lang="en-US" sz="1250" dirty="0"/>
          </a:p>
          <a:p>
            <a:pPr marL="177800" indent="-177800">
              <a:lnSpc>
                <a:spcPts val="2100"/>
              </a:lnSpc>
              <a:buSzPct val="100000"/>
              <a:buChar char="•"/>
            </a:pPr>
            <a:r>
              <a:rPr lang="en-US" sz="1250" dirty="0">
                <a:solidFill>
                  <a:srgbClr val="C9D1DA"/>
                </a:solidFill>
                <a:latin typeface="Segoe UI" pitchFamily="34" charset="0"/>
                <a:ea typeface="Segoe UI" pitchFamily="34" charset="-122"/>
                <a:cs typeface="Segoe UI" pitchFamily="34" charset="-120"/>
              </a:rPr>
              <a:t>Agent design: memory, tools, orchestration</a:t>
            </a:r>
            <a:endParaRPr lang="en-US" sz="1250" dirty="0"/>
          </a:p>
          <a:p>
            <a:pPr marL="177800" indent="-177800">
              <a:lnSpc>
                <a:spcPts val="2100"/>
              </a:lnSpc>
              <a:buSzPct val="100000"/>
              <a:buChar char="•"/>
            </a:pPr>
            <a:r>
              <a:rPr lang="en-US" sz="1250" dirty="0">
                <a:solidFill>
                  <a:srgbClr val="C9D1DA"/>
                </a:solidFill>
                <a:latin typeface="Segoe UI" pitchFamily="34" charset="0"/>
                <a:ea typeface="Segoe UI" pitchFamily="34" charset="-122"/>
                <a:cs typeface="Segoe UI" pitchFamily="34" charset="-120"/>
              </a:rPr>
              <a:t>Python + APIs + a little data analysis</a:t>
            </a:r>
            <a:endParaRPr lang="en-US" sz="1250" dirty="0"/>
          </a:p>
          <a:p>
            <a:pPr marL="177800" indent="-177800">
              <a:lnSpc>
                <a:spcPts val="2100"/>
              </a:lnSpc>
              <a:buSzPct val="100000"/>
              <a:buChar char="•"/>
            </a:pPr>
            <a:r>
              <a:rPr lang="en-US" sz="1250" dirty="0">
                <a:solidFill>
                  <a:srgbClr val="C9D1DA"/>
                </a:solidFill>
                <a:latin typeface="Segoe UI" pitchFamily="34" charset="0"/>
                <a:ea typeface="Segoe UI" pitchFamily="34" charset="-122"/>
                <a:cs typeface="Segoe UI" pitchFamily="34" charset="-120"/>
              </a:rPr>
              <a:t>AI safety, evaluation &amp; responsible use</a:t>
            </a:r>
            <a:endParaRPr lang="en-US" sz="1250" dirty="0"/>
          </a:p>
        </p:txBody>
      </p:sp>
      <p:sp>
        <p:nvSpPr>
          <p:cNvPr id="10" name="Shape 7"/>
          <p:cNvSpPr/>
          <p:nvPr/>
        </p:nvSpPr>
        <p:spPr>
          <a:xfrm>
            <a:off x="548640" y="6437376"/>
            <a:ext cx="292608" cy="64008"/>
          </a:xfrm>
          <a:prstGeom prst="rect">
            <a:avLst/>
          </a:prstGeom>
          <a:solidFill>
            <a:srgbClr val="B6F500"/>
          </a:solidFill>
          <a:ln/>
        </p:spPr>
        <p:txBody>
          <a:bodyPr/>
          <a:lstStyle/>
          <a:p>
            <a:endParaRPr lang="en-IN"/>
          </a:p>
        </p:txBody>
      </p:sp>
      <p:sp>
        <p:nvSpPr>
          <p:cNvPr id="11" name="Text 8"/>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12" name="Text 9"/>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A PATH YOU CAN FOLLOW</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Learning Roadmap for Students</a:t>
            </a:r>
            <a:endParaRPr lang="en-US" sz="3000" dirty="0"/>
          </a:p>
        </p:txBody>
      </p:sp>
      <p:sp>
        <p:nvSpPr>
          <p:cNvPr id="4" name="Shape 2"/>
          <p:cNvSpPr/>
          <p:nvPr/>
        </p:nvSpPr>
        <p:spPr>
          <a:xfrm>
            <a:off x="548640" y="1874520"/>
            <a:ext cx="2670048" cy="283464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822960" y="2148840"/>
            <a:ext cx="640080" cy="640080"/>
          </a:xfrm>
          <a:prstGeom prst="ellipse">
            <a:avLst/>
          </a:prstGeom>
          <a:solidFill>
            <a:srgbClr val="B6F500"/>
          </a:solidFill>
          <a:ln/>
        </p:spPr>
        <p:txBody>
          <a:bodyPr/>
          <a:lstStyle/>
          <a:p>
            <a:endParaRPr lang="en-IN"/>
          </a:p>
        </p:txBody>
      </p:sp>
      <p:sp>
        <p:nvSpPr>
          <p:cNvPr id="6" name="Text 4"/>
          <p:cNvSpPr/>
          <p:nvPr/>
        </p:nvSpPr>
        <p:spPr>
          <a:xfrm>
            <a:off x="822960" y="2148840"/>
            <a:ext cx="640080" cy="640080"/>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1</a:t>
            </a:r>
            <a:endParaRPr lang="en-US" sz="1700" dirty="0"/>
          </a:p>
        </p:txBody>
      </p:sp>
      <p:sp>
        <p:nvSpPr>
          <p:cNvPr id="7" name="Text 5"/>
          <p:cNvSpPr/>
          <p:nvPr/>
        </p:nvSpPr>
        <p:spPr>
          <a:xfrm>
            <a:off x="1600200" y="2148840"/>
            <a:ext cx="1481328" cy="320040"/>
          </a:xfrm>
          <a:prstGeom prst="rect">
            <a:avLst/>
          </a:prstGeom>
          <a:noFill/>
          <a:ln/>
        </p:spPr>
        <p:txBody>
          <a:bodyPr wrap="square" lIns="0" tIns="0" rIns="0" bIns="0" rtlCol="0" anchor="ctr"/>
          <a:lstStyle/>
          <a:p>
            <a:pPr marL="0" indent="0">
              <a:buNone/>
            </a:pPr>
            <a:r>
              <a:rPr lang="en-US" sz="1200" b="1" dirty="0">
                <a:solidFill>
                  <a:srgbClr val="B6F500"/>
                </a:solidFill>
                <a:latin typeface="Segoe UI Semibold" pitchFamily="34" charset="0"/>
                <a:ea typeface="Segoe UI Semibold" pitchFamily="34" charset="-122"/>
                <a:cs typeface="Segoe UI Semibold" pitchFamily="34" charset="-120"/>
              </a:rPr>
              <a:t>Phase 1</a:t>
            </a:r>
            <a:endParaRPr lang="en-US" sz="1200" dirty="0"/>
          </a:p>
        </p:txBody>
      </p:sp>
      <p:sp>
        <p:nvSpPr>
          <p:cNvPr id="8" name="Text 6"/>
          <p:cNvSpPr/>
          <p:nvPr/>
        </p:nvSpPr>
        <p:spPr>
          <a:xfrm>
            <a:off x="1600200" y="2441448"/>
            <a:ext cx="1481328" cy="36576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Foundations</a:t>
            </a:r>
            <a:endParaRPr lang="en-US" sz="1450" dirty="0"/>
          </a:p>
        </p:txBody>
      </p:sp>
      <p:sp>
        <p:nvSpPr>
          <p:cNvPr id="9" name="Text 7"/>
          <p:cNvSpPr/>
          <p:nvPr/>
        </p:nvSpPr>
        <p:spPr>
          <a:xfrm>
            <a:off x="822960" y="3108960"/>
            <a:ext cx="2121408" cy="10972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Learn LLM basics &amp; strong prompting. Build with an LLM API.</a:t>
            </a:r>
            <a:endParaRPr lang="en-US" sz="1200" dirty="0"/>
          </a:p>
        </p:txBody>
      </p:sp>
      <p:sp>
        <p:nvSpPr>
          <p:cNvPr id="10" name="Text 8"/>
          <p:cNvSpPr/>
          <p:nvPr/>
        </p:nvSpPr>
        <p:spPr>
          <a:xfrm>
            <a:off x="822960" y="4251960"/>
            <a:ext cx="2121408" cy="320040"/>
          </a:xfrm>
          <a:prstGeom prst="rect">
            <a:avLst/>
          </a:prstGeom>
          <a:noFill/>
          <a:ln/>
        </p:spPr>
        <p:txBody>
          <a:bodyPr wrap="square" lIns="0" tIns="0" rIns="0" bIns="0" rtlCol="0" anchor="ctr"/>
          <a:lstStyle/>
          <a:p>
            <a:pPr marL="0" indent="0">
              <a:buNone/>
            </a:pPr>
            <a:r>
              <a:rPr lang="en-US" sz="1100" b="1" dirty="0">
                <a:solidFill>
                  <a:srgbClr val="9AA6B2"/>
                </a:solidFill>
                <a:latin typeface="Segoe UI Semibold" pitchFamily="34" charset="0"/>
                <a:ea typeface="Segoe UI Semibold" pitchFamily="34" charset="-122"/>
                <a:cs typeface="Segoe UI Semibold" pitchFamily="34" charset="-120"/>
              </a:rPr>
              <a:t>Weeks 1–2</a:t>
            </a:r>
            <a:endParaRPr lang="en-US" sz="1100" dirty="0"/>
          </a:p>
        </p:txBody>
      </p:sp>
      <p:sp>
        <p:nvSpPr>
          <p:cNvPr id="11" name="Shape 9"/>
          <p:cNvSpPr/>
          <p:nvPr/>
        </p:nvSpPr>
        <p:spPr>
          <a:xfrm>
            <a:off x="3227832" y="2468880"/>
            <a:ext cx="146304" cy="0"/>
          </a:xfrm>
          <a:prstGeom prst="line">
            <a:avLst/>
          </a:prstGeom>
          <a:noFill/>
          <a:ln w="25400">
            <a:solidFill>
              <a:srgbClr val="B6F500"/>
            </a:solidFill>
            <a:prstDash val="solid"/>
            <a:tailEnd type="triangle"/>
          </a:ln>
        </p:spPr>
        <p:txBody>
          <a:bodyPr/>
          <a:lstStyle/>
          <a:p>
            <a:endParaRPr lang="en-IN"/>
          </a:p>
        </p:txBody>
      </p:sp>
      <p:sp>
        <p:nvSpPr>
          <p:cNvPr id="12" name="Shape 10"/>
          <p:cNvSpPr/>
          <p:nvPr/>
        </p:nvSpPr>
        <p:spPr>
          <a:xfrm>
            <a:off x="3383280" y="1874520"/>
            <a:ext cx="2670048" cy="283464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3" name="Shape 11"/>
          <p:cNvSpPr/>
          <p:nvPr/>
        </p:nvSpPr>
        <p:spPr>
          <a:xfrm>
            <a:off x="3657600" y="2148840"/>
            <a:ext cx="640080" cy="640080"/>
          </a:xfrm>
          <a:prstGeom prst="ellipse">
            <a:avLst/>
          </a:prstGeom>
          <a:solidFill>
            <a:srgbClr val="B6F500"/>
          </a:solidFill>
          <a:ln/>
        </p:spPr>
        <p:txBody>
          <a:bodyPr/>
          <a:lstStyle/>
          <a:p>
            <a:endParaRPr lang="en-IN"/>
          </a:p>
        </p:txBody>
      </p:sp>
      <p:sp>
        <p:nvSpPr>
          <p:cNvPr id="14" name="Text 12"/>
          <p:cNvSpPr/>
          <p:nvPr/>
        </p:nvSpPr>
        <p:spPr>
          <a:xfrm>
            <a:off x="3657600" y="2148840"/>
            <a:ext cx="640080" cy="640080"/>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2</a:t>
            </a:r>
            <a:endParaRPr lang="en-US" sz="1700" dirty="0"/>
          </a:p>
        </p:txBody>
      </p:sp>
      <p:sp>
        <p:nvSpPr>
          <p:cNvPr id="15" name="Text 13"/>
          <p:cNvSpPr/>
          <p:nvPr/>
        </p:nvSpPr>
        <p:spPr>
          <a:xfrm>
            <a:off x="4434840" y="2148840"/>
            <a:ext cx="1481328" cy="320040"/>
          </a:xfrm>
          <a:prstGeom prst="rect">
            <a:avLst/>
          </a:prstGeom>
          <a:noFill/>
          <a:ln/>
        </p:spPr>
        <p:txBody>
          <a:bodyPr wrap="square" lIns="0" tIns="0" rIns="0" bIns="0" rtlCol="0" anchor="ctr"/>
          <a:lstStyle/>
          <a:p>
            <a:pPr marL="0" indent="0">
              <a:buNone/>
            </a:pPr>
            <a:r>
              <a:rPr lang="en-US" sz="1200" b="1" dirty="0">
                <a:solidFill>
                  <a:srgbClr val="B6F500"/>
                </a:solidFill>
                <a:latin typeface="Segoe UI Semibold" pitchFamily="34" charset="0"/>
                <a:ea typeface="Segoe UI Semibold" pitchFamily="34" charset="-122"/>
                <a:cs typeface="Segoe UI Semibold" pitchFamily="34" charset="-120"/>
              </a:rPr>
              <a:t>Phase 2</a:t>
            </a:r>
            <a:endParaRPr lang="en-US" sz="1200" dirty="0"/>
          </a:p>
        </p:txBody>
      </p:sp>
      <p:sp>
        <p:nvSpPr>
          <p:cNvPr id="16" name="Text 14"/>
          <p:cNvSpPr/>
          <p:nvPr/>
        </p:nvSpPr>
        <p:spPr>
          <a:xfrm>
            <a:off x="4434840" y="2441448"/>
            <a:ext cx="1481328" cy="36576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First Agent</a:t>
            </a:r>
            <a:endParaRPr lang="en-US" sz="1450" dirty="0"/>
          </a:p>
        </p:txBody>
      </p:sp>
      <p:sp>
        <p:nvSpPr>
          <p:cNvPr id="17" name="Text 15"/>
          <p:cNvSpPr/>
          <p:nvPr/>
        </p:nvSpPr>
        <p:spPr>
          <a:xfrm>
            <a:off x="3657600" y="3108960"/>
            <a:ext cx="2121408" cy="10972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Pick one framework. Build a single-agent tool-using bot.</a:t>
            </a:r>
            <a:endParaRPr lang="en-US" sz="1200" dirty="0"/>
          </a:p>
        </p:txBody>
      </p:sp>
      <p:sp>
        <p:nvSpPr>
          <p:cNvPr id="18" name="Text 16"/>
          <p:cNvSpPr/>
          <p:nvPr/>
        </p:nvSpPr>
        <p:spPr>
          <a:xfrm>
            <a:off x="3657600" y="4251960"/>
            <a:ext cx="2121408" cy="320040"/>
          </a:xfrm>
          <a:prstGeom prst="rect">
            <a:avLst/>
          </a:prstGeom>
          <a:noFill/>
          <a:ln/>
        </p:spPr>
        <p:txBody>
          <a:bodyPr wrap="square" lIns="0" tIns="0" rIns="0" bIns="0" rtlCol="0" anchor="ctr"/>
          <a:lstStyle/>
          <a:p>
            <a:pPr marL="0" indent="0">
              <a:buNone/>
            </a:pPr>
            <a:r>
              <a:rPr lang="en-US" sz="1100" b="1" dirty="0">
                <a:solidFill>
                  <a:srgbClr val="9AA6B2"/>
                </a:solidFill>
                <a:latin typeface="Segoe UI Semibold" pitchFamily="34" charset="0"/>
                <a:ea typeface="Segoe UI Semibold" pitchFamily="34" charset="-122"/>
                <a:cs typeface="Segoe UI Semibold" pitchFamily="34" charset="-120"/>
              </a:rPr>
              <a:t>Weeks 3–4</a:t>
            </a:r>
            <a:endParaRPr lang="en-US" sz="1100" dirty="0"/>
          </a:p>
        </p:txBody>
      </p:sp>
      <p:sp>
        <p:nvSpPr>
          <p:cNvPr id="19" name="Shape 17"/>
          <p:cNvSpPr/>
          <p:nvPr/>
        </p:nvSpPr>
        <p:spPr>
          <a:xfrm>
            <a:off x="6062472" y="2468880"/>
            <a:ext cx="146304" cy="0"/>
          </a:xfrm>
          <a:prstGeom prst="line">
            <a:avLst/>
          </a:prstGeom>
          <a:noFill/>
          <a:ln w="25400">
            <a:solidFill>
              <a:srgbClr val="B6F500"/>
            </a:solidFill>
            <a:prstDash val="solid"/>
            <a:tailEnd type="triangle"/>
          </a:ln>
        </p:spPr>
        <p:txBody>
          <a:bodyPr/>
          <a:lstStyle/>
          <a:p>
            <a:endParaRPr lang="en-IN"/>
          </a:p>
        </p:txBody>
      </p:sp>
      <p:sp>
        <p:nvSpPr>
          <p:cNvPr id="20" name="Shape 18"/>
          <p:cNvSpPr/>
          <p:nvPr/>
        </p:nvSpPr>
        <p:spPr>
          <a:xfrm>
            <a:off x="6217920" y="1874520"/>
            <a:ext cx="2670048" cy="283464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1" name="Shape 19"/>
          <p:cNvSpPr/>
          <p:nvPr/>
        </p:nvSpPr>
        <p:spPr>
          <a:xfrm>
            <a:off x="6492240" y="2148840"/>
            <a:ext cx="640080" cy="640080"/>
          </a:xfrm>
          <a:prstGeom prst="ellipse">
            <a:avLst/>
          </a:prstGeom>
          <a:solidFill>
            <a:srgbClr val="B6F500"/>
          </a:solidFill>
          <a:ln/>
        </p:spPr>
        <p:txBody>
          <a:bodyPr/>
          <a:lstStyle/>
          <a:p>
            <a:endParaRPr lang="en-IN"/>
          </a:p>
        </p:txBody>
      </p:sp>
      <p:sp>
        <p:nvSpPr>
          <p:cNvPr id="22" name="Text 20"/>
          <p:cNvSpPr/>
          <p:nvPr/>
        </p:nvSpPr>
        <p:spPr>
          <a:xfrm>
            <a:off x="6492240" y="2148840"/>
            <a:ext cx="640080" cy="640080"/>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3</a:t>
            </a:r>
            <a:endParaRPr lang="en-US" sz="1700" dirty="0"/>
          </a:p>
        </p:txBody>
      </p:sp>
      <p:sp>
        <p:nvSpPr>
          <p:cNvPr id="23" name="Text 21"/>
          <p:cNvSpPr/>
          <p:nvPr/>
        </p:nvSpPr>
        <p:spPr>
          <a:xfrm>
            <a:off x="7269480" y="2148840"/>
            <a:ext cx="1481328" cy="320040"/>
          </a:xfrm>
          <a:prstGeom prst="rect">
            <a:avLst/>
          </a:prstGeom>
          <a:noFill/>
          <a:ln/>
        </p:spPr>
        <p:txBody>
          <a:bodyPr wrap="square" lIns="0" tIns="0" rIns="0" bIns="0" rtlCol="0" anchor="ctr"/>
          <a:lstStyle/>
          <a:p>
            <a:pPr marL="0" indent="0">
              <a:buNone/>
            </a:pPr>
            <a:r>
              <a:rPr lang="en-US" sz="1200" b="1" dirty="0">
                <a:solidFill>
                  <a:srgbClr val="B6F500"/>
                </a:solidFill>
                <a:latin typeface="Segoe UI Semibold" pitchFamily="34" charset="0"/>
                <a:ea typeface="Segoe UI Semibold" pitchFamily="34" charset="-122"/>
                <a:cs typeface="Segoe UI Semibold" pitchFamily="34" charset="-120"/>
              </a:rPr>
              <a:t>Phase 3</a:t>
            </a:r>
            <a:endParaRPr lang="en-US" sz="1200" dirty="0"/>
          </a:p>
        </p:txBody>
      </p:sp>
      <p:sp>
        <p:nvSpPr>
          <p:cNvPr id="24" name="Text 22"/>
          <p:cNvSpPr/>
          <p:nvPr/>
        </p:nvSpPr>
        <p:spPr>
          <a:xfrm>
            <a:off x="7269480" y="2441448"/>
            <a:ext cx="1481328" cy="36576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Go Deeper</a:t>
            </a:r>
            <a:endParaRPr lang="en-US" sz="1450" dirty="0"/>
          </a:p>
        </p:txBody>
      </p:sp>
      <p:sp>
        <p:nvSpPr>
          <p:cNvPr id="25" name="Text 23"/>
          <p:cNvSpPr/>
          <p:nvPr/>
        </p:nvSpPr>
        <p:spPr>
          <a:xfrm>
            <a:off x="6492240" y="3108960"/>
            <a:ext cx="2121408" cy="10972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Add memory, multiple tools, then try multi-agent.</a:t>
            </a:r>
            <a:endParaRPr lang="en-US" sz="1200" dirty="0"/>
          </a:p>
        </p:txBody>
      </p:sp>
      <p:sp>
        <p:nvSpPr>
          <p:cNvPr id="26" name="Text 24"/>
          <p:cNvSpPr/>
          <p:nvPr/>
        </p:nvSpPr>
        <p:spPr>
          <a:xfrm>
            <a:off x="6492240" y="4251960"/>
            <a:ext cx="2121408" cy="320040"/>
          </a:xfrm>
          <a:prstGeom prst="rect">
            <a:avLst/>
          </a:prstGeom>
          <a:noFill/>
          <a:ln/>
        </p:spPr>
        <p:txBody>
          <a:bodyPr wrap="square" lIns="0" tIns="0" rIns="0" bIns="0" rtlCol="0" anchor="ctr"/>
          <a:lstStyle/>
          <a:p>
            <a:pPr marL="0" indent="0">
              <a:buNone/>
            </a:pPr>
            <a:r>
              <a:rPr lang="en-US" sz="1100" b="1" dirty="0">
                <a:solidFill>
                  <a:srgbClr val="9AA6B2"/>
                </a:solidFill>
                <a:latin typeface="Segoe UI Semibold" pitchFamily="34" charset="0"/>
                <a:ea typeface="Segoe UI Semibold" pitchFamily="34" charset="-122"/>
                <a:cs typeface="Segoe UI Semibold" pitchFamily="34" charset="-120"/>
              </a:rPr>
              <a:t>Weeks 5–7</a:t>
            </a:r>
            <a:endParaRPr lang="en-US" sz="1100" dirty="0"/>
          </a:p>
        </p:txBody>
      </p:sp>
      <p:sp>
        <p:nvSpPr>
          <p:cNvPr id="27" name="Shape 25"/>
          <p:cNvSpPr/>
          <p:nvPr/>
        </p:nvSpPr>
        <p:spPr>
          <a:xfrm>
            <a:off x="8897112" y="2468880"/>
            <a:ext cx="146304" cy="0"/>
          </a:xfrm>
          <a:prstGeom prst="line">
            <a:avLst/>
          </a:prstGeom>
          <a:noFill/>
          <a:ln w="25400">
            <a:solidFill>
              <a:srgbClr val="B6F500"/>
            </a:solidFill>
            <a:prstDash val="solid"/>
            <a:tailEnd type="triangle"/>
          </a:ln>
        </p:spPr>
        <p:txBody>
          <a:bodyPr/>
          <a:lstStyle/>
          <a:p>
            <a:endParaRPr lang="en-IN"/>
          </a:p>
        </p:txBody>
      </p:sp>
      <p:sp>
        <p:nvSpPr>
          <p:cNvPr id="28" name="Shape 26"/>
          <p:cNvSpPr/>
          <p:nvPr/>
        </p:nvSpPr>
        <p:spPr>
          <a:xfrm>
            <a:off x="9052560" y="1874520"/>
            <a:ext cx="2670048" cy="2834640"/>
          </a:xfrm>
          <a:prstGeom prst="roundRect">
            <a:avLst>
              <a:gd name="adj" fmla="val 308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29" name="Shape 27"/>
          <p:cNvSpPr/>
          <p:nvPr/>
        </p:nvSpPr>
        <p:spPr>
          <a:xfrm>
            <a:off x="9326880" y="2148840"/>
            <a:ext cx="640080" cy="640080"/>
          </a:xfrm>
          <a:prstGeom prst="ellipse">
            <a:avLst/>
          </a:prstGeom>
          <a:solidFill>
            <a:srgbClr val="B6F500"/>
          </a:solidFill>
          <a:ln/>
        </p:spPr>
        <p:txBody>
          <a:bodyPr/>
          <a:lstStyle/>
          <a:p>
            <a:endParaRPr lang="en-IN"/>
          </a:p>
        </p:txBody>
      </p:sp>
      <p:sp>
        <p:nvSpPr>
          <p:cNvPr id="30" name="Text 28"/>
          <p:cNvSpPr/>
          <p:nvPr/>
        </p:nvSpPr>
        <p:spPr>
          <a:xfrm>
            <a:off x="9326880" y="2148840"/>
            <a:ext cx="640080" cy="640080"/>
          </a:xfrm>
          <a:prstGeom prst="rect">
            <a:avLst/>
          </a:prstGeom>
          <a:noFill/>
          <a:ln/>
        </p:spPr>
        <p:txBody>
          <a:bodyPr wrap="square" lIns="0" tIns="0" rIns="0" bIns="0" rtlCol="0" anchor="ctr"/>
          <a:lstStyle/>
          <a:p>
            <a:pPr marL="0" indent="0" algn="ctr">
              <a:buNone/>
            </a:pPr>
            <a:r>
              <a:rPr lang="en-US" sz="1700" b="1" dirty="0">
                <a:solidFill>
                  <a:srgbClr val="0F1012"/>
                </a:solidFill>
                <a:latin typeface="Segoe UI Semibold" pitchFamily="34" charset="0"/>
                <a:ea typeface="Segoe UI Semibold" pitchFamily="34" charset="-122"/>
                <a:cs typeface="Segoe UI Semibold" pitchFamily="34" charset="-120"/>
              </a:rPr>
              <a:t>4</a:t>
            </a:r>
            <a:endParaRPr lang="en-US" sz="1700" dirty="0"/>
          </a:p>
        </p:txBody>
      </p:sp>
      <p:sp>
        <p:nvSpPr>
          <p:cNvPr id="31" name="Text 29"/>
          <p:cNvSpPr/>
          <p:nvPr/>
        </p:nvSpPr>
        <p:spPr>
          <a:xfrm>
            <a:off x="10104120" y="2148840"/>
            <a:ext cx="1481328" cy="320040"/>
          </a:xfrm>
          <a:prstGeom prst="rect">
            <a:avLst/>
          </a:prstGeom>
          <a:noFill/>
          <a:ln/>
        </p:spPr>
        <p:txBody>
          <a:bodyPr wrap="square" lIns="0" tIns="0" rIns="0" bIns="0" rtlCol="0" anchor="ctr"/>
          <a:lstStyle/>
          <a:p>
            <a:pPr marL="0" indent="0">
              <a:buNone/>
            </a:pPr>
            <a:r>
              <a:rPr lang="en-US" sz="1200" b="1" dirty="0">
                <a:solidFill>
                  <a:srgbClr val="B6F500"/>
                </a:solidFill>
                <a:latin typeface="Segoe UI Semibold" pitchFamily="34" charset="0"/>
                <a:ea typeface="Segoe UI Semibold" pitchFamily="34" charset="-122"/>
                <a:cs typeface="Segoe UI Semibold" pitchFamily="34" charset="-120"/>
              </a:rPr>
              <a:t>Phase 4</a:t>
            </a:r>
            <a:endParaRPr lang="en-US" sz="1200" dirty="0"/>
          </a:p>
        </p:txBody>
      </p:sp>
      <p:sp>
        <p:nvSpPr>
          <p:cNvPr id="32" name="Text 30"/>
          <p:cNvSpPr/>
          <p:nvPr/>
        </p:nvSpPr>
        <p:spPr>
          <a:xfrm>
            <a:off x="10104120" y="2441448"/>
            <a:ext cx="1481328" cy="365760"/>
          </a:xfrm>
          <a:prstGeom prst="rect">
            <a:avLst/>
          </a:prstGeom>
          <a:noFill/>
          <a:ln/>
        </p:spPr>
        <p:txBody>
          <a:bodyPr wrap="square" lIns="0" tIns="0" rIns="0" bIns="0" rtlCol="0" anchor="ctr"/>
          <a:lstStyle/>
          <a:p>
            <a:pPr marL="0" indent="0">
              <a:buNone/>
            </a:pPr>
            <a:r>
              <a:rPr lang="en-US" sz="1450" b="1" dirty="0">
                <a:solidFill>
                  <a:srgbClr val="FFFFFF"/>
                </a:solidFill>
                <a:latin typeface="Segoe UI Semibold" pitchFamily="34" charset="0"/>
                <a:ea typeface="Segoe UI Semibold" pitchFamily="34" charset="-122"/>
                <a:cs typeface="Segoe UI Semibold" pitchFamily="34" charset="-120"/>
              </a:rPr>
              <a:t>Ship &amp; Share</a:t>
            </a:r>
            <a:endParaRPr lang="en-US" sz="1450" dirty="0"/>
          </a:p>
        </p:txBody>
      </p:sp>
      <p:sp>
        <p:nvSpPr>
          <p:cNvPr id="33" name="Text 31"/>
          <p:cNvSpPr/>
          <p:nvPr/>
        </p:nvSpPr>
        <p:spPr>
          <a:xfrm>
            <a:off x="9326880" y="3108960"/>
            <a:ext cx="2121408" cy="1097280"/>
          </a:xfrm>
          <a:prstGeom prst="rect">
            <a:avLst/>
          </a:prstGeom>
          <a:noFill/>
          <a:ln/>
        </p:spPr>
        <p:txBody>
          <a:bodyPr wrap="square" lIns="0" tIns="0" rIns="0" bIns="0" rtlCol="0" anchor="t"/>
          <a:lstStyle/>
          <a:p>
            <a:pPr marL="0" indent="0">
              <a:lnSpc>
                <a:spcPts val="1600"/>
              </a:lnSpc>
              <a:buNone/>
            </a:pPr>
            <a:r>
              <a:rPr lang="en-US" sz="1200" dirty="0">
                <a:solidFill>
                  <a:srgbClr val="C9D1DA"/>
                </a:solidFill>
                <a:latin typeface="Segoe UI" pitchFamily="34" charset="0"/>
                <a:ea typeface="Segoe UI" pitchFamily="34" charset="-122"/>
                <a:cs typeface="Segoe UI" pitchFamily="34" charset="-120"/>
              </a:rPr>
              <a:t>Build a portfolio project. Add safety &amp; evals. Publish it.</a:t>
            </a:r>
            <a:endParaRPr lang="en-US" sz="1200" dirty="0"/>
          </a:p>
        </p:txBody>
      </p:sp>
      <p:sp>
        <p:nvSpPr>
          <p:cNvPr id="34" name="Text 32"/>
          <p:cNvSpPr/>
          <p:nvPr/>
        </p:nvSpPr>
        <p:spPr>
          <a:xfrm>
            <a:off x="9326880" y="4251960"/>
            <a:ext cx="2121408" cy="320040"/>
          </a:xfrm>
          <a:prstGeom prst="rect">
            <a:avLst/>
          </a:prstGeom>
          <a:noFill/>
          <a:ln/>
        </p:spPr>
        <p:txBody>
          <a:bodyPr wrap="square" lIns="0" tIns="0" rIns="0" bIns="0" rtlCol="0" anchor="ctr"/>
          <a:lstStyle/>
          <a:p>
            <a:pPr marL="0" indent="0">
              <a:buNone/>
            </a:pPr>
            <a:r>
              <a:rPr lang="en-US" sz="1100" b="1" dirty="0">
                <a:solidFill>
                  <a:srgbClr val="9AA6B2"/>
                </a:solidFill>
                <a:latin typeface="Segoe UI Semibold" pitchFamily="34" charset="0"/>
                <a:ea typeface="Segoe UI Semibold" pitchFamily="34" charset="-122"/>
                <a:cs typeface="Segoe UI Semibold" pitchFamily="34" charset="-120"/>
              </a:rPr>
              <a:t>Weeks 8+</a:t>
            </a:r>
            <a:endParaRPr lang="en-US" sz="1100" dirty="0"/>
          </a:p>
        </p:txBody>
      </p:sp>
      <p:sp>
        <p:nvSpPr>
          <p:cNvPr id="35" name="Shape 33"/>
          <p:cNvSpPr/>
          <p:nvPr/>
        </p:nvSpPr>
        <p:spPr>
          <a:xfrm>
            <a:off x="548640" y="5074920"/>
            <a:ext cx="11091672" cy="960120"/>
          </a:xfrm>
          <a:prstGeom prst="roundRect">
            <a:avLst>
              <a:gd name="adj" fmla="val 7619"/>
            </a:avLst>
          </a:prstGeom>
          <a:solidFill>
            <a:srgbClr val="1E2127"/>
          </a:solidFill>
          <a:ln w="15875">
            <a:solidFill>
              <a:srgbClr val="B6F500"/>
            </a:solidFill>
            <a:prstDash val="solid"/>
          </a:ln>
        </p:spPr>
        <p:txBody>
          <a:bodyPr/>
          <a:lstStyle/>
          <a:p>
            <a:endParaRPr lang="en-IN"/>
          </a:p>
        </p:txBody>
      </p:sp>
      <p:sp>
        <p:nvSpPr>
          <p:cNvPr id="36" name="Shape 34"/>
          <p:cNvSpPr/>
          <p:nvPr/>
        </p:nvSpPr>
        <p:spPr>
          <a:xfrm>
            <a:off x="548640" y="5074920"/>
            <a:ext cx="128016" cy="960120"/>
          </a:xfrm>
          <a:prstGeom prst="rect">
            <a:avLst/>
          </a:prstGeom>
          <a:solidFill>
            <a:srgbClr val="B6F500"/>
          </a:solidFill>
          <a:ln/>
        </p:spPr>
        <p:txBody>
          <a:bodyPr/>
          <a:lstStyle/>
          <a:p>
            <a:endParaRPr lang="en-IN"/>
          </a:p>
        </p:txBody>
      </p:sp>
      <p:sp>
        <p:nvSpPr>
          <p:cNvPr id="37" name="Text 35"/>
          <p:cNvSpPr/>
          <p:nvPr/>
        </p:nvSpPr>
        <p:spPr>
          <a:xfrm>
            <a:off x="868680" y="5074920"/>
            <a:ext cx="10515600" cy="960120"/>
          </a:xfrm>
          <a:prstGeom prst="rect">
            <a:avLst/>
          </a:prstGeom>
          <a:noFill/>
          <a:ln/>
        </p:spPr>
        <p:txBody>
          <a:bodyPr wrap="square" lIns="0" tIns="0" rIns="0" bIns="0" rtlCol="0" anchor="ctr"/>
          <a:lstStyle/>
          <a:p>
            <a:pPr marL="0" indent="0">
              <a:lnSpc>
                <a:spcPts val="1800"/>
              </a:lnSpc>
              <a:buNone/>
            </a:pPr>
            <a:r>
              <a:rPr lang="en-US" sz="1200" b="1" kern="0" spc="100" dirty="0">
                <a:solidFill>
                  <a:srgbClr val="B6F500"/>
                </a:solidFill>
                <a:latin typeface="Segoe UI" pitchFamily="34" charset="0"/>
                <a:ea typeface="Segoe UI" pitchFamily="34" charset="-122"/>
                <a:cs typeface="Segoe UI" pitchFamily="34" charset="-120"/>
              </a:rPr>
              <a:t>HANDS-ON EXERCISE (this week)   </a:t>
            </a:r>
            <a:r>
              <a:rPr lang="en-US" sz="1300" dirty="0">
                <a:solidFill>
                  <a:srgbClr val="C9D1DA"/>
                </a:solidFill>
                <a:latin typeface="Segoe UI" pitchFamily="34" charset="0"/>
                <a:ea typeface="Segoe UI" pitchFamily="34" charset="-122"/>
                <a:cs typeface="Segoe UI" pitchFamily="34" charset="-120"/>
              </a:rPr>
              <a:t>Build a tiny ‘study buddy’ agent: give it a goal, one tool (web search), and let it plan → act → summarise. Share it next session.</a:t>
            </a:r>
            <a:endParaRPr lang="en-US" sz="1200" dirty="0"/>
          </a:p>
        </p:txBody>
      </p:sp>
      <p:sp>
        <p:nvSpPr>
          <p:cNvPr id="38" name="Shape 36"/>
          <p:cNvSpPr/>
          <p:nvPr/>
        </p:nvSpPr>
        <p:spPr>
          <a:xfrm>
            <a:off x="548640" y="6437376"/>
            <a:ext cx="292608" cy="64008"/>
          </a:xfrm>
          <a:prstGeom prst="rect">
            <a:avLst/>
          </a:prstGeom>
          <a:solidFill>
            <a:srgbClr val="B6F500"/>
          </a:solidFill>
          <a:ln/>
        </p:spPr>
        <p:txBody>
          <a:bodyPr/>
          <a:lstStyle/>
          <a:p>
            <a:endParaRPr lang="en-IN"/>
          </a:p>
        </p:txBody>
      </p:sp>
      <p:sp>
        <p:nvSpPr>
          <p:cNvPr id="39" name="Text 3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40" name="Text 3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CHECK YOUR UNDERSTANDING</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Mini Quiz</a:t>
            </a:r>
            <a:endParaRPr lang="en-US" sz="3000" dirty="0"/>
          </a:p>
        </p:txBody>
      </p:sp>
      <p:sp>
        <p:nvSpPr>
          <p:cNvPr id="4" name="Shape 2"/>
          <p:cNvSpPr/>
          <p:nvPr/>
        </p:nvSpPr>
        <p:spPr>
          <a:xfrm>
            <a:off x="548640" y="1828800"/>
            <a:ext cx="5394960" cy="1828800"/>
          </a:xfrm>
          <a:prstGeom prst="roundRect">
            <a:avLst>
              <a:gd name="adj" fmla="val 450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548640" y="1828800"/>
            <a:ext cx="5394960" cy="91440"/>
          </a:xfrm>
          <a:prstGeom prst="rect">
            <a:avLst/>
          </a:prstGeom>
          <a:solidFill>
            <a:srgbClr val="B6F500"/>
          </a:solidFill>
          <a:ln/>
        </p:spPr>
        <p:txBody>
          <a:bodyPr/>
          <a:lstStyle/>
          <a:p>
            <a:endParaRPr lang="en-IN"/>
          </a:p>
        </p:txBody>
      </p:sp>
      <p:sp>
        <p:nvSpPr>
          <p:cNvPr id="6" name="Text 4"/>
          <p:cNvSpPr/>
          <p:nvPr/>
        </p:nvSpPr>
        <p:spPr>
          <a:xfrm>
            <a:off x="868680" y="2121408"/>
            <a:ext cx="4754880" cy="640080"/>
          </a:xfrm>
          <a:prstGeom prst="rect">
            <a:avLst/>
          </a:prstGeom>
          <a:noFill/>
          <a:ln/>
        </p:spPr>
        <p:txBody>
          <a:bodyPr wrap="square" lIns="0" tIns="0" rIns="0" bIns="0" rtlCol="0" anchor="t"/>
          <a:lstStyle/>
          <a:p>
            <a:pPr marL="0" indent="0">
              <a:lnSpc>
                <a:spcPts val="1800"/>
              </a:lnSpc>
              <a:buNone/>
            </a:pPr>
            <a:r>
              <a:rPr lang="en-US" sz="1450" b="1" dirty="0">
                <a:solidFill>
                  <a:srgbClr val="FFFFFF"/>
                </a:solidFill>
                <a:latin typeface="Segoe UI Semibold" pitchFamily="34" charset="0"/>
                <a:ea typeface="Segoe UI Semibold" pitchFamily="34" charset="-122"/>
                <a:cs typeface="Segoe UI Semibold" pitchFamily="34" charset="-120"/>
              </a:rPr>
              <a:t>1.  What most distinguishes an agent from a chatbot?</a:t>
            </a:r>
            <a:endParaRPr lang="en-US" sz="1450" dirty="0"/>
          </a:p>
        </p:txBody>
      </p:sp>
      <p:sp>
        <p:nvSpPr>
          <p:cNvPr id="7" name="Text 5"/>
          <p:cNvSpPr/>
          <p:nvPr/>
        </p:nvSpPr>
        <p:spPr>
          <a:xfrm>
            <a:off x="868680" y="2852928"/>
            <a:ext cx="4754880" cy="731520"/>
          </a:xfrm>
          <a:prstGeom prst="rect">
            <a:avLst/>
          </a:prstGeom>
          <a:noFill/>
          <a:ln/>
        </p:spPr>
        <p:txBody>
          <a:bodyPr wrap="square" lIns="0" tIns="0" rIns="0" bIns="0" rtlCol="0" anchor="t"/>
          <a:lstStyle/>
          <a:p>
            <a:pPr marL="0" indent="0">
              <a:lnSpc>
                <a:spcPts val="1700"/>
              </a:lnSpc>
              <a:buNone/>
            </a:pPr>
            <a:r>
              <a:rPr lang="en-US" sz="1250" dirty="0">
                <a:solidFill>
                  <a:srgbClr val="B6F500"/>
                </a:solidFill>
                <a:latin typeface="Segoe UI" pitchFamily="34" charset="0"/>
                <a:ea typeface="Segoe UI" pitchFamily="34" charset="-122"/>
                <a:cs typeface="Segoe UI" pitchFamily="34" charset="-120"/>
              </a:rPr>
              <a:t>A) It writes longer answers   B) It takes actions with tools   C) It uses a bigger model</a:t>
            </a:r>
            <a:endParaRPr lang="en-US" sz="1250" dirty="0"/>
          </a:p>
        </p:txBody>
      </p:sp>
      <p:sp>
        <p:nvSpPr>
          <p:cNvPr id="8" name="Shape 6"/>
          <p:cNvSpPr/>
          <p:nvPr/>
        </p:nvSpPr>
        <p:spPr>
          <a:xfrm>
            <a:off x="6245352" y="1828800"/>
            <a:ext cx="5394960" cy="1828800"/>
          </a:xfrm>
          <a:prstGeom prst="roundRect">
            <a:avLst>
              <a:gd name="adj" fmla="val 450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9" name="Shape 7"/>
          <p:cNvSpPr/>
          <p:nvPr/>
        </p:nvSpPr>
        <p:spPr>
          <a:xfrm>
            <a:off x="6245352" y="1828800"/>
            <a:ext cx="5394960" cy="91440"/>
          </a:xfrm>
          <a:prstGeom prst="rect">
            <a:avLst/>
          </a:prstGeom>
          <a:solidFill>
            <a:srgbClr val="B6F500"/>
          </a:solidFill>
          <a:ln/>
        </p:spPr>
        <p:txBody>
          <a:bodyPr/>
          <a:lstStyle/>
          <a:p>
            <a:endParaRPr lang="en-IN"/>
          </a:p>
        </p:txBody>
      </p:sp>
      <p:sp>
        <p:nvSpPr>
          <p:cNvPr id="10" name="Text 8"/>
          <p:cNvSpPr/>
          <p:nvPr/>
        </p:nvSpPr>
        <p:spPr>
          <a:xfrm>
            <a:off x="6565392" y="2121408"/>
            <a:ext cx="4754880" cy="640080"/>
          </a:xfrm>
          <a:prstGeom prst="rect">
            <a:avLst/>
          </a:prstGeom>
          <a:noFill/>
          <a:ln/>
        </p:spPr>
        <p:txBody>
          <a:bodyPr wrap="square" lIns="0" tIns="0" rIns="0" bIns="0" rtlCol="0" anchor="t"/>
          <a:lstStyle/>
          <a:p>
            <a:pPr marL="0" indent="0">
              <a:lnSpc>
                <a:spcPts val="1800"/>
              </a:lnSpc>
              <a:buNone/>
            </a:pPr>
            <a:r>
              <a:rPr lang="en-US" sz="1450" b="1" dirty="0">
                <a:solidFill>
                  <a:srgbClr val="FFFFFF"/>
                </a:solidFill>
                <a:latin typeface="Segoe UI Semibold" pitchFamily="34" charset="0"/>
                <a:ea typeface="Segoe UI Semibold" pitchFamily="34" charset="-122"/>
                <a:cs typeface="Segoe UI Semibold" pitchFamily="34" charset="-120"/>
              </a:rPr>
              <a:t>2.  Put the agent loop in order:</a:t>
            </a:r>
            <a:endParaRPr lang="en-US" sz="1450" dirty="0"/>
          </a:p>
        </p:txBody>
      </p:sp>
      <p:sp>
        <p:nvSpPr>
          <p:cNvPr id="11" name="Text 9"/>
          <p:cNvSpPr/>
          <p:nvPr/>
        </p:nvSpPr>
        <p:spPr>
          <a:xfrm>
            <a:off x="6565392" y="2852928"/>
            <a:ext cx="4754880" cy="731520"/>
          </a:xfrm>
          <a:prstGeom prst="rect">
            <a:avLst/>
          </a:prstGeom>
          <a:noFill/>
          <a:ln/>
        </p:spPr>
        <p:txBody>
          <a:bodyPr wrap="square" lIns="0" tIns="0" rIns="0" bIns="0" rtlCol="0" anchor="t"/>
          <a:lstStyle/>
          <a:p>
            <a:pPr marL="0" indent="0">
              <a:lnSpc>
                <a:spcPts val="1700"/>
              </a:lnSpc>
              <a:buNone/>
            </a:pPr>
            <a:r>
              <a:rPr lang="en-US" sz="1250" dirty="0">
                <a:solidFill>
                  <a:srgbClr val="B6F500"/>
                </a:solidFill>
                <a:latin typeface="Segoe UI" pitchFamily="34" charset="0"/>
                <a:ea typeface="Segoe UI" pitchFamily="34" charset="-122"/>
                <a:cs typeface="Segoe UI" pitchFamily="34" charset="-120"/>
              </a:rPr>
              <a:t>Execute · Goal · Improve · Plan · Observe</a:t>
            </a:r>
            <a:endParaRPr lang="en-US" sz="1250" dirty="0"/>
          </a:p>
        </p:txBody>
      </p:sp>
      <p:sp>
        <p:nvSpPr>
          <p:cNvPr id="12" name="Shape 10"/>
          <p:cNvSpPr/>
          <p:nvPr/>
        </p:nvSpPr>
        <p:spPr>
          <a:xfrm>
            <a:off x="548640" y="3977640"/>
            <a:ext cx="5394960" cy="1828800"/>
          </a:xfrm>
          <a:prstGeom prst="roundRect">
            <a:avLst>
              <a:gd name="adj" fmla="val 450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3" name="Shape 11"/>
          <p:cNvSpPr/>
          <p:nvPr/>
        </p:nvSpPr>
        <p:spPr>
          <a:xfrm>
            <a:off x="548640" y="3977640"/>
            <a:ext cx="5394960" cy="91440"/>
          </a:xfrm>
          <a:prstGeom prst="rect">
            <a:avLst/>
          </a:prstGeom>
          <a:solidFill>
            <a:srgbClr val="B6F500"/>
          </a:solidFill>
          <a:ln/>
        </p:spPr>
        <p:txBody>
          <a:bodyPr/>
          <a:lstStyle/>
          <a:p>
            <a:endParaRPr lang="en-IN"/>
          </a:p>
        </p:txBody>
      </p:sp>
      <p:sp>
        <p:nvSpPr>
          <p:cNvPr id="14" name="Text 12"/>
          <p:cNvSpPr/>
          <p:nvPr/>
        </p:nvSpPr>
        <p:spPr>
          <a:xfrm>
            <a:off x="868680" y="4270248"/>
            <a:ext cx="4754880" cy="640080"/>
          </a:xfrm>
          <a:prstGeom prst="rect">
            <a:avLst/>
          </a:prstGeom>
          <a:noFill/>
          <a:ln/>
        </p:spPr>
        <p:txBody>
          <a:bodyPr wrap="square" lIns="0" tIns="0" rIns="0" bIns="0" rtlCol="0" anchor="t"/>
          <a:lstStyle/>
          <a:p>
            <a:pPr marL="0" indent="0">
              <a:lnSpc>
                <a:spcPts val="1800"/>
              </a:lnSpc>
              <a:buNone/>
            </a:pPr>
            <a:r>
              <a:rPr lang="en-US" sz="1450" b="1" dirty="0">
                <a:solidFill>
                  <a:srgbClr val="FFFFFF"/>
                </a:solidFill>
                <a:latin typeface="Segoe UI Semibold" pitchFamily="34" charset="0"/>
                <a:ea typeface="Segoe UI Semibold" pitchFamily="34" charset="-122"/>
                <a:cs typeface="Segoe UI Semibold" pitchFamily="34" charset="-120"/>
              </a:rPr>
              <a:t>3.  Which is a Microsoft agent framework?</a:t>
            </a:r>
            <a:endParaRPr lang="en-US" sz="1450" dirty="0"/>
          </a:p>
        </p:txBody>
      </p:sp>
      <p:sp>
        <p:nvSpPr>
          <p:cNvPr id="15" name="Text 13"/>
          <p:cNvSpPr/>
          <p:nvPr/>
        </p:nvSpPr>
        <p:spPr>
          <a:xfrm>
            <a:off x="868680" y="5001768"/>
            <a:ext cx="4754880" cy="731520"/>
          </a:xfrm>
          <a:prstGeom prst="rect">
            <a:avLst/>
          </a:prstGeom>
          <a:noFill/>
          <a:ln/>
        </p:spPr>
        <p:txBody>
          <a:bodyPr wrap="square" lIns="0" tIns="0" rIns="0" bIns="0" rtlCol="0" anchor="t"/>
          <a:lstStyle/>
          <a:p>
            <a:pPr marL="0" indent="0">
              <a:lnSpc>
                <a:spcPts val="1700"/>
              </a:lnSpc>
              <a:buNone/>
            </a:pPr>
            <a:r>
              <a:rPr lang="en-US" sz="1250" dirty="0">
                <a:solidFill>
                  <a:srgbClr val="B6F500"/>
                </a:solidFill>
                <a:latin typeface="Segoe UI" pitchFamily="34" charset="0"/>
                <a:ea typeface="Segoe UI" pitchFamily="34" charset="-122"/>
                <a:cs typeface="Segoe UI" pitchFamily="34" charset="-120"/>
              </a:rPr>
              <a:t>A) CrewAI   B) LangGraph   C) AutoGen</a:t>
            </a:r>
            <a:endParaRPr lang="en-US" sz="1250" dirty="0"/>
          </a:p>
        </p:txBody>
      </p:sp>
      <p:sp>
        <p:nvSpPr>
          <p:cNvPr id="16" name="Shape 14"/>
          <p:cNvSpPr/>
          <p:nvPr/>
        </p:nvSpPr>
        <p:spPr>
          <a:xfrm>
            <a:off x="6245352" y="3977640"/>
            <a:ext cx="5394960" cy="1828800"/>
          </a:xfrm>
          <a:prstGeom prst="roundRect">
            <a:avLst>
              <a:gd name="adj" fmla="val 4500"/>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7" name="Shape 15"/>
          <p:cNvSpPr/>
          <p:nvPr/>
        </p:nvSpPr>
        <p:spPr>
          <a:xfrm>
            <a:off x="6245352" y="3977640"/>
            <a:ext cx="5394960" cy="91440"/>
          </a:xfrm>
          <a:prstGeom prst="rect">
            <a:avLst/>
          </a:prstGeom>
          <a:solidFill>
            <a:srgbClr val="B6F500"/>
          </a:solidFill>
          <a:ln/>
        </p:spPr>
        <p:txBody>
          <a:bodyPr/>
          <a:lstStyle/>
          <a:p>
            <a:endParaRPr lang="en-IN"/>
          </a:p>
        </p:txBody>
      </p:sp>
      <p:sp>
        <p:nvSpPr>
          <p:cNvPr id="18" name="Text 16"/>
          <p:cNvSpPr/>
          <p:nvPr/>
        </p:nvSpPr>
        <p:spPr>
          <a:xfrm>
            <a:off x="6565392" y="4270248"/>
            <a:ext cx="4754880" cy="640080"/>
          </a:xfrm>
          <a:prstGeom prst="rect">
            <a:avLst/>
          </a:prstGeom>
          <a:noFill/>
          <a:ln/>
        </p:spPr>
        <p:txBody>
          <a:bodyPr wrap="square" lIns="0" tIns="0" rIns="0" bIns="0" rtlCol="0" anchor="t"/>
          <a:lstStyle/>
          <a:p>
            <a:pPr marL="0" indent="0">
              <a:lnSpc>
                <a:spcPts val="1800"/>
              </a:lnSpc>
              <a:buNone/>
            </a:pPr>
            <a:r>
              <a:rPr lang="en-US" sz="1450" b="1" dirty="0">
                <a:solidFill>
                  <a:srgbClr val="FFFFFF"/>
                </a:solidFill>
                <a:latin typeface="Segoe UI Semibold" pitchFamily="34" charset="0"/>
                <a:ea typeface="Segoe UI Semibold" pitchFamily="34" charset="-122"/>
                <a:cs typeface="Segoe UI Semibold" pitchFamily="34" charset="-120"/>
              </a:rPr>
              <a:t>4.  True or False:</a:t>
            </a:r>
            <a:endParaRPr lang="en-US" sz="1450" dirty="0"/>
          </a:p>
        </p:txBody>
      </p:sp>
      <p:sp>
        <p:nvSpPr>
          <p:cNvPr id="19" name="Text 17"/>
          <p:cNvSpPr/>
          <p:nvPr/>
        </p:nvSpPr>
        <p:spPr>
          <a:xfrm>
            <a:off x="6565392" y="5001768"/>
            <a:ext cx="4754880" cy="731520"/>
          </a:xfrm>
          <a:prstGeom prst="rect">
            <a:avLst/>
          </a:prstGeom>
          <a:noFill/>
          <a:ln/>
        </p:spPr>
        <p:txBody>
          <a:bodyPr wrap="square" lIns="0" tIns="0" rIns="0" bIns="0" rtlCol="0" anchor="t"/>
          <a:lstStyle/>
          <a:p>
            <a:pPr marL="0" indent="0">
              <a:lnSpc>
                <a:spcPts val="1700"/>
              </a:lnSpc>
              <a:buNone/>
            </a:pPr>
            <a:r>
              <a:rPr lang="en-US" sz="1250" dirty="0">
                <a:solidFill>
                  <a:srgbClr val="B6F500"/>
                </a:solidFill>
                <a:latin typeface="Segoe UI" pitchFamily="34" charset="0"/>
                <a:ea typeface="Segoe UI" pitchFamily="34" charset="-122"/>
                <a:cs typeface="Segoe UI" pitchFamily="34" charset="-120"/>
              </a:rPr>
              <a:t>Agentic AI removes the need for any human oversight.</a:t>
            </a:r>
            <a:endParaRPr lang="en-US" sz="1250" dirty="0"/>
          </a:p>
        </p:txBody>
      </p:sp>
      <p:sp>
        <p:nvSpPr>
          <p:cNvPr id="20" name="Shape 18"/>
          <p:cNvSpPr/>
          <p:nvPr/>
        </p:nvSpPr>
        <p:spPr>
          <a:xfrm>
            <a:off x="548640" y="6437376"/>
            <a:ext cx="292608" cy="64008"/>
          </a:xfrm>
          <a:prstGeom prst="rect">
            <a:avLst/>
          </a:prstGeom>
          <a:solidFill>
            <a:srgbClr val="B6F500"/>
          </a:solidFill>
          <a:ln/>
        </p:spPr>
        <p:txBody>
          <a:bodyPr/>
          <a:lstStyle/>
          <a:p>
            <a:endParaRPr lang="en-IN"/>
          </a:p>
        </p:txBody>
      </p:sp>
      <p:sp>
        <p:nvSpPr>
          <p:cNvPr id="21" name="Text 19"/>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22" name="Text 20"/>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REMEMBER THESE</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Key Takeaways</a:t>
            </a:r>
            <a:endParaRPr lang="en-US" sz="3000" dirty="0"/>
          </a:p>
        </p:txBody>
      </p:sp>
      <p:sp>
        <p:nvSpPr>
          <p:cNvPr id="4" name="Shape 2"/>
          <p:cNvSpPr/>
          <p:nvPr/>
        </p:nvSpPr>
        <p:spPr>
          <a:xfrm>
            <a:off x="548640" y="1783080"/>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5" name="Shape 3"/>
          <p:cNvSpPr/>
          <p:nvPr/>
        </p:nvSpPr>
        <p:spPr>
          <a:xfrm>
            <a:off x="713232" y="1883664"/>
            <a:ext cx="402336" cy="402336"/>
          </a:xfrm>
          <a:prstGeom prst="ellipse">
            <a:avLst/>
          </a:prstGeom>
          <a:solidFill>
            <a:srgbClr val="B6F500"/>
          </a:solidFill>
          <a:ln/>
        </p:spPr>
        <p:txBody>
          <a:bodyPr/>
          <a:lstStyle/>
          <a:p>
            <a:endParaRPr lang="en-IN"/>
          </a:p>
        </p:txBody>
      </p:sp>
      <p:sp>
        <p:nvSpPr>
          <p:cNvPr id="6" name="Text 4"/>
          <p:cNvSpPr/>
          <p:nvPr/>
        </p:nvSpPr>
        <p:spPr>
          <a:xfrm>
            <a:off x="713232" y="1883664"/>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1</a:t>
            </a:r>
            <a:endParaRPr lang="en-US" sz="1200" dirty="0"/>
          </a:p>
        </p:txBody>
      </p:sp>
      <p:sp>
        <p:nvSpPr>
          <p:cNvPr id="7" name="Text 5"/>
          <p:cNvSpPr/>
          <p:nvPr/>
        </p:nvSpPr>
        <p:spPr>
          <a:xfrm>
            <a:off x="1371600" y="1783080"/>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Agentic AI doesn't just answer — it plans, uses tools and acts to reach a goal.</a:t>
            </a:r>
            <a:endParaRPr lang="en-US" sz="1300" dirty="0"/>
          </a:p>
        </p:txBody>
      </p:sp>
      <p:sp>
        <p:nvSpPr>
          <p:cNvPr id="8" name="Shape 6"/>
          <p:cNvSpPr/>
          <p:nvPr/>
        </p:nvSpPr>
        <p:spPr>
          <a:xfrm>
            <a:off x="548640" y="2478024"/>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9" name="Shape 7"/>
          <p:cNvSpPr/>
          <p:nvPr/>
        </p:nvSpPr>
        <p:spPr>
          <a:xfrm>
            <a:off x="713232" y="2578608"/>
            <a:ext cx="402336" cy="402336"/>
          </a:xfrm>
          <a:prstGeom prst="ellipse">
            <a:avLst/>
          </a:prstGeom>
          <a:solidFill>
            <a:srgbClr val="B6F500"/>
          </a:solidFill>
          <a:ln/>
        </p:spPr>
        <p:txBody>
          <a:bodyPr/>
          <a:lstStyle/>
          <a:p>
            <a:endParaRPr lang="en-IN"/>
          </a:p>
        </p:txBody>
      </p:sp>
      <p:sp>
        <p:nvSpPr>
          <p:cNvPr id="10" name="Text 8"/>
          <p:cNvSpPr/>
          <p:nvPr/>
        </p:nvSpPr>
        <p:spPr>
          <a:xfrm>
            <a:off x="713232" y="2578608"/>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2</a:t>
            </a:r>
            <a:endParaRPr lang="en-US" sz="1200" dirty="0"/>
          </a:p>
        </p:txBody>
      </p:sp>
      <p:sp>
        <p:nvSpPr>
          <p:cNvPr id="11" name="Text 9"/>
          <p:cNvSpPr/>
          <p:nvPr/>
        </p:nvSpPr>
        <p:spPr>
          <a:xfrm>
            <a:off x="1371600" y="2478024"/>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Every agent runs a loop: Goal → Plan → Execute → Observe → Improve.</a:t>
            </a:r>
            <a:endParaRPr lang="en-US" sz="1300" dirty="0"/>
          </a:p>
        </p:txBody>
      </p:sp>
      <p:sp>
        <p:nvSpPr>
          <p:cNvPr id="12" name="Shape 10"/>
          <p:cNvSpPr/>
          <p:nvPr/>
        </p:nvSpPr>
        <p:spPr>
          <a:xfrm>
            <a:off x="548640" y="3172968"/>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13" name="Shape 11"/>
          <p:cNvSpPr/>
          <p:nvPr/>
        </p:nvSpPr>
        <p:spPr>
          <a:xfrm>
            <a:off x="713232" y="3273552"/>
            <a:ext cx="402336" cy="402336"/>
          </a:xfrm>
          <a:prstGeom prst="ellipse">
            <a:avLst/>
          </a:prstGeom>
          <a:solidFill>
            <a:srgbClr val="B6F500"/>
          </a:solidFill>
          <a:ln/>
        </p:spPr>
        <p:txBody>
          <a:bodyPr/>
          <a:lstStyle/>
          <a:p>
            <a:endParaRPr lang="en-IN"/>
          </a:p>
        </p:txBody>
      </p:sp>
      <p:sp>
        <p:nvSpPr>
          <p:cNvPr id="14" name="Text 12"/>
          <p:cNvSpPr/>
          <p:nvPr/>
        </p:nvSpPr>
        <p:spPr>
          <a:xfrm>
            <a:off x="713232" y="3273552"/>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3</a:t>
            </a:r>
            <a:endParaRPr lang="en-US" sz="1200" dirty="0"/>
          </a:p>
        </p:txBody>
      </p:sp>
      <p:sp>
        <p:nvSpPr>
          <p:cNvPr id="15" name="Text 13"/>
          <p:cNvSpPr/>
          <p:nvPr/>
        </p:nvSpPr>
        <p:spPr>
          <a:xfrm>
            <a:off x="1371600" y="3172968"/>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An agent = an LLM brain plus memory, tools, perception and action.</a:t>
            </a:r>
            <a:endParaRPr lang="en-US" sz="1300" dirty="0"/>
          </a:p>
        </p:txBody>
      </p:sp>
      <p:sp>
        <p:nvSpPr>
          <p:cNvPr id="16" name="Shape 14"/>
          <p:cNvSpPr/>
          <p:nvPr/>
        </p:nvSpPr>
        <p:spPr>
          <a:xfrm>
            <a:off x="548640" y="3867912"/>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17" name="Shape 15"/>
          <p:cNvSpPr/>
          <p:nvPr/>
        </p:nvSpPr>
        <p:spPr>
          <a:xfrm>
            <a:off x="713232" y="3968496"/>
            <a:ext cx="402336" cy="402336"/>
          </a:xfrm>
          <a:prstGeom prst="ellipse">
            <a:avLst/>
          </a:prstGeom>
          <a:solidFill>
            <a:srgbClr val="B6F500"/>
          </a:solidFill>
          <a:ln/>
        </p:spPr>
        <p:txBody>
          <a:bodyPr/>
          <a:lstStyle/>
          <a:p>
            <a:endParaRPr lang="en-IN"/>
          </a:p>
        </p:txBody>
      </p:sp>
      <p:sp>
        <p:nvSpPr>
          <p:cNvPr id="18" name="Text 16"/>
          <p:cNvSpPr/>
          <p:nvPr/>
        </p:nvSpPr>
        <p:spPr>
          <a:xfrm>
            <a:off x="713232" y="3968496"/>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4</a:t>
            </a:r>
            <a:endParaRPr lang="en-US" sz="1200" dirty="0"/>
          </a:p>
        </p:txBody>
      </p:sp>
      <p:sp>
        <p:nvSpPr>
          <p:cNvPr id="19" name="Text 17"/>
          <p:cNvSpPr/>
          <p:nvPr/>
        </p:nvSpPr>
        <p:spPr>
          <a:xfrm>
            <a:off x="1371600" y="3867912"/>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Start single-agent and simple; reach for multi-agent only when needed.</a:t>
            </a:r>
            <a:endParaRPr lang="en-US" sz="1300" dirty="0"/>
          </a:p>
        </p:txBody>
      </p:sp>
      <p:sp>
        <p:nvSpPr>
          <p:cNvPr id="20" name="Shape 18"/>
          <p:cNvSpPr/>
          <p:nvPr/>
        </p:nvSpPr>
        <p:spPr>
          <a:xfrm>
            <a:off x="548640" y="4562856"/>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21" name="Shape 19"/>
          <p:cNvSpPr/>
          <p:nvPr/>
        </p:nvSpPr>
        <p:spPr>
          <a:xfrm>
            <a:off x="713232" y="4663440"/>
            <a:ext cx="402336" cy="402336"/>
          </a:xfrm>
          <a:prstGeom prst="ellipse">
            <a:avLst/>
          </a:prstGeom>
          <a:solidFill>
            <a:srgbClr val="B6F500"/>
          </a:solidFill>
          <a:ln/>
        </p:spPr>
        <p:txBody>
          <a:bodyPr/>
          <a:lstStyle/>
          <a:p>
            <a:endParaRPr lang="en-IN"/>
          </a:p>
        </p:txBody>
      </p:sp>
      <p:sp>
        <p:nvSpPr>
          <p:cNvPr id="22" name="Text 20"/>
          <p:cNvSpPr/>
          <p:nvPr/>
        </p:nvSpPr>
        <p:spPr>
          <a:xfrm>
            <a:off x="713232" y="4663440"/>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5</a:t>
            </a:r>
            <a:endParaRPr lang="en-US" sz="1200" dirty="0"/>
          </a:p>
        </p:txBody>
      </p:sp>
      <p:sp>
        <p:nvSpPr>
          <p:cNvPr id="23" name="Text 21"/>
          <p:cNvSpPr/>
          <p:nvPr/>
        </p:nvSpPr>
        <p:spPr>
          <a:xfrm>
            <a:off x="1371600" y="4562856"/>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Power needs responsibility: guardrails, human oversight and logging.</a:t>
            </a:r>
            <a:endParaRPr lang="en-US" sz="1300" dirty="0"/>
          </a:p>
        </p:txBody>
      </p:sp>
      <p:sp>
        <p:nvSpPr>
          <p:cNvPr id="24" name="Shape 22"/>
          <p:cNvSpPr/>
          <p:nvPr/>
        </p:nvSpPr>
        <p:spPr>
          <a:xfrm>
            <a:off x="548640" y="5257800"/>
            <a:ext cx="11091672" cy="603504"/>
          </a:xfrm>
          <a:prstGeom prst="roundRect">
            <a:avLst>
              <a:gd name="adj" fmla="val 13636"/>
            </a:avLst>
          </a:prstGeom>
          <a:solidFill>
            <a:srgbClr val="23272F"/>
          </a:solidFill>
          <a:ln w="12700">
            <a:solidFill>
              <a:srgbClr val="353B45"/>
            </a:solidFill>
            <a:prstDash val="solid"/>
          </a:ln>
        </p:spPr>
        <p:txBody>
          <a:bodyPr/>
          <a:lstStyle/>
          <a:p>
            <a:endParaRPr lang="en-IN"/>
          </a:p>
        </p:txBody>
      </p:sp>
      <p:sp>
        <p:nvSpPr>
          <p:cNvPr id="25" name="Shape 23"/>
          <p:cNvSpPr/>
          <p:nvPr/>
        </p:nvSpPr>
        <p:spPr>
          <a:xfrm>
            <a:off x="713232" y="5358384"/>
            <a:ext cx="402336" cy="402336"/>
          </a:xfrm>
          <a:prstGeom prst="ellipse">
            <a:avLst/>
          </a:prstGeom>
          <a:solidFill>
            <a:srgbClr val="B6F500"/>
          </a:solidFill>
          <a:ln/>
        </p:spPr>
        <p:txBody>
          <a:bodyPr/>
          <a:lstStyle/>
          <a:p>
            <a:endParaRPr lang="en-IN"/>
          </a:p>
        </p:txBody>
      </p:sp>
      <p:sp>
        <p:nvSpPr>
          <p:cNvPr id="26" name="Text 24"/>
          <p:cNvSpPr/>
          <p:nvPr/>
        </p:nvSpPr>
        <p:spPr>
          <a:xfrm>
            <a:off x="713232" y="5358384"/>
            <a:ext cx="402336" cy="402336"/>
          </a:xfrm>
          <a:prstGeom prst="rect">
            <a:avLst/>
          </a:prstGeom>
          <a:noFill/>
          <a:ln/>
        </p:spPr>
        <p:txBody>
          <a:bodyPr wrap="square" lIns="0" tIns="0" rIns="0" bIns="0" rtlCol="0" anchor="ctr"/>
          <a:lstStyle/>
          <a:p>
            <a:pPr marL="0" indent="0" algn="ctr">
              <a:buNone/>
            </a:pPr>
            <a:r>
              <a:rPr lang="en-US" sz="1200" b="1" dirty="0">
                <a:solidFill>
                  <a:srgbClr val="0F1012"/>
                </a:solidFill>
                <a:latin typeface="Segoe UI Semibold" pitchFamily="34" charset="0"/>
                <a:ea typeface="Segoe UI Semibold" pitchFamily="34" charset="-122"/>
                <a:cs typeface="Segoe UI Semibold" pitchFamily="34" charset="-120"/>
              </a:rPr>
              <a:t>6</a:t>
            </a:r>
            <a:endParaRPr lang="en-US" sz="1200" dirty="0"/>
          </a:p>
        </p:txBody>
      </p:sp>
      <p:sp>
        <p:nvSpPr>
          <p:cNvPr id="27" name="Text 25"/>
          <p:cNvSpPr/>
          <p:nvPr/>
        </p:nvSpPr>
        <p:spPr>
          <a:xfrm>
            <a:off x="1371600" y="5257800"/>
            <a:ext cx="10040112" cy="603504"/>
          </a:xfrm>
          <a:prstGeom prst="rect">
            <a:avLst/>
          </a:prstGeom>
          <a:noFill/>
          <a:ln/>
        </p:spPr>
        <p:txBody>
          <a:bodyPr wrap="square" lIns="0" tIns="0" rIns="0" bIns="0" rtlCol="0" anchor="ctr"/>
          <a:lstStyle/>
          <a:p>
            <a:pPr marL="0" indent="0">
              <a:buNone/>
            </a:pPr>
            <a:r>
              <a:rPr lang="en-US" sz="1300" dirty="0">
                <a:solidFill>
                  <a:srgbClr val="C9D1DA"/>
                </a:solidFill>
                <a:latin typeface="Segoe UI" pitchFamily="34" charset="0"/>
                <a:ea typeface="Segoe UI" pitchFamily="34" charset="-122"/>
                <a:cs typeface="Segoe UI" pitchFamily="34" charset="-120"/>
              </a:rPr>
              <a:t>Best way to learn: pick a framework and build a small project this month.</a:t>
            </a:r>
            <a:endParaRPr lang="en-US" sz="1300" dirty="0"/>
          </a:p>
        </p:txBody>
      </p:sp>
      <p:sp>
        <p:nvSpPr>
          <p:cNvPr id="28" name="Shape 26"/>
          <p:cNvSpPr/>
          <p:nvPr/>
        </p:nvSpPr>
        <p:spPr>
          <a:xfrm>
            <a:off x="548640" y="6437376"/>
            <a:ext cx="292608" cy="64008"/>
          </a:xfrm>
          <a:prstGeom prst="rect">
            <a:avLst/>
          </a:prstGeom>
          <a:solidFill>
            <a:srgbClr val="B6F500"/>
          </a:solidFill>
          <a:ln/>
        </p:spPr>
        <p:txBody>
          <a:bodyPr/>
          <a:lstStyle/>
          <a:p>
            <a:endParaRPr lang="en-IN"/>
          </a:p>
        </p:txBody>
      </p:sp>
      <p:sp>
        <p:nvSpPr>
          <p:cNvPr id="29" name="Text 27"/>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30" name="Text 28"/>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A"/>
        </a:solidFill>
        <a:effectLst/>
      </p:bgPr>
    </p:bg>
    <p:spTree>
      <p:nvGrpSpPr>
        <p:cNvPr id="1" name=""/>
        <p:cNvGrpSpPr/>
        <p:nvPr/>
      </p:nvGrpSpPr>
      <p:grpSpPr>
        <a:xfrm>
          <a:off x="0" y="0"/>
          <a:ext cx="0" cy="0"/>
          <a:chOff x="0" y="0"/>
          <a:chExt cx="0" cy="0"/>
        </a:xfrm>
      </p:grpSpPr>
      <p:pic>
        <p:nvPicPr>
          <p:cNvPr id="2" name="Image 0" descr="/agent/turn2/workspace/images/image-bebf20a947e0d493175d9098bcb24e2b.jpg"/>
          <p:cNvPicPr>
            <a:picLocks noChangeAspect="1"/>
          </p:cNvPicPr>
          <p:nvPr/>
        </p:nvPicPr>
        <p:blipFill>
          <a:blip r:embed="rId3"/>
          <a:srcRect t="8747" b="8747"/>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61A">
              <a:alpha val="78000"/>
            </a:srgbClr>
          </a:solidFill>
          <a:ln/>
        </p:spPr>
        <p:txBody>
          <a:bodyPr/>
          <a:lstStyle/>
          <a:p>
            <a:endParaRPr lang="en-IN"/>
          </a:p>
        </p:txBody>
      </p:sp>
      <p:sp>
        <p:nvSpPr>
          <p:cNvPr id="4" name="Shape 1"/>
          <p:cNvSpPr/>
          <p:nvPr/>
        </p:nvSpPr>
        <p:spPr>
          <a:xfrm>
            <a:off x="0" y="2514600"/>
            <a:ext cx="12191695" cy="1828800"/>
          </a:xfrm>
          <a:prstGeom prst="rect">
            <a:avLst/>
          </a:prstGeom>
          <a:solidFill>
            <a:srgbClr val="14161A">
              <a:alpha val="88000"/>
            </a:srgbClr>
          </a:solidFill>
          <a:ln/>
        </p:spPr>
        <p:txBody>
          <a:bodyPr/>
          <a:lstStyle/>
          <a:p>
            <a:endParaRPr lang="en-IN"/>
          </a:p>
        </p:txBody>
      </p:sp>
      <p:sp>
        <p:nvSpPr>
          <p:cNvPr id="5" name="Text 2"/>
          <p:cNvSpPr/>
          <p:nvPr/>
        </p:nvSpPr>
        <p:spPr>
          <a:xfrm>
            <a:off x="0" y="2468880"/>
            <a:ext cx="12191695"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Segoe UI Semibold" pitchFamily="34" charset="0"/>
                <a:ea typeface="Segoe UI Semibold" pitchFamily="34" charset="-122"/>
                <a:cs typeface="Segoe UI Semibold" pitchFamily="34" charset="-120"/>
              </a:rPr>
              <a:t>Q &amp; A</a:t>
            </a:r>
            <a:endParaRPr lang="en-US" sz="6000" dirty="0"/>
          </a:p>
        </p:txBody>
      </p:sp>
      <p:sp>
        <p:nvSpPr>
          <p:cNvPr id="6" name="Text 3"/>
          <p:cNvSpPr/>
          <p:nvPr/>
        </p:nvSpPr>
        <p:spPr>
          <a:xfrm>
            <a:off x="0" y="3520440"/>
            <a:ext cx="12191695" cy="548640"/>
          </a:xfrm>
          <a:prstGeom prst="rect">
            <a:avLst/>
          </a:prstGeom>
          <a:noFill/>
          <a:ln/>
        </p:spPr>
        <p:txBody>
          <a:bodyPr wrap="square" lIns="0" tIns="0" rIns="0" bIns="0" rtlCol="0" anchor="ctr"/>
          <a:lstStyle/>
          <a:p>
            <a:pPr marL="0" indent="0" algn="ctr">
              <a:buNone/>
            </a:pPr>
            <a:r>
              <a:rPr lang="en-US" sz="1700" i="1" dirty="0">
                <a:solidFill>
                  <a:srgbClr val="B6F500"/>
                </a:solidFill>
                <a:latin typeface="Segoe UI" pitchFamily="34" charset="0"/>
                <a:ea typeface="Segoe UI" pitchFamily="34" charset="-122"/>
                <a:cs typeface="Segoe UI" pitchFamily="34" charset="-120"/>
              </a:rPr>
              <a:t>What would you build first — and what's still unclear?</a:t>
            </a:r>
            <a:endParaRPr lang="en-US" sz="1700" dirty="0"/>
          </a:p>
        </p:txBody>
      </p:sp>
      <p:sp>
        <p:nvSpPr>
          <p:cNvPr id="7" name="Shape 4"/>
          <p:cNvSpPr/>
          <p:nvPr/>
        </p:nvSpPr>
        <p:spPr>
          <a:xfrm>
            <a:off x="548640" y="6437376"/>
            <a:ext cx="292608" cy="64008"/>
          </a:xfrm>
          <a:prstGeom prst="rect">
            <a:avLst/>
          </a:prstGeom>
          <a:solidFill>
            <a:srgbClr val="B6F500"/>
          </a:solidFill>
          <a:ln/>
        </p:spPr>
        <p:txBody>
          <a:bodyPr/>
          <a:lstStyle/>
          <a:p>
            <a:endParaRPr lang="en-IN"/>
          </a:p>
        </p:txBody>
      </p:sp>
      <p:sp>
        <p:nvSpPr>
          <p:cNvPr id="8" name="Text 5"/>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9" name="Text 6"/>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61A"/>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10896"/>
          </a:xfrm>
          <a:prstGeom prst="rect">
            <a:avLst/>
          </a:prstGeom>
          <a:noFill/>
          <a:ln/>
        </p:spPr>
        <p:txBody>
          <a:bodyPr wrap="square" lIns="0" tIns="0" rIns="0" bIns="0" rtlCol="0" anchor="ctr"/>
          <a:lstStyle/>
          <a:p>
            <a:pPr marL="0" indent="0" algn="l">
              <a:buNone/>
            </a:pPr>
            <a:r>
              <a:rPr lang="en-US" sz="1250" b="1" kern="0" spc="300" dirty="0">
                <a:solidFill>
                  <a:srgbClr val="B6F500"/>
                </a:solidFill>
                <a:latin typeface="Segoe UI Semibold" pitchFamily="34" charset="0"/>
                <a:ea typeface="Segoe UI Semibold" pitchFamily="34" charset="-122"/>
                <a:cs typeface="Segoe UI Semibold" pitchFamily="34" charset="-120"/>
              </a:rPr>
              <a:t>KEEP LEARNING</a:t>
            </a:r>
            <a:endParaRPr lang="en-US" sz="1250" dirty="0"/>
          </a:p>
        </p:txBody>
      </p:sp>
      <p:sp>
        <p:nvSpPr>
          <p:cNvPr id="3" name="Text 1"/>
          <p:cNvSpPr/>
          <p:nvPr/>
        </p:nvSpPr>
        <p:spPr>
          <a:xfrm>
            <a:off x="548640" y="676656"/>
            <a:ext cx="11064240" cy="786384"/>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Semibold" pitchFamily="34" charset="0"/>
                <a:ea typeface="Segoe UI Semibold" pitchFamily="34" charset="-122"/>
                <a:cs typeface="Segoe UI Semibold" pitchFamily="34" charset="-120"/>
              </a:rPr>
              <a:t>Resources &amp; References</a:t>
            </a:r>
            <a:endParaRPr lang="en-US" sz="3000" dirty="0"/>
          </a:p>
        </p:txBody>
      </p:sp>
      <p:sp>
        <p:nvSpPr>
          <p:cNvPr id="4" name="Shape 2"/>
          <p:cNvSpPr/>
          <p:nvPr/>
        </p:nvSpPr>
        <p:spPr>
          <a:xfrm>
            <a:off x="548640" y="1874520"/>
            <a:ext cx="3584448" cy="3383280"/>
          </a:xfrm>
          <a:prstGeom prst="roundRect">
            <a:avLst>
              <a:gd name="adj" fmla="val 243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5" name="Shape 3"/>
          <p:cNvSpPr/>
          <p:nvPr/>
        </p:nvSpPr>
        <p:spPr>
          <a:xfrm>
            <a:off x="548640" y="1874520"/>
            <a:ext cx="3584448" cy="128016"/>
          </a:xfrm>
          <a:prstGeom prst="rect">
            <a:avLst/>
          </a:prstGeom>
          <a:solidFill>
            <a:srgbClr val="B6F500"/>
          </a:solidFill>
          <a:ln/>
        </p:spPr>
        <p:txBody>
          <a:bodyPr/>
          <a:lstStyle/>
          <a:p>
            <a:endParaRPr lang="en-IN"/>
          </a:p>
        </p:txBody>
      </p:sp>
      <p:sp>
        <p:nvSpPr>
          <p:cNvPr id="6" name="Text 4"/>
          <p:cNvSpPr/>
          <p:nvPr/>
        </p:nvSpPr>
        <p:spPr>
          <a:xfrm>
            <a:off x="822960" y="2240280"/>
            <a:ext cx="3035808" cy="548640"/>
          </a:xfrm>
          <a:prstGeom prst="rect">
            <a:avLst/>
          </a:prstGeom>
          <a:noFill/>
          <a:ln/>
        </p:spPr>
        <p:txBody>
          <a:bodyPr wrap="square" lIns="0" tIns="0" rIns="0" bIns="0" rtlCol="0" anchor="ct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Learn the concepts</a:t>
            </a:r>
            <a:endParaRPr lang="en-US" sz="1600" dirty="0"/>
          </a:p>
        </p:txBody>
      </p:sp>
      <p:sp>
        <p:nvSpPr>
          <p:cNvPr id="7" name="Text 5"/>
          <p:cNvSpPr/>
          <p:nvPr/>
        </p:nvSpPr>
        <p:spPr>
          <a:xfrm>
            <a:off x="841248" y="2926080"/>
            <a:ext cx="3035808" cy="2103120"/>
          </a:xfrm>
          <a:prstGeom prst="rect">
            <a:avLst/>
          </a:prstGeom>
          <a:noFill/>
          <a:ln/>
        </p:spPr>
        <p:txBody>
          <a:bodyPr wrap="square" lIns="0" tIns="0" rIns="0" bIns="0" rtlCol="0" anchor="t"/>
          <a:lstStyle/>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Framework docs: LangGraph, CrewAI, AutoGen</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OpenAI Agents SDK guide &amp; quickstarts</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‘ReAct’ and agent-pattern explainers</a:t>
            </a:r>
            <a:endParaRPr lang="en-US" sz="1250" dirty="0"/>
          </a:p>
        </p:txBody>
      </p:sp>
      <p:sp>
        <p:nvSpPr>
          <p:cNvPr id="8" name="Shape 6"/>
          <p:cNvSpPr/>
          <p:nvPr/>
        </p:nvSpPr>
        <p:spPr>
          <a:xfrm>
            <a:off x="4297680" y="1874520"/>
            <a:ext cx="3584448" cy="3383280"/>
          </a:xfrm>
          <a:prstGeom prst="roundRect">
            <a:avLst>
              <a:gd name="adj" fmla="val 243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9" name="Shape 7"/>
          <p:cNvSpPr/>
          <p:nvPr/>
        </p:nvSpPr>
        <p:spPr>
          <a:xfrm>
            <a:off x="4297680" y="1874520"/>
            <a:ext cx="3584448" cy="128016"/>
          </a:xfrm>
          <a:prstGeom prst="rect">
            <a:avLst/>
          </a:prstGeom>
          <a:solidFill>
            <a:srgbClr val="B6F500"/>
          </a:solidFill>
          <a:ln/>
        </p:spPr>
        <p:txBody>
          <a:bodyPr/>
          <a:lstStyle/>
          <a:p>
            <a:endParaRPr lang="en-IN"/>
          </a:p>
        </p:txBody>
      </p:sp>
      <p:sp>
        <p:nvSpPr>
          <p:cNvPr id="10" name="Text 8"/>
          <p:cNvSpPr/>
          <p:nvPr/>
        </p:nvSpPr>
        <p:spPr>
          <a:xfrm>
            <a:off x="4572000" y="2240280"/>
            <a:ext cx="3035808" cy="548640"/>
          </a:xfrm>
          <a:prstGeom prst="rect">
            <a:avLst/>
          </a:prstGeom>
          <a:noFill/>
          <a:ln/>
        </p:spPr>
        <p:txBody>
          <a:bodyPr wrap="square" lIns="0" tIns="0" rIns="0" bIns="0" rtlCol="0" anchor="ct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Build &amp; practice</a:t>
            </a:r>
            <a:endParaRPr lang="en-US" sz="1600" dirty="0"/>
          </a:p>
        </p:txBody>
      </p:sp>
      <p:sp>
        <p:nvSpPr>
          <p:cNvPr id="11" name="Text 9"/>
          <p:cNvSpPr/>
          <p:nvPr/>
        </p:nvSpPr>
        <p:spPr>
          <a:xfrm>
            <a:off x="4590288" y="2926080"/>
            <a:ext cx="3035808" cy="2103120"/>
          </a:xfrm>
          <a:prstGeom prst="rect">
            <a:avLst/>
          </a:prstGeom>
          <a:noFill/>
          <a:ln/>
        </p:spPr>
        <p:txBody>
          <a:bodyPr wrap="square" lIns="0" tIns="0" rIns="0" bIns="0" rtlCol="0" anchor="t"/>
          <a:lstStyle/>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Each framework's starter tutorials</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Hands-on: the study-buddy agent exercise</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Share projects on GitHub for feedback</a:t>
            </a:r>
            <a:endParaRPr lang="en-US" sz="1250" dirty="0"/>
          </a:p>
        </p:txBody>
      </p:sp>
      <p:sp>
        <p:nvSpPr>
          <p:cNvPr id="12" name="Shape 10"/>
          <p:cNvSpPr/>
          <p:nvPr/>
        </p:nvSpPr>
        <p:spPr>
          <a:xfrm>
            <a:off x="8046720" y="1874520"/>
            <a:ext cx="3584448" cy="3383280"/>
          </a:xfrm>
          <a:prstGeom prst="roundRect">
            <a:avLst>
              <a:gd name="adj" fmla="val 2432"/>
            </a:avLst>
          </a:prstGeom>
          <a:solidFill>
            <a:srgbClr val="23272F"/>
          </a:solidFill>
          <a:ln w="12700">
            <a:solidFill>
              <a:srgbClr val="353B45"/>
            </a:solidFill>
            <a:prstDash val="solid"/>
          </a:ln>
          <a:effectLst>
            <a:outerShdw blurRad="114300" dist="38100" dir="5400000" algn="bl" rotWithShape="0">
              <a:srgbClr val="000000">
                <a:alpha val="35000"/>
              </a:srgbClr>
            </a:outerShdw>
          </a:effectLst>
        </p:spPr>
        <p:txBody>
          <a:bodyPr/>
          <a:lstStyle/>
          <a:p>
            <a:endParaRPr lang="en-IN"/>
          </a:p>
        </p:txBody>
      </p:sp>
      <p:sp>
        <p:nvSpPr>
          <p:cNvPr id="13" name="Shape 11"/>
          <p:cNvSpPr/>
          <p:nvPr/>
        </p:nvSpPr>
        <p:spPr>
          <a:xfrm>
            <a:off x="8046720" y="1874520"/>
            <a:ext cx="3584448" cy="128016"/>
          </a:xfrm>
          <a:prstGeom prst="rect">
            <a:avLst/>
          </a:prstGeom>
          <a:solidFill>
            <a:srgbClr val="B6F500"/>
          </a:solidFill>
          <a:ln/>
        </p:spPr>
        <p:txBody>
          <a:bodyPr/>
          <a:lstStyle/>
          <a:p>
            <a:endParaRPr lang="en-IN"/>
          </a:p>
        </p:txBody>
      </p:sp>
      <p:sp>
        <p:nvSpPr>
          <p:cNvPr id="14" name="Text 12"/>
          <p:cNvSpPr/>
          <p:nvPr/>
        </p:nvSpPr>
        <p:spPr>
          <a:xfrm>
            <a:off x="8321040" y="2240280"/>
            <a:ext cx="3035808" cy="548640"/>
          </a:xfrm>
          <a:prstGeom prst="rect">
            <a:avLst/>
          </a:prstGeom>
          <a:noFill/>
          <a:ln/>
        </p:spPr>
        <p:txBody>
          <a:bodyPr wrap="square" lIns="0" tIns="0" rIns="0" bIns="0" rtlCol="0" anchor="ct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Stay current &amp; safe</a:t>
            </a:r>
            <a:endParaRPr lang="en-US" sz="1600" dirty="0"/>
          </a:p>
        </p:txBody>
      </p:sp>
      <p:sp>
        <p:nvSpPr>
          <p:cNvPr id="15" name="Text 13"/>
          <p:cNvSpPr/>
          <p:nvPr/>
        </p:nvSpPr>
        <p:spPr>
          <a:xfrm>
            <a:off x="8339328" y="2926080"/>
            <a:ext cx="3035808" cy="2103120"/>
          </a:xfrm>
          <a:prstGeom prst="rect">
            <a:avLst/>
          </a:prstGeom>
          <a:noFill/>
          <a:ln/>
        </p:spPr>
        <p:txBody>
          <a:bodyPr wrap="square" lIns="0" tIns="0" rIns="0" bIns="0" rtlCol="0" anchor="t"/>
          <a:lstStyle/>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Industry reports: Gartner, McKinsey, IEEE</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OWASP Top 10 for agentic apps</a:t>
            </a:r>
            <a:endParaRPr lang="en-US" sz="1250" dirty="0"/>
          </a:p>
          <a:p>
            <a:pPr marL="177800" indent="-177800">
              <a:lnSpc>
                <a:spcPts val="1600"/>
              </a:lnSpc>
              <a:spcAft>
                <a:spcPts val="1000"/>
              </a:spcAft>
              <a:buSzPct val="100000"/>
              <a:buChar char="•"/>
            </a:pPr>
            <a:r>
              <a:rPr lang="en-US" sz="1250" dirty="0">
                <a:solidFill>
                  <a:srgbClr val="C9D1DA"/>
                </a:solidFill>
                <a:latin typeface="Segoe UI" pitchFamily="34" charset="0"/>
                <a:ea typeface="Segoe UI" pitchFamily="34" charset="-122"/>
                <a:cs typeface="Segoe UI" pitchFamily="34" charset="-120"/>
              </a:rPr>
              <a:t>Microsoft &amp; cloud AI architecture docs</a:t>
            </a:r>
            <a:endParaRPr lang="en-US" sz="1250" dirty="0"/>
          </a:p>
        </p:txBody>
      </p:sp>
      <p:sp>
        <p:nvSpPr>
          <p:cNvPr id="16" name="Text 14"/>
          <p:cNvSpPr/>
          <p:nvPr/>
        </p:nvSpPr>
        <p:spPr>
          <a:xfrm>
            <a:off x="548640" y="5623560"/>
            <a:ext cx="11091672" cy="457200"/>
          </a:xfrm>
          <a:prstGeom prst="rect">
            <a:avLst/>
          </a:prstGeom>
          <a:noFill/>
          <a:ln/>
        </p:spPr>
        <p:txBody>
          <a:bodyPr wrap="square" lIns="0" tIns="0" rIns="0" bIns="0" rtlCol="0" anchor="ctr"/>
          <a:lstStyle/>
          <a:p>
            <a:pPr marL="0" indent="0" algn="ctr">
              <a:buNone/>
            </a:pPr>
            <a:r>
              <a:rPr lang="en-US" sz="1600" b="1" dirty="0">
                <a:solidFill>
                  <a:srgbClr val="B6F500"/>
                </a:solidFill>
                <a:latin typeface="Segoe UI Semibold" pitchFamily="34" charset="0"/>
                <a:ea typeface="Segoe UI Semibold" pitchFamily="34" charset="-122"/>
                <a:cs typeface="Segoe UI Semibold" pitchFamily="34" charset="-120"/>
              </a:rPr>
              <a:t>Thank you!  Now go build your first agent.</a:t>
            </a:r>
            <a:endParaRPr lang="en-US" sz="1600" dirty="0"/>
          </a:p>
        </p:txBody>
      </p:sp>
      <p:sp>
        <p:nvSpPr>
          <p:cNvPr id="17" name="Shape 15"/>
          <p:cNvSpPr/>
          <p:nvPr/>
        </p:nvSpPr>
        <p:spPr>
          <a:xfrm>
            <a:off x="548640" y="6437376"/>
            <a:ext cx="292608" cy="64008"/>
          </a:xfrm>
          <a:prstGeom prst="rect">
            <a:avLst/>
          </a:prstGeom>
          <a:solidFill>
            <a:srgbClr val="B6F500"/>
          </a:solidFill>
          <a:ln/>
        </p:spPr>
        <p:txBody>
          <a:bodyPr/>
          <a:lstStyle/>
          <a:p>
            <a:endParaRPr lang="en-IN"/>
          </a:p>
        </p:txBody>
      </p:sp>
      <p:sp>
        <p:nvSpPr>
          <p:cNvPr id="18" name="Text 16"/>
          <p:cNvSpPr/>
          <p:nvPr/>
        </p:nvSpPr>
        <p:spPr>
          <a:xfrm>
            <a:off x="914400" y="6272784"/>
            <a:ext cx="5486400" cy="365760"/>
          </a:xfrm>
          <a:prstGeom prst="rect">
            <a:avLst/>
          </a:prstGeom>
          <a:noFill/>
          <a:ln/>
        </p:spPr>
        <p:txBody>
          <a:bodyPr wrap="square" rtlCol="0" anchor="ctr"/>
          <a:lstStyle/>
          <a:p>
            <a:pPr marL="0" indent="0" algn="l">
              <a:buNone/>
            </a:pPr>
            <a:r>
              <a:rPr lang="en-US" sz="900" dirty="0">
                <a:solidFill>
                  <a:srgbClr val="9AA6B2"/>
                </a:solidFill>
                <a:latin typeface="Segoe UI" pitchFamily="34" charset="0"/>
                <a:ea typeface="Segoe UI" pitchFamily="34" charset="-122"/>
                <a:cs typeface="Segoe UI" pitchFamily="34" charset="-120"/>
              </a:rPr>
              <a:t>Introduction to Agentic AI</a:t>
            </a:r>
            <a:endParaRPr lang="en-US" sz="900" dirty="0"/>
          </a:p>
        </p:txBody>
      </p:sp>
      <p:sp>
        <p:nvSpPr>
          <p:cNvPr id="19" name="Text 17"/>
          <p:cNvSpPr/>
          <p:nvPr/>
        </p:nvSpPr>
        <p:spPr>
          <a:xfrm>
            <a:off x="10972800" y="6272784"/>
            <a:ext cx="667512" cy="365760"/>
          </a:xfrm>
          <a:prstGeom prst="rect">
            <a:avLst/>
          </a:prstGeom>
          <a:noFill/>
          <a:ln/>
        </p:spPr>
        <p:txBody>
          <a:bodyPr wrap="square" rtlCol="0" anchor="ctr"/>
          <a:lstStyle/>
          <a:p>
            <a:pPr marL="0" indent="0" algn="r">
              <a:buNone/>
            </a:pPr>
            <a:r>
              <a:rPr lang="en-US" sz="1100" b="1" dirty="0">
                <a:solidFill>
                  <a:srgbClr val="B6F500"/>
                </a:solidFill>
                <a:latin typeface="Segoe UI Semibold" pitchFamily="34" charset="0"/>
                <a:ea typeface="Segoe UI Semibold" pitchFamily="34" charset="-122"/>
                <a:cs typeface="Segoe UI Semibold"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4338</Words>
  <Application>Microsoft Office PowerPoint</Application>
  <PresentationFormat>Widescreen</PresentationFormat>
  <Paragraphs>388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 Prasad KAPPA</dc:creator>
  <cp:lastModifiedBy>Venkata Prasad KAPPA</cp:lastModifiedBy>
  <cp:revision>1</cp:revision>
  <dcterms:created xsi:type="dcterms:W3CDTF">2026-06-21T07:10:52Z</dcterms:created>
  <dcterms:modified xsi:type="dcterms:W3CDTF">2026-06-21T08:56:28Z</dcterms:modified>
</cp:coreProperties>
</file>