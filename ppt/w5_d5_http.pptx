
<file path=[Content_Types].xml><?xml version="1.0" encoding="utf-8"?>
<Types xmlns="http://schemas.openxmlformats.org/package/2006/content-types">
  <Default Extension="jpeg" ContentType="image/jpeg"/>
  <Default Extension="jpg" ContentType="image/jp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5" d="100"/>
          <a:sy n="85" d="100"/>
        </p:scale>
        <p:origin x="966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6/19/2026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775970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agent/turn1/workspace/images/image-80ea7fbb0b7e6cbcd3fc845ef9b73583.jpg"/>
          <p:cNvPicPr>
            <a:picLocks noChangeAspect="1"/>
          </p:cNvPicPr>
          <p:nvPr/>
        </p:nvPicPr>
        <p:blipFill>
          <a:blip r:embed="rId3"/>
          <a:srcRect t="7813" b="7813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72A">
              <a:alpha val="62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Shape 1"/>
          <p:cNvSpPr/>
          <p:nvPr/>
        </p:nvSpPr>
        <p:spPr>
          <a:xfrm>
            <a:off x="0" y="2743200"/>
            <a:ext cx="9144000" cy="2400300"/>
          </a:xfrm>
          <a:prstGeom prst="rect">
            <a:avLst/>
          </a:prstGeom>
          <a:solidFill>
            <a:srgbClr val="0F172A">
              <a:alpha val="88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2"/>
          <p:cNvSpPr/>
          <p:nvPr/>
        </p:nvSpPr>
        <p:spPr>
          <a:xfrm>
            <a:off x="548640" y="13258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INTERN TECHNICAL TRAINING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502920" y="169164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HTTP Communication</a:t>
            </a:r>
            <a:endParaRPr lang="en-US" sz="5400" dirty="0"/>
          </a:p>
        </p:txBody>
      </p:sp>
      <p:sp>
        <p:nvSpPr>
          <p:cNvPr id="7" name="Text 4"/>
          <p:cNvSpPr/>
          <p:nvPr/>
        </p:nvSpPr>
        <p:spPr>
          <a:xfrm>
            <a:off x="548640" y="2651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5EEA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From the Web to FastAPI</a:t>
            </a:r>
            <a:endParaRPr lang="en-US" sz="2600" dirty="0"/>
          </a:p>
        </p:txBody>
      </p:sp>
      <p:sp>
        <p:nvSpPr>
          <p:cNvPr id="8" name="Text 5"/>
          <p:cNvSpPr/>
          <p:nvPr/>
        </p:nvSpPr>
        <p:spPr>
          <a:xfrm>
            <a:off x="548640" y="3337560"/>
            <a:ext cx="7498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clients and servers talk over the web — methods, status codes, REST, security, and building fast APIs in Python.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457200" y="3017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kern="0" spc="200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ROADMAP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You'll Learn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57200" y="1508760"/>
            <a:ext cx="406908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88900" dist="38100" dir="5400000" algn="bl" rotWithShape="0">
              <a:srgbClr val="0F172A">
                <a:alpha val="16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658368" y="1691640"/>
            <a:ext cx="914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01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1600200" y="1746504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HTTP Fundamentals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1600200" y="2167128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Requests, responses, methods, status codes &amp; headers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983480" y="1508760"/>
            <a:ext cx="406908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88900" dist="38100" dir="5400000" algn="bl" rotWithShape="0">
              <a:srgbClr val="0F172A">
                <a:alpha val="16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5184648" y="1691640"/>
            <a:ext cx="914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14B8A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02</a:t>
            </a:r>
            <a:endParaRPr lang="en-US" sz="4000" dirty="0"/>
          </a:p>
        </p:txBody>
      </p:sp>
      <p:sp>
        <p:nvSpPr>
          <p:cNvPr id="11" name="Text 9"/>
          <p:cNvSpPr/>
          <p:nvPr/>
        </p:nvSpPr>
        <p:spPr>
          <a:xfrm>
            <a:off x="6126480" y="1746504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Client vs Server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6126480" y="2167128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does what, and how the two sides talk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457200" y="3090672"/>
            <a:ext cx="406908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88900" dist="38100" dir="5400000" algn="bl" rotWithShape="0">
              <a:srgbClr val="0F172A">
                <a:alpha val="16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658368" y="3273552"/>
            <a:ext cx="914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03</a:t>
            </a:r>
            <a:endParaRPr lang="en-US" sz="4000" dirty="0"/>
          </a:p>
        </p:txBody>
      </p:sp>
      <p:sp>
        <p:nvSpPr>
          <p:cNvPr id="15" name="Text 13"/>
          <p:cNvSpPr/>
          <p:nvPr/>
        </p:nvSpPr>
        <p:spPr>
          <a:xfrm>
            <a:off x="1600200" y="3328416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REST &amp; Standards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1600200" y="3749040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principles, HTTPS, TLS &amp; authentication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4983480" y="3090672"/>
            <a:ext cx="406908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88900" dist="38100" dir="5400000" algn="bl" rotWithShape="0">
              <a:srgbClr val="0F172A">
                <a:alpha val="16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5184648" y="3273552"/>
            <a:ext cx="914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43F5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04</a:t>
            </a:r>
            <a:endParaRPr lang="en-US" sz="4000" dirty="0"/>
          </a:p>
        </p:txBody>
      </p:sp>
      <p:sp>
        <p:nvSpPr>
          <p:cNvPr id="19" name="Text 17"/>
          <p:cNvSpPr/>
          <p:nvPr/>
        </p:nvSpPr>
        <p:spPr>
          <a:xfrm>
            <a:off x="6126480" y="3328416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FastAPI in Action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6126480" y="3749040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modern Python framework and why it's fast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457200" y="473659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 Communication // Roadmap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8229600" y="473659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457200" y="3017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kern="0" spc="200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FOUNDATIONS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Is HTTP?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57200" y="1508760"/>
            <a:ext cx="3931920" cy="2971800"/>
          </a:xfrm>
          <a:prstGeom prst="roundRect">
            <a:avLst>
              <a:gd name="adj" fmla="val 246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88900" dist="38100" dir="5400000" algn="bl" rotWithShape="0">
              <a:srgbClr val="0F172A">
                <a:alpha val="16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685800" y="1691640"/>
            <a:ext cx="3520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language of the web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85800" y="2148840"/>
            <a:ext cx="35204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HyperText Transfer Protocol</a:t>
            </a: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is the set of rules browsers, apps, and servers use to exchange data over the web.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85800" y="3063240"/>
            <a:ext cx="35204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page load, API call, and form submit is one or more HTTP messages travelling between a </a:t>
            </a:r>
            <a:r>
              <a:rPr lang="en-US" sz="14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</a:t>
            </a: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and a </a:t>
            </a:r>
            <a:r>
              <a:rPr lang="en-US" sz="1400" b="1" dirty="0">
                <a:solidFill>
                  <a:srgbClr val="F43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</a:t>
            </a: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663440" y="1508760"/>
            <a:ext cx="4023360" cy="676656"/>
          </a:xfrm>
          <a:prstGeom prst="roundRect">
            <a:avLst>
              <a:gd name="adj" fmla="val 1081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88900" dist="38100" dir="5400000" algn="bl" rotWithShape="0">
              <a:srgbClr val="0F172A">
                <a:alpha val="16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4663440" y="1508760"/>
            <a:ext cx="82296" cy="676656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4864608" y="157276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Request – Response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864608" y="1837944"/>
            <a:ext cx="3657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client asks, the server answers — one round trip at a time.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663440" y="2295144"/>
            <a:ext cx="4023360" cy="676656"/>
          </a:xfrm>
          <a:prstGeom prst="roundRect">
            <a:avLst>
              <a:gd name="adj" fmla="val 1081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88900" dist="38100" dir="5400000" algn="bl" rotWithShape="0">
              <a:srgbClr val="0F172A">
                <a:alpha val="16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4" name="Shape 12"/>
          <p:cNvSpPr/>
          <p:nvPr/>
        </p:nvSpPr>
        <p:spPr>
          <a:xfrm>
            <a:off x="4663440" y="2295144"/>
            <a:ext cx="82296" cy="676656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4864608" y="23591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Stateless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864608" y="2624328"/>
            <a:ext cx="3657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request stands alone; the server remembers nothing between them by default.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663440" y="3081528"/>
            <a:ext cx="4023360" cy="676656"/>
          </a:xfrm>
          <a:prstGeom prst="roundRect">
            <a:avLst>
              <a:gd name="adj" fmla="val 1081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88900" dist="38100" dir="5400000" algn="bl" rotWithShape="0">
              <a:srgbClr val="0F172A">
                <a:alpha val="16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8" name="Shape 16"/>
          <p:cNvSpPr/>
          <p:nvPr/>
        </p:nvSpPr>
        <p:spPr>
          <a:xfrm>
            <a:off x="4663440" y="3081528"/>
            <a:ext cx="82296" cy="676656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4864608" y="3145536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Human-readable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864608" y="3410712"/>
            <a:ext cx="3657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Messages are plain text: a start line, headers, then an optional body.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663440" y="3867912"/>
            <a:ext cx="4023360" cy="676656"/>
          </a:xfrm>
          <a:prstGeom prst="roundRect">
            <a:avLst>
              <a:gd name="adj" fmla="val 1081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88900" dist="38100" dir="5400000" algn="bl" rotWithShape="0">
              <a:srgbClr val="0F172A">
                <a:alpha val="16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2" name="Shape 20"/>
          <p:cNvSpPr/>
          <p:nvPr/>
        </p:nvSpPr>
        <p:spPr>
          <a:xfrm>
            <a:off x="4663440" y="3867912"/>
            <a:ext cx="82296" cy="676656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4864608" y="39319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Built on TCP/IP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4864608" y="4197096"/>
            <a:ext cx="3657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Reliable delivery underneath; HTTPS adds an encrypted TLS layer on top.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57200" y="473659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 Communication // Foundations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8229600" y="473659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457200" y="3017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kern="0" spc="200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FOUNDATIONS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Request–Response Lifecycle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0" y="1554480"/>
            <a:ext cx="3200400" cy="2834640"/>
          </a:xfrm>
          <a:prstGeom prst="roundRect">
            <a:avLst>
              <a:gd name="adj" fmla="val 258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88900" dist="38100" dir="5400000" algn="bl" rotWithShape="0">
              <a:srgbClr val="0F172A">
                <a:alpha val="16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6" name="Image 0" descr="/agent/turn1/workspace/images/image-216abeed9296ffda40b9131067b7986c.jpg"/>
          <p:cNvPicPr>
            <a:picLocks noChangeAspect="1"/>
          </p:cNvPicPr>
          <p:nvPr/>
        </p:nvPicPr>
        <p:blipFill>
          <a:blip r:embed="rId3"/>
          <a:srcRect l="12005" r="12005"/>
          <a:stretch/>
        </p:blipFill>
        <p:spPr>
          <a:xfrm>
            <a:off x="5596128" y="1664208"/>
            <a:ext cx="2980944" cy="2615184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457200" y="1572768"/>
            <a:ext cx="484632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88900" dist="38100" dir="5400000" algn="bl" rotWithShape="0">
              <a:srgbClr val="0F172A">
                <a:alpha val="16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8" name="Shape 5"/>
          <p:cNvSpPr/>
          <p:nvPr/>
        </p:nvSpPr>
        <p:spPr>
          <a:xfrm>
            <a:off x="621792" y="1719072"/>
            <a:ext cx="384048" cy="384048"/>
          </a:xfrm>
          <a:prstGeom prst="ellipse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Text 6"/>
          <p:cNvSpPr/>
          <p:nvPr/>
        </p:nvSpPr>
        <p:spPr>
          <a:xfrm>
            <a:off x="621792" y="171907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1170432" y="1655064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Client sends a request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1170432" y="192024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browser or app opens a connection and sends a method + URL.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457200" y="2322576"/>
            <a:ext cx="484632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88900" dist="38100" dir="5400000" algn="bl" rotWithShape="0">
              <a:srgbClr val="0F172A">
                <a:alpha val="16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3" name="Shape 10"/>
          <p:cNvSpPr/>
          <p:nvPr/>
        </p:nvSpPr>
        <p:spPr>
          <a:xfrm>
            <a:off x="621792" y="2468880"/>
            <a:ext cx="384048" cy="384048"/>
          </a:xfrm>
          <a:prstGeom prst="ellipse">
            <a:avLst/>
          </a:prstGeom>
          <a:solidFill>
            <a:srgbClr val="F43F5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Text 11"/>
          <p:cNvSpPr/>
          <p:nvPr/>
        </p:nvSpPr>
        <p:spPr>
          <a:xfrm>
            <a:off x="621792" y="246888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800" dirty="0"/>
          </a:p>
        </p:txBody>
      </p:sp>
      <p:sp>
        <p:nvSpPr>
          <p:cNvPr id="15" name="Text 12"/>
          <p:cNvSpPr/>
          <p:nvPr/>
        </p:nvSpPr>
        <p:spPr>
          <a:xfrm>
            <a:off x="1170432" y="2404872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Server receives &amp; processes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1170432" y="2670048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routes the request, runs logic, and may query a database.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457200" y="3072384"/>
            <a:ext cx="484632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88900" dist="38100" dir="5400000" algn="bl" rotWithShape="0">
              <a:srgbClr val="0F172A">
                <a:alpha val="16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8" name="Shape 15"/>
          <p:cNvSpPr/>
          <p:nvPr/>
        </p:nvSpPr>
        <p:spPr>
          <a:xfrm>
            <a:off x="621792" y="3218688"/>
            <a:ext cx="384048" cy="384048"/>
          </a:xfrm>
          <a:prstGeom prst="ellipse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9" name="Text 16"/>
          <p:cNvSpPr/>
          <p:nvPr/>
        </p:nvSpPr>
        <p:spPr>
          <a:xfrm>
            <a:off x="621792" y="321868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800" dirty="0"/>
          </a:p>
        </p:txBody>
      </p:sp>
      <p:sp>
        <p:nvSpPr>
          <p:cNvPr id="20" name="Text 17"/>
          <p:cNvSpPr/>
          <p:nvPr/>
        </p:nvSpPr>
        <p:spPr>
          <a:xfrm>
            <a:off x="1170432" y="315468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Server returns a response</a:t>
            </a:r>
            <a:endParaRPr lang="en-US" sz="1400" dirty="0"/>
          </a:p>
        </p:txBody>
      </p:sp>
      <p:sp>
        <p:nvSpPr>
          <p:cNvPr id="21" name="Text 18"/>
          <p:cNvSpPr/>
          <p:nvPr/>
        </p:nvSpPr>
        <p:spPr>
          <a:xfrm>
            <a:off x="1170432" y="3419856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status code, headers, and usually a body (JSON, HTML…).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457200" y="3822192"/>
            <a:ext cx="484632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88900" dist="38100" dir="5400000" algn="bl" rotWithShape="0">
              <a:srgbClr val="0F172A">
                <a:alpha val="16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3" name="Shape 20"/>
          <p:cNvSpPr/>
          <p:nvPr/>
        </p:nvSpPr>
        <p:spPr>
          <a:xfrm>
            <a:off x="621792" y="3968496"/>
            <a:ext cx="384048" cy="384048"/>
          </a:xfrm>
          <a:prstGeom prst="ellipse">
            <a:avLst/>
          </a:prstGeom>
          <a:solidFill>
            <a:srgbClr val="F43F5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4" name="Text 21"/>
          <p:cNvSpPr/>
          <p:nvPr/>
        </p:nvSpPr>
        <p:spPr>
          <a:xfrm>
            <a:off x="621792" y="3968496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800" dirty="0"/>
          </a:p>
        </p:txBody>
      </p:sp>
      <p:sp>
        <p:nvSpPr>
          <p:cNvPr id="25" name="Text 22"/>
          <p:cNvSpPr/>
          <p:nvPr/>
        </p:nvSpPr>
        <p:spPr>
          <a:xfrm>
            <a:off x="1170432" y="3904488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Client renders the result</a:t>
            </a:r>
            <a:endParaRPr lang="en-US" sz="1400" dirty="0"/>
          </a:p>
        </p:txBody>
      </p:sp>
      <p:sp>
        <p:nvSpPr>
          <p:cNvPr id="26" name="Text 23"/>
          <p:cNvSpPr/>
          <p:nvPr/>
        </p:nvSpPr>
        <p:spPr>
          <a:xfrm>
            <a:off x="1170432" y="4169664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app displays data or reacts — then the cycle repeats.</a:t>
            </a:r>
            <a:endParaRPr lang="en-US" sz="1100" dirty="0"/>
          </a:p>
        </p:txBody>
      </p:sp>
      <p:sp>
        <p:nvSpPr>
          <p:cNvPr id="27" name="Text 24"/>
          <p:cNvSpPr/>
          <p:nvPr/>
        </p:nvSpPr>
        <p:spPr>
          <a:xfrm>
            <a:off x="457200" y="473659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 Communication // Foundations</a:t>
            </a:r>
            <a:endParaRPr lang="en-US" sz="900" dirty="0"/>
          </a:p>
        </p:txBody>
      </p:sp>
      <p:sp>
        <p:nvSpPr>
          <p:cNvPr id="28" name="Text 25"/>
          <p:cNvSpPr/>
          <p:nvPr/>
        </p:nvSpPr>
        <p:spPr>
          <a:xfrm>
            <a:off x="8229600" y="473659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457200" y="3017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kern="0" spc="200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FOUNDATIONS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Anatomy of an HTTP Request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57200" y="1554480"/>
            <a:ext cx="4114800" cy="2834640"/>
          </a:xfrm>
          <a:prstGeom prst="roundRect">
            <a:avLst>
              <a:gd name="adj" fmla="val 2581"/>
            </a:avLst>
          </a:prstGeom>
          <a:solidFill>
            <a:srgbClr val="0F172A"/>
          </a:solidFill>
          <a:ln w="12700">
            <a:solidFill>
              <a:srgbClr val="E2E8F0"/>
            </a:solidFill>
            <a:prstDash val="solid"/>
          </a:ln>
          <a:effectLst>
            <a:outerShdw blurRad="88900" dist="38100" dir="5400000" algn="bl" rotWithShape="0">
              <a:srgbClr val="0F172A">
                <a:alpha val="16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658368" y="1737360"/>
            <a:ext cx="3749040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b="1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</a:t>
            </a: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/api/users/42</a:t>
            </a:r>
            <a:r>
              <a:rPr lang="en-US" sz="13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HTTP/1.1</a:t>
            </a:r>
            <a:endParaRPr lang="en-US" sz="13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FB71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Host:</a:t>
            </a: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api.example.com</a:t>
            </a:r>
            <a:endParaRPr lang="en-US" sz="13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FB71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Authorization:</a:t>
            </a: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Bearer eyJhbGci…</a:t>
            </a:r>
            <a:endParaRPr lang="en-US" sz="13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FB71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Accept:</a:t>
            </a: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application/json</a:t>
            </a:r>
            <a:endParaRPr lang="en-US" sz="13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FB71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Content-Type:</a:t>
            </a: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application/json</a:t>
            </a:r>
            <a:endParaRPr lang="en-US" sz="13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3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 "active": true }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800600" y="1554480"/>
            <a:ext cx="388620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88900" dist="38100" dir="5400000" algn="bl" rotWithShape="0">
              <a:srgbClr val="0F172A">
                <a:alpha val="16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4800600" y="1554480"/>
            <a:ext cx="82296" cy="658368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5001768" y="1618488"/>
            <a:ext cx="3520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Method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001768" y="1883664"/>
            <a:ext cx="3520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action to perform — GET, POST, PUT, PATCH, DELETE.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800600" y="2304288"/>
            <a:ext cx="388620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88900" dist="38100" dir="5400000" algn="bl" rotWithShape="0">
              <a:srgbClr val="0F172A">
                <a:alpha val="16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2" name="Shape 10"/>
          <p:cNvSpPr/>
          <p:nvPr/>
        </p:nvSpPr>
        <p:spPr>
          <a:xfrm>
            <a:off x="4800600" y="2304288"/>
            <a:ext cx="82296" cy="658368"/>
          </a:xfrm>
          <a:prstGeom prst="rect">
            <a:avLst/>
          </a:prstGeom>
          <a:solidFill>
            <a:srgbClr val="14B8A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5001768" y="2368296"/>
            <a:ext cx="3520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Path / URL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001768" y="2633472"/>
            <a:ext cx="3520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resource you're targeting (e.g. /api/users/42).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800600" y="3054096"/>
            <a:ext cx="388620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88900" dist="38100" dir="5400000" algn="bl" rotWithShape="0">
              <a:srgbClr val="0F172A">
                <a:alpha val="16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6" name="Shape 14"/>
          <p:cNvSpPr/>
          <p:nvPr/>
        </p:nvSpPr>
        <p:spPr>
          <a:xfrm>
            <a:off x="4800600" y="3054096"/>
            <a:ext cx="82296" cy="658368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5001768" y="3118104"/>
            <a:ext cx="3520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Headers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001768" y="3383280"/>
            <a:ext cx="3520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Metadata: auth tokens, content type, accepted formats.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800600" y="3803904"/>
            <a:ext cx="388620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88900" dist="38100" dir="5400000" algn="bl" rotWithShape="0">
              <a:srgbClr val="0F172A">
                <a:alpha val="16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0" name="Shape 18"/>
          <p:cNvSpPr/>
          <p:nvPr/>
        </p:nvSpPr>
        <p:spPr>
          <a:xfrm>
            <a:off x="4800600" y="3803904"/>
            <a:ext cx="82296" cy="658368"/>
          </a:xfrm>
          <a:prstGeom prst="rect">
            <a:avLst/>
          </a:prstGeom>
          <a:solidFill>
            <a:srgbClr val="F43F5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5001768" y="3867912"/>
            <a:ext cx="3520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Body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5001768" y="4133088"/>
            <a:ext cx="3520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Optional payload sent with POST/PUT/PATCH (often JSON).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57200" y="473659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 Communication // Foundations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8229600" y="473659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457200" y="3017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kern="0" spc="200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FOUNDATIONS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Anatomy of an HTTP Response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800600" y="1572768"/>
            <a:ext cx="388620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88900" dist="38100" dir="5400000" algn="bl" rotWithShape="0">
              <a:srgbClr val="0F172A">
                <a:alpha val="16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4800600" y="1572768"/>
            <a:ext cx="82296" cy="841248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5001768" y="1664208"/>
            <a:ext cx="3520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Status line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001768" y="1984248"/>
            <a:ext cx="3520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Protocol version + status code — e.g. 200 OK or 404 Not Found.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800600" y="2560320"/>
            <a:ext cx="388620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88900" dist="38100" dir="5400000" algn="bl" rotWithShape="0">
              <a:srgbClr val="0F172A">
                <a:alpha val="16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4800600" y="2560320"/>
            <a:ext cx="82296" cy="841248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5001768" y="2651760"/>
            <a:ext cx="3520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Headers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5001768" y="2971800"/>
            <a:ext cx="3520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type, length, caching, cookies, security policies.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800600" y="3547872"/>
            <a:ext cx="388620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88900" dist="38100" dir="5400000" algn="bl" rotWithShape="0">
              <a:srgbClr val="0F172A">
                <a:alpha val="16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4" name="Shape 12"/>
          <p:cNvSpPr/>
          <p:nvPr/>
        </p:nvSpPr>
        <p:spPr>
          <a:xfrm>
            <a:off x="4800600" y="3547872"/>
            <a:ext cx="82296" cy="841248"/>
          </a:xfrm>
          <a:prstGeom prst="rect">
            <a:avLst/>
          </a:prstGeom>
          <a:solidFill>
            <a:srgbClr val="F43F5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5001768" y="3639312"/>
            <a:ext cx="3520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Body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5001768" y="3959352"/>
            <a:ext cx="3520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actual payload: JSON, HTML, an image, or nothing at all.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57200" y="1554480"/>
            <a:ext cx="4114800" cy="2834640"/>
          </a:xfrm>
          <a:prstGeom prst="roundRect">
            <a:avLst>
              <a:gd name="adj" fmla="val 2581"/>
            </a:avLst>
          </a:prstGeom>
          <a:solidFill>
            <a:srgbClr val="0F172A"/>
          </a:solidFill>
          <a:ln w="12700">
            <a:solidFill>
              <a:srgbClr val="E2E8F0"/>
            </a:solidFill>
            <a:prstDash val="solid"/>
          </a:ln>
          <a:effectLst>
            <a:outerShdw blurRad="88900" dist="38100" dir="5400000" algn="bl" rotWithShape="0">
              <a:srgbClr val="0F172A">
                <a:alpha val="16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658368" y="1737360"/>
            <a:ext cx="3749040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HTTP/1.1</a:t>
            </a:r>
            <a:r>
              <a:rPr lang="en-US" sz="1300" b="1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200 OK</a:t>
            </a:r>
            <a:endParaRPr lang="en-US" sz="13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FB71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Content-Type:</a:t>
            </a: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application/json</a:t>
            </a:r>
            <a:endParaRPr lang="en-US" sz="13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FB71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Content-Length:</a:t>
            </a: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86</a:t>
            </a:r>
            <a:endParaRPr lang="en-US" sz="13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FB71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Cache-Control:</a:t>
            </a: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max-age=60</a:t>
            </a:r>
            <a:endParaRPr lang="en-US" sz="13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3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3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"id": 42,</a:t>
            </a:r>
            <a:endParaRPr lang="en-US" sz="13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"name": "Ada",</a:t>
            </a:r>
            <a:endParaRPr lang="en-US" sz="13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"active": true</a:t>
            </a:r>
            <a:endParaRPr lang="en-US" sz="13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57200" y="473659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 Communication // Foundations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8229600" y="473659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457200" y="3017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kern="0" spc="200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VERBS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HTTP Methods &amp; CRUD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94360" y="1444752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METHOD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2011680" y="1444752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CRUD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383280" y="1444752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WHAT IT DOES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680960" y="1444752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IDEMPOTENT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1901952"/>
            <a:ext cx="822960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566928" y="1975104"/>
            <a:ext cx="1143000" cy="292608"/>
          </a:xfrm>
          <a:prstGeom prst="roundRect">
            <a:avLst>
              <a:gd name="adj" fmla="val 15625"/>
            </a:avLst>
          </a:prstGeom>
          <a:solidFill>
            <a:srgbClr val="0D948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566928" y="1975104"/>
            <a:ext cx="1143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2011680" y="1901952"/>
            <a:ext cx="12801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Read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383280" y="1901952"/>
            <a:ext cx="42976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Retrieve a resource — never changes data.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7680960" y="1901952"/>
            <a:ext cx="10972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Yes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200" y="2395728"/>
            <a:ext cx="822960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Shape 14"/>
          <p:cNvSpPr/>
          <p:nvPr/>
        </p:nvSpPr>
        <p:spPr>
          <a:xfrm>
            <a:off x="566928" y="2468880"/>
            <a:ext cx="1143000" cy="292608"/>
          </a:xfrm>
          <a:prstGeom prst="roundRect">
            <a:avLst>
              <a:gd name="adj" fmla="val 15625"/>
            </a:avLst>
          </a:prstGeom>
          <a:solidFill>
            <a:srgbClr val="F43F5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566928" y="2468880"/>
            <a:ext cx="1143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2011680" y="2395728"/>
            <a:ext cx="12801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Create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3383280" y="2395728"/>
            <a:ext cx="42976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 new resource to a collection.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7680960" y="2395728"/>
            <a:ext cx="10972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43F5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57200" y="2889504"/>
            <a:ext cx="822960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Shape 20"/>
          <p:cNvSpPr/>
          <p:nvPr/>
        </p:nvSpPr>
        <p:spPr>
          <a:xfrm>
            <a:off x="566928" y="2962656"/>
            <a:ext cx="1143000" cy="292608"/>
          </a:xfrm>
          <a:prstGeom prst="roundRect">
            <a:avLst>
              <a:gd name="adj" fmla="val 15625"/>
            </a:avLst>
          </a:prstGeom>
          <a:solidFill>
            <a:srgbClr val="14B8A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566928" y="2962656"/>
            <a:ext cx="1143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PUT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2011680" y="2889504"/>
            <a:ext cx="12801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Replace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383280" y="2889504"/>
            <a:ext cx="42976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a resource entirely with new data.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7680960" y="2889504"/>
            <a:ext cx="10972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Yes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457200" y="3383280"/>
            <a:ext cx="822960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" name="Shape 26"/>
          <p:cNvSpPr/>
          <p:nvPr/>
        </p:nvSpPr>
        <p:spPr>
          <a:xfrm>
            <a:off x="566928" y="3456432"/>
            <a:ext cx="1143000" cy="292608"/>
          </a:xfrm>
          <a:prstGeom prst="roundRect">
            <a:avLst>
              <a:gd name="adj" fmla="val 15625"/>
            </a:avLst>
          </a:prstGeom>
          <a:solidFill>
            <a:srgbClr val="F59E0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9" name="Text 27"/>
          <p:cNvSpPr/>
          <p:nvPr/>
        </p:nvSpPr>
        <p:spPr>
          <a:xfrm>
            <a:off x="566928" y="3456432"/>
            <a:ext cx="1143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PATCH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2011680" y="3383280"/>
            <a:ext cx="12801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Update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3383280" y="3383280"/>
            <a:ext cx="42976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Modify part of an existing resource.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7680960" y="3383280"/>
            <a:ext cx="10972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43F5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457200" y="3877056"/>
            <a:ext cx="822960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4" name="Shape 32"/>
          <p:cNvSpPr/>
          <p:nvPr/>
        </p:nvSpPr>
        <p:spPr>
          <a:xfrm>
            <a:off x="566928" y="3950208"/>
            <a:ext cx="1143000" cy="292608"/>
          </a:xfrm>
          <a:prstGeom prst="roundRect">
            <a:avLst>
              <a:gd name="adj" fmla="val 15625"/>
            </a:avLst>
          </a:prstGeom>
          <a:solidFill>
            <a:srgbClr val="DC262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5" name="Text 33"/>
          <p:cNvSpPr/>
          <p:nvPr/>
        </p:nvSpPr>
        <p:spPr>
          <a:xfrm>
            <a:off x="566928" y="3950208"/>
            <a:ext cx="1143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DELETE</a:t>
            </a:r>
            <a:endParaRPr lang="en-US" sz="1250" dirty="0"/>
          </a:p>
        </p:txBody>
      </p:sp>
      <p:sp>
        <p:nvSpPr>
          <p:cNvPr id="36" name="Text 34"/>
          <p:cNvSpPr/>
          <p:nvPr/>
        </p:nvSpPr>
        <p:spPr>
          <a:xfrm>
            <a:off x="2011680" y="3877056"/>
            <a:ext cx="12801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Delete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3383280" y="3877056"/>
            <a:ext cx="42976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a resource from the server.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7680960" y="3877056"/>
            <a:ext cx="10972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Yes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457200" y="440740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Idempotent = repeating the same call has the same effect as making it once.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457200" y="473659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 Communication // Methods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8229600" y="473659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457200" y="3017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kern="0" spc="200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SIGNALS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Status Codes at a Glance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57200" y="1554480"/>
            <a:ext cx="1627632" cy="2331720"/>
          </a:xfrm>
          <a:prstGeom prst="roundRect">
            <a:avLst>
              <a:gd name="adj" fmla="val 337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88900" dist="38100" dir="5400000" algn="bl" rotWithShape="0">
              <a:srgbClr val="0F172A">
                <a:alpha val="16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457200" y="1554480"/>
            <a:ext cx="1627632" cy="868680"/>
          </a:xfrm>
          <a:prstGeom prst="roundRect">
            <a:avLst>
              <a:gd name="adj" fmla="val 6316"/>
            </a:avLst>
          </a:prstGeom>
          <a:solidFill>
            <a:srgbClr val="33415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457200" y="2011680"/>
            <a:ext cx="1627632" cy="411480"/>
          </a:xfrm>
          <a:prstGeom prst="rect">
            <a:avLst/>
          </a:prstGeom>
          <a:solidFill>
            <a:srgbClr val="33415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457200" y="1627632"/>
            <a:ext cx="162763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1xx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457200" y="2121408"/>
            <a:ext cx="16276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Informational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566928" y="2542032"/>
            <a:ext cx="1408176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 received, continuing.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48640" y="3337560"/>
            <a:ext cx="14447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100 Continue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148840" y="1554480"/>
            <a:ext cx="1627632" cy="2331720"/>
          </a:xfrm>
          <a:prstGeom prst="roundRect">
            <a:avLst>
              <a:gd name="adj" fmla="val 337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88900" dist="38100" dir="5400000" algn="bl" rotWithShape="0">
              <a:srgbClr val="0F172A">
                <a:alpha val="16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2148840" y="1554480"/>
            <a:ext cx="1627632" cy="868680"/>
          </a:xfrm>
          <a:prstGeom prst="roundRect">
            <a:avLst>
              <a:gd name="adj" fmla="val 6316"/>
            </a:avLst>
          </a:prstGeom>
          <a:solidFill>
            <a:srgbClr val="0D948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Shape 12"/>
          <p:cNvSpPr/>
          <p:nvPr/>
        </p:nvSpPr>
        <p:spPr>
          <a:xfrm>
            <a:off x="2148840" y="2011680"/>
            <a:ext cx="1627632" cy="41148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2148840" y="1627632"/>
            <a:ext cx="162763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2xx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2148840" y="2121408"/>
            <a:ext cx="16276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Success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2258568" y="2542032"/>
            <a:ext cx="1408176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worked as expected.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2240280" y="3337560"/>
            <a:ext cx="14447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200 OK · 201 Created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840480" y="1554480"/>
            <a:ext cx="1627632" cy="2331720"/>
          </a:xfrm>
          <a:prstGeom prst="roundRect">
            <a:avLst>
              <a:gd name="adj" fmla="val 337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88900" dist="38100" dir="5400000" algn="bl" rotWithShape="0">
              <a:srgbClr val="0F172A">
                <a:alpha val="16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0" name="Shape 18"/>
          <p:cNvSpPr/>
          <p:nvPr/>
        </p:nvSpPr>
        <p:spPr>
          <a:xfrm>
            <a:off x="3840480" y="1554480"/>
            <a:ext cx="1627632" cy="868680"/>
          </a:xfrm>
          <a:prstGeom prst="roundRect">
            <a:avLst>
              <a:gd name="adj" fmla="val 6316"/>
            </a:avLst>
          </a:prstGeom>
          <a:solidFill>
            <a:srgbClr val="F59E0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1" name="Shape 19"/>
          <p:cNvSpPr/>
          <p:nvPr/>
        </p:nvSpPr>
        <p:spPr>
          <a:xfrm>
            <a:off x="3840480" y="2011680"/>
            <a:ext cx="1627632" cy="41148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3840480" y="1627632"/>
            <a:ext cx="162763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3xx</a:t>
            </a:r>
            <a:endParaRPr lang="en-US" sz="3000" dirty="0"/>
          </a:p>
        </p:txBody>
      </p:sp>
      <p:sp>
        <p:nvSpPr>
          <p:cNvPr id="23" name="Text 21"/>
          <p:cNvSpPr/>
          <p:nvPr/>
        </p:nvSpPr>
        <p:spPr>
          <a:xfrm>
            <a:off x="3840480" y="2121408"/>
            <a:ext cx="16276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Redirection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3950208" y="2542032"/>
            <a:ext cx="1408176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 elsewhere for the resource.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3931920" y="3337560"/>
            <a:ext cx="14447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301 Moved · 304 Not Modified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5532120" y="1554480"/>
            <a:ext cx="1627632" cy="2331720"/>
          </a:xfrm>
          <a:prstGeom prst="roundRect">
            <a:avLst>
              <a:gd name="adj" fmla="val 337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88900" dist="38100" dir="5400000" algn="bl" rotWithShape="0">
              <a:srgbClr val="0F172A">
                <a:alpha val="16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7" name="Shape 25"/>
          <p:cNvSpPr/>
          <p:nvPr/>
        </p:nvSpPr>
        <p:spPr>
          <a:xfrm>
            <a:off x="5532120" y="1554480"/>
            <a:ext cx="1627632" cy="868680"/>
          </a:xfrm>
          <a:prstGeom prst="roundRect">
            <a:avLst>
              <a:gd name="adj" fmla="val 6316"/>
            </a:avLst>
          </a:prstGeom>
          <a:solidFill>
            <a:srgbClr val="F43F5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8" name="Shape 26"/>
          <p:cNvSpPr/>
          <p:nvPr/>
        </p:nvSpPr>
        <p:spPr>
          <a:xfrm>
            <a:off x="5532120" y="2011680"/>
            <a:ext cx="1627632" cy="411480"/>
          </a:xfrm>
          <a:prstGeom prst="rect">
            <a:avLst/>
          </a:prstGeom>
          <a:solidFill>
            <a:srgbClr val="F43F5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9" name="Text 27"/>
          <p:cNvSpPr/>
          <p:nvPr/>
        </p:nvSpPr>
        <p:spPr>
          <a:xfrm>
            <a:off x="5532120" y="1627632"/>
            <a:ext cx="162763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4xx</a:t>
            </a:r>
            <a:endParaRPr lang="en-US" sz="3000" dirty="0"/>
          </a:p>
        </p:txBody>
      </p:sp>
      <p:sp>
        <p:nvSpPr>
          <p:cNvPr id="30" name="Text 28"/>
          <p:cNvSpPr/>
          <p:nvPr/>
        </p:nvSpPr>
        <p:spPr>
          <a:xfrm>
            <a:off x="5532120" y="2121408"/>
            <a:ext cx="16276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Client Error</a:t>
            </a:r>
            <a:endParaRPr lang="en-US" sz="1250" dirty="0"/>
          </a:p>
        </p:txBody>
      </p:sp>
      <p:sp>
        <p:nvSpPr>
          <p:cNvPr id="31" name="Text 29"/>
          <p:cNvSpPr/>
          <p:nvPr/>
        </p:nvSpPr>
        <p:spPr>
          <a:xfrm>
            <a:off x="5641848" y="2542032"/>
            <a:ext cx="1408176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request was wrong.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5623560" y="3337560"/>
            <a:ext cx="14447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43F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400 · 401 · 403 · 404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7223760" y="1554480"/>
            <a:ext cx="1627632" cy="2331720"/>
          </a:xfrm>
          <a:prstGeom prst="roundRect">
            <a:avLst>
              <a:gd name="adj" fmla="val 337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88900" dist="38100" dir="5400000" algn="bl" rotWithShape="0">
              <a:srgbClr val="0F172A">
                <a:alpha val="16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4" name="Shape 32"/>
          <p:cNvSpPr/>
          <p:nvPr/>
        </p:nvSpPr>
        <p:spPr>
          <a:xfrm>
            <a:off x="7223760" y="1554480"/>
            <a:ext cx="1627632" cy="868680"/>
          </a:xfrm>
          <a:prstGeom prst="roundRect">
            <a:avLst>
              <a:gd name="adj" fmla="val 6316"/>
            </a:avLst>
          </a:prstGeom>
          <a:solidFill>
            <a:srgbClr val="DC262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5" name="Shape 33"/>
          <p:cNvSpPr/>
          <p:nvPr/>
        </p:nvSpPr>
        <p:spPr>
          <a:xfrm>
            <a:off x="7223760" y="2011680"/>
            <a:ext cx="1627632" cy="411480"/>
          </a:xfrm>
          <a:prstGeom prst="rect">
            <a:avLst/>
          </a:prstGeom>
          <a:solidFill>
            <a:srgbClr val="DC262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6" name="Text 34"/>
          <p:cNvSpPr/>
          <p:nvPr/>
        </p:nvSpPr>
        <p:spPr>
          <a:xfrm>
            <a:off x="7223760" y="1627632"/>
            <a:ext cx="162763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5xx</a:t>
            </a:r>
            <a:endParaRPr lang="en-US" sz="3000" dirty="0"/>
          </a:p>
        </p:txBody>
      </p:sp>
      <p:sp>
        <p:nvSpPr>
          <p:cNvPr id="37" name="Text 35"/>
          <p:cNvSpPr/>
          <p:nvPr/>
        </p:nvSpPr>
        <p:spPr>
          <a:xfrm>
            <a:off x="7223760" y="2121408"/>
            <a:ext cx="16276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Server Error</a:t>
            </a:r>
            <a:endParaRPr lang="en-US" sz="1250" dirty="0"/>
          </a:p>
        </p:txBody>
      </p:sp>
      <p:sp>
        <p:nvSpPr>
          <p:cNvPr id="38" name="Text 36"/>
          <p:cNvSpPr/>
          <p:nvPr/>
        </p:nvSpPr>
        <p:spPr>
          <a:xfrm>
            <a:off x="7333488" y="2542032"/>
            <a:ext cx="1408176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server failed.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7315200" y="3337560"/>
            <a:ext cx="14447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DC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500 · 502 · 503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457200" y="404164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 first digit and you already know how the request went.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457200" y="473659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 Communication // Status Codes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8229600" y="473659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07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457200" y="3017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kern="0" spc="200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METADATA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HTTP Headers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457200" y="1371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Headers carry the metadata around each message — who's asking, what format, how to cache, and how to stay secure.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920240"/>
            <a:ext cx="4023360" cy="2514600"/>
          </a:xfrm>
          <a:prstGeom prst="roundRect">
            <a:avLst>
              <a:gd name="adj" fmla="val 290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88900" dist="38100" dir="5400000" algn="bl" rotWithShape="0">
              <a:srgbClr val="0F172A">
                <a:alpha val="16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457200" y="1920240"/>
            <a:ext cx="4023360" cy="502920"/>
          </a:xfrm>
          <a:prstGeom prst="roundRect">
            <a:avLst>
              <a:gd name="adj" fmla="val 14545"/>
            </a:avLst>
          </a:prstGeom>
          <a:solidFill>
            <a:srgbClr val="0D948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457200" y="2194560"/>
            <a:ext cx="4023360" cy="22860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640080" y="1920240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Request headers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85800" y="2578608"/>
            <a:ext cx="3611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Host</a:t>
            </a: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which domain you're calling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85800" y="3017520"/>
            <a:ext cx="3611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Authorization</a:t>
            </a: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your token or credentials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85800" y="3456432"/>
            <a:ext cx="3611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Accept</a:t>
            </a: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formats the client understands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85800" y="3895344"/>
            <a:ext cx="3611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User-Agent</a:t>
            </a: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the app or browser making the call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663440" y="1920240"/>
            <a:ext cx="4023360" cy="2514600"/>
          </a:xfrm>
          <a:prstGeom prst="roundRect">
            <a:avLst>
              <a:gd name="adj" fmla="val 290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88900" dist="38100" dir="5400000" algn="bl" rotWithShape="0">
              <a:srgbClr val="0F172A">
                <a:alpha val="16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5" name="Shape 13"/>
          <p:cNvSpPr/>
          <p:nvPr/>
        </p:nvSpPr>
        <p:spPr>
          <a:xfrm>
            <a:off x="4663440" y="1920240"/>
            <a:ext cx="4023360" cy="502920"/>
          </a:xfrm>
          <a:prstGeom prst="roundRect">
            <a:avLst>
              <a:gd name="adj" fmla="val 14545"/>
            </a:avLst>
          </a:prstGeom>
          <a:solidFill>
            <a:srgbClr val="F43F5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Shape 14"/>
          <p:cNvSpPr/>
          <p:nvPr/>
        </p:nvSpPr>
        <p:spPr>
          <a:xfrm>
            <a:off x="4663440" y="2194560"/>
            <a:ext cx="4023360" cy="228600"/>
          </a:xfrm>
          <a:prstGeom prst="rect">
            <a:avLst/>
          </a:prstGeom>
          <a:solidFill>
            <a:srgbClr val="F43F5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4846320" y="1920240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Response headers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4892040" y="2578608"/>
            <a:ext cx="3611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Content-Type</a:t>
            </a: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format of the body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892040" y="3017520"/>
            <a:ext cx="3611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Content-Length</a:t>
            </a: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size of the payload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892040" y="3456432"/>
            <a:ext cx="3611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Cache-Control</a:t>
            </a: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how long it can be cached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892040" y="3895344"/>
            <a:ext cx="3611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Set-Cookie</a:t>
            </a: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state the client should keep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57200" y="473659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 Communication // Headers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8229600" y="473659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08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286000"/>
            <a:ext cx="9144000" cy="4572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548640" y="18288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kern="0" spc="4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PART TWO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237744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Client &amp; Server Applications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914400" y="324612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sides of every web interaction — and the line that divides them.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473659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 Communication // Client &amp; Server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8229600" y="473659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09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457200" y="3017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kern="0" spc="200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ARCHITECTURE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Client Side vs Server Side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57200" y="1554480"/>
            <a:ext cx="4023360" cy="292608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88900" dist="38100" dir="5400000" algn="bl" rotWithShape="0">
              <a:srgbClr val="0F172A">
                <a:alpha val="16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457200" y="1554480"/>
            <a:ext cx="4023360" cy="713232"/>
          </a:xfrm>
          <a:prstGeom prst="roundRect">
            <a:avLst>
              <a:gd name="adj" fmla="val 10256"/>
            </a:avLst>
          </a:prstGeom>
          <a:solidFill>
            <a:srgbClr val="0D948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457200" y="1920240"/>
            <a:ext cx="4023360" cy="347472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685800" y="1627632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Client Side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685800" y="1975104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FRONTEND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31520" y="2423160"/>
            <a:ext cx="35204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7800" indent="-177800"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on the user's device (browser, mobile, app)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731520" y="2898648"/>
            <a:ext cx="35204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7800" indent="-177800"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Builds the request and renders the response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731520" y="3374136"/>
            <a:ext cx="35204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7800" indent="-177800"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Handles UI, interactions and presentation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731520" y="3849624"/>
            <a:ext cx="35204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7800" indent="-177800"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Tools: HTML, CSS, JavaScript, React, mobile SDKs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4663440" y="1554480"/>
            <a:ext cx="4023360" cy="292608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88900" dist="38100" dir="5400000" algn="bl" rotWithShape="0">
              <a:srgbClr val="0F172A">
                <a:alpha val="16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5" name="Shape 13"/>
          <p:cNvSpPr/>
          <p:nvPr/>
        </p:nvSpPr>
        <p:spPr>
          <a:xfrm>
            <a:off x="4663440" y="1554480"/>
            <a:ext cx="4023360" cy="713232"/>
          </a:xfrm>
          <a:prstGeom prst="roundRect">
            <a:avLst>
              <a:gd name="adj" fmla="val 10256"/>
            </a:avLst>
          </a:prstGeom>
          <a:solidFill>
            <a:srgbClr val="F43F5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Shape 14"/>
          <p:cNvSpPr/>
          <p:nvPr/>
        </p:nvSpPr>
        <p:spPr>
          <a:xfrm>
            <a:off x="4663440" y="1920240"/>
            <a:ext cx="4023360" cy="347472"/>
          </a:xfrm>
          <a:prstGeom prst="rect">
            <a:avLst/>
          </a:prstGeom>
          <a:solidFill>
            <a:srgbClr val="F43F5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4892040" y="1627632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Server Side</a:t>
            </a:r>
            <a:endParaRPr lang="en-US" sz="1900" dirty="0"/>
          </a:p>
        </p:txBody>
      </p:sp>
      <p:sp>
        <p:nvSpPr>
          <p:cNvPr id="18" name="Text 16"/>
          <p:cNvSpPr/>
          <p:nvPr/>
        </p:nvSpPr>
        <p:spPr>
          <a:xfrm>
            <a:off x="4892040" y="1975104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BACKEND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937760" y="2423160"/>
            <a:ext cx="35204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7800" indent="-177800"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on a remote machine you control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4937760" y="2898648"/>
            <a:ext cx="35204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7800" indent="-177800"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Receives requests, applies business logic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4937760" y="3374136"/>
            <a:ext cx="35204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7800" indent="-177800"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Talks to databases, files and other services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4937760" y="3849624"/>
            <a:ext cx="35204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7800" indent="-177800"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Tools: Python, Node, FastAPI, Django, SQL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457200" y="473659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 Communication // Client &amp; Server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8229600" y="473659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457200" y="3017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kern="0" spc="200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ARCHITECTURE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How the Two Sides Talk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57200" y="1508760"/>
            <a:ext cx="8229600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88900" dist="38100" dir="5400000" algn="bl" rotWithShape="0">
              <a:srgbClr val="0F172A">
                <a:alpha val="16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6" name="Image 0" descr="/agent/turn1/workspace/images/image-80ea7fbb0b7e6cbcd3fc845ef9b73583.jpg"/>
          <p:cNvPicPr>
            <a:picLocks noChangeAspect="1"/>
          </p:cNvPicPr>
          <p:nvPr/>
        </p:nvPicPr>
        <p:blipFill>
          <a:blip r:embed="rId3"/>
          <a:srcRect t="34233" b="34233"/>
          <a:stretch/>
        </p:blipFill>
        <p:spPr>
          <a:xfrm>
            <a:off x="548640" y="1600200"/>
            <a:ext cx="8046720" cy="169164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777240" y="1783080"/>
            <a:ext cx="1554480" cy="384048"/>
          </a:xfrm>
          <a:prstGeom prst="roundRect">
            <a:avLst>
              <a:gd name="adj" fmla="val 14286"/>
            </a:avLst>
          </a:prstGeom>
          <a:solidFill>
            <a:srgbClr val="0F172A">
              <a:alpha val="82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Shape 5"/>
          <p:cNvSpPr/>
          <p:nvPr/>
        </p:nvSpPr>
        <p:spPr>
          <a:xfrm>
            <a:off x="6812280" y="1783080"/>
            <a:ext cx="1554480" cy="384048"/>
          </a:xfrm>
          <a:prstGeom prst="roundRect">
            <a:avLst>
              <a:gd name="adj" fmla="val 14286"/>
            </a:avLst>
          </a:prstGeom>
          <a:solidFill>
            <a:srgbClr val="0F172A">
              <a:alpha val="82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Text 6"/>
          <p:cNvSpPr/>
          <p:nvPr/>
        </p:nvSpPr>
        <p:spPr>
          <a:xfrm>
            <a:off x="777240" y="1783080"/>
            <a:ext cx="1554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kern="0" spc="2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CLIENT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6812280" y="1783080"/>
            <a:ext cx="1554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kern="0" spc="2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SERVER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457200" y="3611880"/>
            <a:ext cx="265176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88900" dist="38100" dir="5400000" algn="bl" rotWithShape="0">
              <a:srgbClr val="0F172A">
                <a:alpha val="16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2" name="Shape 9"/>
          <p:cNvSpPr/>
          <p:nvPr/>
        </p:nvSpPr>
        <p:spPr>
          <a:xfrm>
            <a:off x="457200" y="3611880"/>
            <a:ext cx="82296" cy="96012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Text 10"/>
          <p:cNvSpPr/>
          <p:nvPr/>
        </p:nvSpPr>
        <p:spPr>
          <a:xfrm>
            <a:off x="658368" y="3721608"/>
            <a:ext cx="2331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Request travels up</a:t>
            </a:r>
            <a:endParaRPr lang="en-US" sz="1350" dirty="0"/>
          </a:p>
        </p:txBody>
      </p:sp>
      <p:sp>
        <p:nvSpPr>
          <p:cNvPr id="14" name="Text 11"/>
          <p:cNvSpPr/>
          <p:nvPr/>
        </p:nvSpPr>
        <p:spPr>
          <a:xfrm>
            <a:off x="658368" y="4032504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Method, path, headers and body leave the client.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3246120" y="3611880"/>
            <a:ext cx="265176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88900" dist="38100" dir="5400000" algn="bl" rotWithShape="0">
              <a:srgbClr val="0F172A">
                <a:alpha val="16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6" name="Shape 13"/>
          <p:cNvSpPr/>
          <p:nvPr/>
        </p:nvSpPr>
        <p:spPr>
          <a:xfrm>
            <a:off x="3246120" y="3611880"/>
            <a:ext cx="82296" cy="96012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Text 14"/>
          <p:cNvSpPr/>
          <p:nvPr/>
        </p:nvSpPr>
        <p:spPr>
          <a:xfrm>
            <a:off x="3447288" y="3721608"/>
            <a:ext cx="2331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Server does the work</a:t>
            </a:r>
            <a:endParaRPr lang="en-US" sz="1350" dirty="0"/>
          </a:p>
        </p:txBody>
      </p:sp>
      <p:sp>
        <p:nvSpPr>
          <p:cNvPr id="18" name="Text 15"/>
          <p:cNvSpPr/>
          <p:nvPr/>
        </p:nvSpPr>
        <p:spPr>
          <a:xfrm>
            <a:off x="3447288" y="4032504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Routing, logic, database and other services.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6035040" y="3611880"/>
            <a:ext cx="265176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88900" dist="38100" dir="5400000" algn="bl" rotWithShape="0">
              <a:srgbClr val="0F172A">
                <a:alpha val="16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0" name="Shape 17"/>
          <p:cNvSpPr/>
          <p:nvPr/>
        </p:nvSpPr>
        <p:spPr>
          <a:xfrm>
            <a:off x="6035040" y="3611880"/>
            <a:ext cx="82296" cy="960120"/>
          </a:xfrm>
          <a:prstGeom prst="rect">
            <a:avLst/>
          </a:prstGeom>
          <a:solidFill>
            <a:srgbClr val="F43F5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1" name="Text 18"/>
          <p:cNvSpPr/>
          <p:nvPr/>
        </p:nvSpPr>
        <p:spPr>
          <a:xfrm>
            <a:off x="6236208" y="3721608"/>
            <a:ext cx="2331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Response travels back</a:t>
            </a:r>
            <a:endParaRPr lang="en-US" sz="1350" dirty="0"/>
          </a:p>
        </p:txBody>
      </p:sp>
      <p:sp>
        <p:nvSpPr>
          <p:cNvPr id="22" name="Text 19"/>
          <p:cNvSpPr/>
          <p:nvPr/>
        </p:nvSpPr>
        <p:spPr>
          <a:xfrm>
            <a:off x="6236208" y="4032504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Status, headers and data return to be rendered.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457200" y="473659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 Communication // Client &amp; Server</a:t>
            </a:r>
            <a:endParaRPr lang="en-US" sz="900" dirty="0"/>
          </a:p>
        </p:txBody>
      </p:sp>
      <p:sp>
        <p:nvSpPr>
          <p:cNvPr id="24" name="Text 21"/>
          <p:cNvSpPr/>
          <p:nvPr/>
        </p:nvSpPr>
        <p:spPr>
          <a:xfrm>
            <a:off x="8229600" y="473659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457200" y="3017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kern="0" spc="200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DESIGN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REST: Principles of Good APIs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57200" y="1536192"/>
            <a:ext cx="2670048" cy="1207008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88900" dist="38100" dir="5400000" algn="bl" rotWithShape="0">
              <a:srgbClr val="0F172A">
                <a:alpha val="16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640080" y="1719072"/>
            <a:ext cx="457200" cy="457200"/>
          </a:xfrm>
          <a:prstGeom prst="ellipse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640080" y="171907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234440" y="1700784"/>
            <a:ext cx="175564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Client–Server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58368" y="2249424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Separate the UI from data storage and logic.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36976" y="1536192"/>
            <a:ext cx="2670048" cy="1207008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88900" dist="38100" dir="5400000" algn="bl" rotWithShape="0">
              <a:srgbClr val="0F172A">
                <a:alpha val="16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3419856" y="1719072"/>
            <a:ext cx="457200" cy="457200"/>
          </a:xfrm>
          <a:prstGeom prst="ellipse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3419856" y="171907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4014216" y="1700784"/>
            <a:ext cx="175564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Stateless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438144" y="2249424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request carries everything needed to handle it.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016752" y="1536192"/>
            <a:ext cx="2670048" cy="1207008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88900" dist="38100" dir="5400000" algn="bl" rotWithShape="0">
              <a:srgbClr val="0F172A">
                <a:alpha val="16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6" name="Shape 14"/>
          <p:cNvSpPr/>
          <p:nvPr/>
        </p:nvSpPr>
        <p:spPr>
          <a:xfrm>
            <a:off x="6199632" y="1719072"/>
            <a:ext cx="457200" cy="457200"/>
          </a:xfrm>
          <a:prstGeom prst="ellipse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6199632" y="171907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6793992" y="1700784"/>
            <a:ext cx="175564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Cacheable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217920" y="2249424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Responses say whether they can be reused.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57200" y="2871216"/>
            <a:ext cx="2670048" cy="1207008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88900" dist="38100" dir="5400000" algn="bl" rotWithShape="0">
              <a:srgbClr val="0F172A">
                <a:alpha val="16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1" name="Shape 19"/>
          <p:cNvSpPr/>
          <p:nvPr/>
        </p:nvSpPr>
        <p:spPr>
          <a:xfrm>
            <a:off x="640080" y="3054096"/>
            <a:ext cx="457200" cy="457200"/>
          </a:xfrm>
          <a:prstGeom prst="ellipse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640080" y="305409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1234440" y="3035808"/>
            <a:ext cx="175564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Uniform Interface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58368" y="3584448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Consistent URLs and methods for every resource.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236976" y="2871216"/>
            <a:ext cx="2670048" cy="1207008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88900" dist="38100" dir="5400000" algn="bl" rotWithShape="0">
              <a:srgbClr val="0F172A">
                <a:alpha val="16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6" name="Shape 24"/>
          <p:cNvSpPr/>
          <p:nvPr/>
        </p:nvSpPr>
        <p:spPr>
          <a:xfrm>
            <a:off x="3419856" y="3054096"/>
            <a:ext cx="457200" cy="457200"/>
          </a:xfrm>
          <a:prstGeom prst="ellipse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3419856" y="305409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4014216" y="3035808"/>
            <a:ext cx="175564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Layered System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3438144" y="3584448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Proxies and gateways can sit in between, unseen.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6016752" y="2871216"/>
            <a:ext cx="2670048" cy="1207008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88900" dist="38100" dir="5400000" algn="bl" rotWithShape="0">
              <a:srgbClr val="0F172A">
                <a:alpha val="16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1" name="Shape 29"/>
          <p:cNvSpPr/>
          <p:nvPr/>
        </p:nvSpPr>
        <p:spPr>
          <a:xfrm>
            <a:off x="6199632" y="3054096"/>
            <a:ext cx="457200" cy="457200"/>
          </a:xfrm>
          <a:prstGeom prst="ellipse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2" name="Text 30"/>
          <p:cNvSpPr/>
          <p:nvPr/>
        </p:nvSpPr>
        <p:spPr>
          <a:xfrm>
            <a:off x="6199632" y="305409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</a:t>
            </a:r>
            <a:endParaRPr lang="en-US" sz="2000" dirty="0"/>
          </a:p>
        </p:txBody>
      </p:sp>
      <p:sp>
        <p:nvSpPr>
          <p:cNvPr id="33" name="Text 31"/>
          <p:cNvSpPr/>
          <p:nvPr/>
        </p:nvSpPr>
        <p:spPr>
          <a:xfrm>
            <a:off x="6793992" y="3035808"/>
            <a:ext cx="175564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Resource-Based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6217920" y="3584448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things as nouns (/users/42), acted on by verbs.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457200" y="473659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 Communication // REST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8229600" y="473659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457200" y="3017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kern="0" spc="200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STANDARDS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HTTPS &amp; Transport Security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57200" y="1508760"/>
            <a:ext cx="3931920" cy="2971800"/>
          </a:xfrm>
          <a:prstGeom prst="roundRect">
            <a:avLst>
              <a:gd name="adj" fmla="val 246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88900" dist="38100" dir="5400000" algn="bl" rotWithShape="0">
              <a:srgbClr val="0F172A">
                <a:alpha val="16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685800" y="1691640"/>
            <a:ext cx="3520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HTTP → HTTPS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685800" y="2148840"/>
            <a:ext cx="35204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 is HTTP wrapped in </a:t>
            </a:r>
            <a:r>
              <a:rPr lang="en-US" sz="13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TLS</a:t>
            </a:r>
            <a:r>
              <a:rPr lang="en-US" sz="13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(Transport Layer Security). It encrypts every message so no one in between can read or tamper with it.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685800" y="315468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Encryption — </a:t>
            </a: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is unreadable in transit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85800" y="3575304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Integrity — </a:t>
            </a: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Tampering is detected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85800" y="3995928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Authentication — </a:t>
            </a: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reach the real server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663440" y="1554480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TLS handshake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4663440" y="1965960"/>
            <a:ext cx="4023360" cy="603504"/>
          </a:xfrm>
          <a:prstGeom prst="roundRect">
            <a:avLst>
              <a:gd name="adj" fmla="val 1212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88900" dist="38100" dir="5400000" algn="bl" rotWithShape="0">
              <a:srgbClr val="0F172A">
                <a:alpha val="16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4809744" y="2112264"/>
            <a:ext cx="310896" cy="310896"/>
          </a:xfrm>
          <a:prstGeom prst="ellipse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4809744" y="2112264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230368" y="2020824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Hello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230368" y="2267712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&amp; server agree on a TLS version and cipher.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663440" y="2660904"/>
            <a:ext cx="4023360" cy="603504"/>
          </a:xfrm>
          <a:prstGeom prst="roundRect">
            <a:avLst>
              <a:gd name="adj" fmla="val 1212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88900" dist="38100" dir="5400000" algn="bl" rotWithShape="0">
              <a:srgbClr val="0F172A">
                <a:alpha val="16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8" name="Shape 16"/>
          <p:cNvSpPr/>
          <p:nvPr/>
        </p:nvSpPr>
        <p:spPr>
          <a:xfrm>
            <a:off x="4809744" y="2807208"/>
            <a:ext cx="310896" cy="310896"/>
          </a:xfrm>
          <a:prstGeom prst="ellipse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4809744" y="2807208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5230368" y="2715768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Certificate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230368" y="2962656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 proves its identity with a signed certificate.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4663440" y="3355848"/>
            <a:ext cx="4023360" cy="603504"/>
          </a:xfrm>
          <a:prstGeom prst="roundRect">
            <a:avLst>
              <a:gd name="adj" fmla="val 1212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88900" dist="38100" dir="5400000" algn="bl" rotWithShape="0">
              <a:srgbClr val="0F172A">
                <a:alpha val="16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3" name="Shape 21"/>
          <p:cNvSpPr/>
          <p:nvPr/>
        </p:nvSpPr>
        <p:spPr>
          <a:xfrm>
            <a:off x="4809744" y="3502152"/>
            <a:ext cx="310896" cy="310896"/>
          </a:xfrm>
          <a:prstGeom prst="ellipse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/>
          <p:nvPr/>
        </p:nvSpPr>
        <p:spPr>
          <a:xfrm>
            <a:off x="4809744" y="3502152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5230368" y="3410712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exchange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5230368" y="365760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sides derive a shared secret session key.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4663440" y="4050792"/>
            <a:ext cx="4023360" cy="603504"/>
          </a:xfrm>
          <a:prstGeom prst="roundRect">
            <a:avLst>
              <a:gd name="adj" fmla="val 1212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88900" dist="38100" dir="5400000" algn="bl" rotWithShape="0">
              <a:srgbClr val="0F172A">
                <a:alpha val="16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8" name="Shape 26"/>
          <p:cNvSpPr/>
          <p:nvPr/>
        </p:nvSpPr>
        <p:spPr>
          <a:xfrm>
            <a:off x="4809744" y="4197096"/>
            <a:ext cx="310896" cy="310896"/>
          </a:xfrm>
          <a:prstGeom prst="ellipse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9" name="Text 27"/>
          <p:cNvSpPr/>
          <p:nvPr/>
        </p:nvSpPr>
        <p:spPr>
          <a:xfrm>
            <a:off x="4809744" y="4197096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5230368" y="4105656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Secure channel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5230368" y="4352544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further HTTP traffic is now encrypted.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457200" y="473659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 Communication // Security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8229600" y="473659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457200" y="3017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kern="0" spc="200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SECURITY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Authenticating Requests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457200" y="13716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Authentication answers “who is calling?” Pick the method that matches your security needs.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828800"/>
            <a:ext cx="2011680" cy="260604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88900" dist="38100" dir="5400000" algn="bl" rotWithShape="0">
              <a:srgbClr val="0F172A">
                <a:alpha val="16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457200" y="1828800"/>
            <a:ext cx="2011680" cy="566928"/>
          </a:xfrm>
          <a:prstGeom prst="roundRect">
            <a:avLst>
              <a:gd name="adj" fmla="val 9677"/>
            </a:avLst>
          </a:prstGeom>
          <a:solidFill>
            <a:srgbClr val="0D948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457200" y="2121408"/>
            <a:ext cx="2011680" cy="27432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457200" y="1828800"/>
            <a:ext cx="2011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API Keys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585216" y="2505456"/>
            <a:ext cx="1755648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secret string sent with each request.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585216" y="3456432"/>
            <a:ext cx="175564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BEST FOR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548640" y="3639312"/>
            <a:ext cx="1828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Server-to-server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85216" y="3968496"/>
            <a:ext cx="175564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SECURITY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548640" y="4142232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Low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2587752" y="1828800"/>
            <a:ext cx="2011680" cy="260604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88900" dist="38100" dir="5400000" algn="bl" rotWithShape="0">
              <a:srgbClr val="0F172A">
                <a:alpha val="16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6" name="Shape 14"/>
          <p:cNvSpPr/>
          <p:nvPr/>
        </p:nvSpPr>
        <p:spPr>
          <a:xfrm>
            <a:off x="2587752" y="1828800"/>
            <a:ext cx="2011680" cy="566928"/>
          </a:xfrm>
          <a:prstGeom prst="roundRect">
            <a:avLst>
              <a:gd name="adj" fmla="val 9677"/>
            </a:avLst>
          </a:prstGeom>
          <a:solidFill>
            <a:srgbClr val="14B8A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Shape 15"/>
          <p:cNvSpPr/>
          <p:nvPr/>
        </p:nvSpPr>
        <p:spPr>
          <a:xfrm>
            <a:off x="2587752" y="2121408"/>
            <a:ext cx="2011680" cy="274320"/>
          </a:xfrm>
          <a:prstGeom prst="rect">
            <a:avLst/>
          </a:prstGeom>
          <a:solidFill>
            <a:srgbClr val="14B8A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2587752" y="1828800"/>
            <a:ext cx="2011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Bearer Tokens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2715768" y="2505456"/>
            <a:ext cx="1755648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Short-lived tokens passed in the Authorization header.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2715768" y="3456432"/>
            <a:ext cx="175564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BEST FOR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2679192" y="3639312"/>
            <a:ext cx="1828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&amp; mobile apps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2715768" y="3968496"/>
            <a:ext cx="175564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SECURITY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2679192" y="4142232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4B8A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Medium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718304" y="1828800"/>
            <a:ext cx="2011680" cy="260604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88900" dist="38100" dir="5400000" algn="bl" rotWithShape="0">
              <a:srgbClr val="0F172A">
                <a:alpha val="16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5" name="Shape 23"/>
          <p:cNvSpPr/>
          <p:nvPr/>
        </p:nvSpPr>
        <p:spPr>
          <a:xfrm>
            <a:off x="4718304" y="1828800"/>
            <a:ext cx="2011680" cy="566928"/>
          </a:xfrm>
          <a:prstGeom prst="roundRect">
            <a:avLst>
              <a:gd name="adj" fmla="val 9677"/>
            </a:avLst>
          </a:prstGeom>
          <a:solidFill>
            <a:srgbClr val="F59E0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6" name="Shape 24"/>
          <p:cNvSpPr/>
          <p:nvPr/>
        </p:nvSpPr>
        <p:spPr>
          <a:xfrm>
            <a:off x="4718304" y="2121408"/>
            <a:ext cx="2011680" cy="27432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4718304" y="1828800"/>
            <a:ext cx="2011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JWT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4846320" y="2505456"/>
            <a:ext cx="1755648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Self-contained signed tokens carrying user claims.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4846320" y="3456432"/>
            <a:ext cx="175564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BEST FOR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4809744" y="3639312"/>
            <a:ext cx="1828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Stateless sessions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846320" y="3968496"/>
            <a:ext cx="175564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SECURITY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4809744" y="4142232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Med–High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6848856" y="1828800"/>
            <a:ext cx="2011680" cy="260604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88900" dist="38100" dir="5400000" algn="bl" rotWithShape="0">
              <a:srgbClr val="0F172A">
                <a:alpha val="16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4" name="Shape 32"/>
          <p:cNvSpPr/>
          <p:nvPr/>
        </p:nvSpPr>
        <p:spPr>
          <a:xfrm>
            <a:off x="6848856" y="1828800"/>
            <a:ext cx="2011680" cy="566928"/>
          </a:xfrm>
          <a:prstGeom prst="roundRect">
            <a:avLst>
              <a:gd name="adj" fmla="val 9677"/>
            </a:avLst>
          </a:prstGeom>
          <a:solidFill>
            <a:srgbClr val="F43F5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5" name="Shape 33"/>
          <p:cNvSpPr/>
          <p:nvPr/>
        </p:nvSpPr>
        <p:spPr>
          <a:xfrm>
            <a:off x="6848856" y="2121408"/>
            <a:ext cx="2011680" cy="274320"/>
          </a:xfrm>
          <a:prstGeom prst="rect">
            <a:avLst/>
          </a:prstGeom>
          <a:solidFill>
            <a:srgbClr val="F43F5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6" name="Text 34"/>
          <p:cNvSpPr/>
          <p:nvPr/>
        </p:nvSpPr>
        <p:spPr>
          <a:xfrm>
            <a:off x="6848856" y="1828800"/>
            <a:ext cx="2011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OAuth 2.0</a:t>
            </a:r>
            <a:endParaRPr lang="en-US" sz="1500" dirty="0"/>
          </a:p>
        </p:txBody>
      </p:sp>
      <p:sp>
        <p:nvSpPr>
          <p:cNvPr id="37" name="Text 35"/>
          <p:cNvSpPr/>
          <p:nvPr/>
        </p:nvSpPr>
        <p:spPr>
          <a:xfrm>
            <a:off x="6976872" y="2505456"/>
            <a:ext cx="1755648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Delegated access without sharing passwords.</a:t>
            </a:r>
            <a:endParaRPr lang="en-US" sz="1150" dirty="0"/>
          </a:p>
        </p:txBody>
      </p:sp>
      <p:sp>
        <p:nvSpPr>
          <p:cNvPr id="38" name="Text 36"/>
          <p:cNvSpPr/>
          <p:nvPr/>
        </p:nvSpPr>
        <p:spPr>
          <a:xfrm>
            <a:off x="6976872" y="3456432"/>
            <a:ext cx="175564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BEST FOR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6940296" y="3639312"/>
            <a:ext cx="1828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Third-party login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6976872" y="3968496"/>
            <a:ext cx="175564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SECURITY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6940296" y="4142232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43F5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High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457200" y="473659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 Communication // Security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8229600" y="473659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agent/turn1/workspace/images/image-227bc8a00124b9e54ca44ff07cc6451a.jpg"/>
          <p:cNvPicPr>
            <a:picLocks noChangeAspect="1"/>
          </p:cNvPicPr>
          <p:nvPr/>
        </p:nvPicPr>
        <p:blipFill>
          <a:blip r:embed="rId3"/>
          <a:srcRect t="7813" b="7813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72A">
              <a:alpha val="7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Shape 1"/>
          <p:cNvSpPr/>
          <p:nvPr/>
        </p:nvSpPr>
        <p:spPr>
          <a:xfrm>
            <a:off x="0" y="3246120"/>
            <a:ext cx="9144000" cy="1892808"/>
          </a:xfrm>
          <a:prstGeom prst="rect">
            <a:avLst/>
          </a:prstGeom>
          <a:solidFill>
            <a:srgbClr val="0F172A">
              <a:alpha val="9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2"/>
          <p:cNvSpPr/>
          <p:nvPr/>
        </p:nvSpPr>
        <p:spPr>
          <a:xfrm>
            <a:off x="548640" y="33832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4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PART THREE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502920" y="37033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FastAPI: Modern Python APIs</a:t>
            </a:r>
            <a:endParaRPr lang="en-US" sz="3800" dirty="0"/>
          </a:p>
        </p:txBody>
      </p:sp>
      <p:sp>
        <p:nvSpPr>
          <p:cNvPr id="7" name="Text 4"/>
          <p:cNvSpPr/>
          <p:nvPr/>
        </p:nvSpPr>
        <p:spPr>
          <a:xfrm>
            <a:off x="548640" y="448056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high-performance framework for building HTTP APIs with confidence.</a:t>
            </a:r>
            <a:endParaRPr lang="en-US" sz="15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457200" y="3017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kern="0" spc="200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FRAMEWORK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Why FastAPI Stands Out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457200" y="1371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</a:t>
            </a: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is a modern Python web framework for building APIs using standard type hints — fast to run and fast to write.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847088"/>
            <a:ext cx="2670048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88900" dist="38100" dir="5400000" algn="bl" rotWithShape="0">
              <a:srgbClr val="0F172A">
                <a:alpha val="16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457200" y="1847088"/>
            <a:ext cx="2670048" cy="82296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640080" y="2029968"/>
            <a:ext cx="230428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Async-first speed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40080" y="2350008"/>
            <a:ext cx="230428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on ASGI for high concurrency — among the fastest Python frameworks.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36976" y="1847088"/>
            <a:ext cx="2670048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88900" dist="38100" dir="5400000" algn="bl" rotWithShape="0">
              <a:srgbClr val="0F172A">
                <a:alpha val="16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3236976" y="1847088"/>
            <a:ext cx="2670048" cy="82296"/>
          </a:xfrm>
          <a:prstGeom prst="rect">
            <a:avLst/>
          </a:prstGeom>
          <a:solidFill>
            <a:srgbClr val="14B8A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3419856" y="2029968"/>
            <a:ext cx="230428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Automatic docs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419856" y="2350008"/>
            <a:ext cx="230428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Swagger UI &amp; ReDoc generated from your code, for free.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016752" y="1847088"/>
            <a:ext cx="2670048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88900" dist="38100" dir="5400000" algn="bl" rotWithShape="0">
              <a:srgbClr val="0F172A">
                <a:alpha val="16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5" name="Shape 13"/>
          <p:cNvSpPr/>
          <p:nvPr/>
        </p:nvSpPr>
        <p:spPr>
          <a:xfrm>
            <a:off x="6016752" y="1847088"/>
            <a:ext cx="2670048" cy="82296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6199632" y="2029968"/>
            <a:ext cx="230428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Type validation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199632" y="2350008"/>
            <a:ext cx="230428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Pydantic validates and parses request data from Python type hints.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57200" y="3035808"/>
            <a:ext cx="2670048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88900" dist="38100" dir="5400000" algn="bl" rotWithShape="0">
              <a:srgbClr val="0F172A">
                <a:alpha val="16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9" name="Shape 17"/>
          <p:cNvSpPr/>
          <p:nvPr/>
        </p:nvSpPr>
        <p:spPr>
          <a:xfrm>
            <a:off x="457200" y="3035808"/>
            <a:ext cx="2670048" cy="82296"/>
          </a:xfrm>
          <a:prstGeom prst="rect">
            <a:avLst/>
          </a:prstGeom>
          <a:solidFill>
            <a:srgbClr val="F43F5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640080" y="3218688"/>
            <a:ext cx="230428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Open standards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40080" y="3538728"/>
            <a:ext cx="230428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on OpenAPI and JSON Schema — no proprietary lock-in.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236976" y="3035808"/>
            <a:ext cx="2670048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88900" dist="38100" dir="5400000" algn="bl" rotWithShape="0">
              <a:srgbClr val="0F172A">
                <a:alpha val="16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3" name="Shape 21"/>
          <p:cNvSpPr/>
          <p:nvPr/>
        </p:nvSpPr>
        <p:spPr>
          <a:xfrm>
            <a:off x="3236976" y="3035808"/>
            <a:ext cx="2670048" cy="82296"/>
          </a:xfrm>
          <a:prstGeom prst="rect">
            <a:avLst/>
          </a:prstGeom>
          <a:solidFill>
            <a:srgbClr val="FB718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/>
          <p:nvPr/>
        </p:nvSpPr>
        <p:spPr>
          <a:xfrm>
            <a:off x="3419856" y="3218688"/>
            <a:ext cx="230428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Editor support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3419856" y="3538728"/>
            <a:ext cx="230428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hints give autocomplete and catch bugs before runtime.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016752" y="3035808"/>
            <a:ext cx="2670048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88900" dist="38100" dir="5400000" algn="bl" rotWithShape="0">
              <a:srgbClr val="0F172A">
                <a:alpha val="16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7" name="Shape 25"/>
          <p:cNvSpPr/>
          <p:nvPr/>
        </p:nvSpPr>
        <p:spPr>
          <a:xfrm>
            <a:off x="6016752" y="3035808"/>
            <a:ext cx="2670048" cy="82296"/>
          </a:xfrm>
          <a:prstGeom prst="rect">
            <a:avLst/>
          </a:prstGeom>
          <a:solidFill>
            <a:srgbClr val="33415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8" name="Text 26"/>
          <p:cNvSpPr/>
          <p:nvPr/>
        </p:nvSpPr>
        <p:spPr>
          <a:xfrm>
            <a:off x="6199632" y="3218688"/>
            <a:ext cx="230428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Easy to learn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6199632" y="3538728"/>
            <a:ext cx="230428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Minimal boilerplate; production-ready from a few lines of code.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57200" y="473659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 Communication // FastAPI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8229600" y="473659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457200" y="3017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kern="0" spc="200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FRAMEWORK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From Code to Live API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57200" y="1554480"/>
            <a:ext cx="4572000" cy="2880360"/>
          </a:xfrm>
          <a:prstGeom prst="roundRect">
            <a:avLst>
              <a:gd name="adj" fmla="val 2540"/>
            </a:avLst>
          </a:prstGeom>
          <a:solidFill>
            <a:srgbClr val="0F172A"/>
          </a:solidFill>
          <a:ln w="12700">
            <a:solidFill>
              <a:srgbClr val="E2E8F0"/>
            </a:solidFill>
            <a:prstDash val="solid"/>
          </a:ln>
          <a:effectLst>
            <a:outerShdw blurRad="88900" dist="38100" dir="5400000" algn="bl" rotWithShape="0">
              <a:srgbClr val="0F172A">
                <a:alpha val="16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658368" y="1755648"/>
            <a:ext cx="4206240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FB71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</a:t>
            </a:r>
            <a:r>
              <a:rPr lang="en-US" sz="13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fastapi </a:t>
            </a:r>
            <a:r>
              <a:rPr lang="en-US" sz="1350" dirty="0">
                <a:solidFill>
                  <a:srgbClr val="FB71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</a:t>
            </a:r>
            <a:r>
              <a:rPr lang="en-US" sz="13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FastAPI</a:t>
            </a:r>
            <a:endParaRPr lang="en-US" sz="13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3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 = FastAPI()</a:t>
            </a:r>
            <a:endParaRPr lang="en-US" sz="13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3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@app.get</a:t>
            </a:r>
            <a:r>
              <a:rPr lang="en-US" sz="13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("/users/{id}")</a:t>
            </a:r>
            <a:endParaRPr lang="en-US" sz="13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FB71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</a:t>
            </a:r>
            <a:r>
              <a:rPr lang="en-US" sz="13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read_user(id: </a:t>
            </a:r>
            <a:r>
              <a:rPr lang="en-US" sz="135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r>
              <a:rPr lang="en-US" sz="13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):</a:t>
            </a:r>
            <a:endParaRPr lang="en-US" sz="13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FB71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</a:t>
            </a:r>
            <a:r>
              <a:rPr lang="en-US" sz="13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{"id": id, "active": </a:t>
            </a:r>
            <a:r>
              <a:rPr lang="en-US" sz="135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True</a:t>
            </a:r>
            <a:r>
              <a:rPr lang="en-US" sz="13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5212080" y="1554480"/>
            <a:ext cx="347472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88900" dist="38100" dir="5400000" algn="bl" rotWithShape="0">
              <a:srgbClr val="0F172A">
                <a:alpha val="16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5358384" y="1728216"/>
            <a:ext cx="310896" cy="310896"/>
          </a:xfrm>
          <a:prstGeom prst="ellipse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5358384" y="1728216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5779008" y="1627632"/>
            <a:ext cx="276148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Typed &amp; validated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779008" y="1883664"/>
            <a:ext cx="276148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 is coerced to an int; bad input returns 422 automatically.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212080" y="2313432"/>
            <a:ext cx="347472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88900" dist="38100" dir="5400000" algn="bl" rotWithShape="0">
              <a:srgbClr val="0F172A">
                <a:alpha val="16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5358384" y="2487168"/>
            <a:ext cx="310896" cy="310896"/>
          </a:xfrm>
          <a:prstGeom prst="ellipse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5358384" y="2487168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5779008" y="2386584"/>
            <a:ext cx="276148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Interactive docs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779008" y="2642616"/>
            <a:ext cx="276148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Swagger UI appears at /docs, ReDoc at /redoc — instantly.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212080" y="3072384"/>
            <a:ext cx="347472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88900" dist="38100" dir="5400000" algn="bl" rotWithShape="0">
              <a:srgbClr val="0F172A">
                <a:alpha val="16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8" name="Shape 16"/>
          <p:cNvSpPr/>
          <p:nvPr/>
        </p:nvSpPr>
        <p:spPr>
          <a:xfrm>
            <a:off x="5358384" y="3246120"/>
            <a:ext cx="310896" cy="310896"/>
          </a:xfrm>
          <a:prstGeom prst="ellipse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5358384" y="3246120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5779008" y="3145536"/>
            <a:ext cx="276148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OpenAPI schema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779008" y="3401568"/>
            <a:ext cx="276148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machine-readable contract powers clients &amp; testing.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5212080" y="3831336"/>
            <a:ext cx="347472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88900" dist="38100" dir="5400000" algn="bl" rotWithShape="0">
              <a:srgbClr val="0F172A">
                <a:alpha val="16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3" name="Shape 21"/>
          <p:cNvSpPr/>
          <p:nvPr/>
        </p:nvSpPr>
        <p:spPr>
          <a:xfrm>
            <a:off x="5358384" y="4005072"/>
            <a:ext cx="310896" cy="310896"/>
          </a:xfrm>
          <a:prstGeom prst="ellipse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/>
          <p:nvPr/>
        </p:nvSpPr>
        <p:spPr>
          <a:xfrm>
            <a:off x="5358384" y="4005072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5779008" y="3904488"/>
            <a:ext cx="276148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JSON by default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5779008" y="4160520"/>
            <a:ext cx="276148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 a dict and FastAPI serializes the response for you.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457200" y="473659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 Communication // FastAPI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8229600" y="473659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457200" y="3017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kern="0" spc="200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PERFORMANCE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Built for Speed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57200" y="1554480"/>
            <a:ext cx="5120640" cy="2880360"/>
          </a:xfrm>
          <a:prstGeom prst="roundRect">
            <a:avLst>
              <a:gd name="adj" fmla="val 254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88900" dist="38100" dir="5400000" algn="bl" rotWithShape="0">
              <a:srgbClr val="0F172A">
                <a:alpha val="16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822960" y="3950208"/>
            <a:ext cx="448056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1371600" y="2194560"/>
            <a:ext cx="841248" cy="1755648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1097280" y="1828800"/>
            <a:ext cx="138988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8,500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097280" y="4023360"/>
            <a:ext cx="138988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2788920" y="3309913"/>
            <a:ext cx="841248" cy="640295"/>
          </a:xfrm>
          <a:prstGeom prst="rect">
            <a:avLst/>
          </a:prstGeom>
          <a:solidFill>
            <a:srgbClr val="14B8A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2514600" y="2944153"/>
            <a:ext cx="138988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3,100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2514600" y="4023360"/>
            <a:ext cx="138988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Flask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206240" y="3516460"/>
            <a:ext cx="841248" cy="433748"/>
          </a:xfrm>
          <a:prstGeom prst="rect">
            <a:avLst/>
          </a:prstGeom>
          <a:solidFill>
            <a:srgbClr val="33415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3931920" y="3150700"/>
            <a:ext cx="138988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2,100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3931920" y="4023360"/>
            <a:ext cx="138988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Django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48640" y="4370832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Representative throughput — requests/sec on a simple JSON endpoint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806440" y="1554480"/>
            <a:ext cx="288036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88900" dist="38100" dir="5400000" algn="bl" rotWithShape="0">
              <a:srgbClr val="0F172A">
                <a:alpha val="16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5989320" y="1627632"/>
            <a:ext cx="2514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8,500+</a:t>
            </a:r>
            <a:endParaRPr lang="en-US" sz="2100" dirty="0"/>
          </a:p>
        </p:txBody>
      </p:sp>
      <p:sp>
        <p:nvSpPr>
          <p:cNvPr id="19" name="Text 17"/>
          <p:cNvSpPr/>
          <p:nvPr/>
        </p:nvSpPr>
        <p:spPr>
          <a:xfrm>
            <a:off x="5989320" y="2011680"/>
            <a:ext cx="2514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requests/sec — fastest by a wide margin for API workloads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806440" y="2514600"/>
            <a:ext cx="288036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88900" dist="38100" dir="5400000" algn="bl" rotWithShape="0">
              <a:srgbClr val="0F172A">
                <a:alpha val="16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5989320" y="2587752"/>
            <a:ext cx="2514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Async I/O</a:t>
            </a:r>
            <a:endParaRPr lang="en-US" sz="2100" dirty="0"/>
          </a:p>
        </p:txBody>
      </p:sp>
      <p:sp>
        <p:nvSpPr>
          <p:cNvPr id="22" name="Text 20"/>
          <p:cNvSpPr/>
          <p:nvPr/>
        </p:nvSpPr>
        <p:spPr>
          <a:xfrm>
            <a:off x="5989320" y="2971800"/>
            <a:ext cx="2514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Non-blocking concurrency handles many requests at once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5806440" y="3474720"/>
            <a:ext cx="288036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88900" dist="38100" dir="5400000" algn="bl" rotWithShape="0">
              <a:srgbClr val="0F172A">
                <a:alpha val="16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/>
          <p:nvPr/>
        </p:nvSpPr>
        <p:spPr>
          <a:xfrm>
            <a:off x="5989320" y="3547872"/>
            <a:ext cx="2514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43F5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Less code</a:t>
            </a:r>
            <a:endParaRPr lang="en-US" sz="2100" dirty="0"/>
          </a:p>
        </p:txBody>
      </p:sp>
      <p:sp>
        <p:nvSpPr>
          <p:cNvPr id="25" name="Text 23"/>
          <p:cNvSpPr/>
          <p:nvPr/>
        </p:nvSpPr>
        <p:spPr>
          <a:xfrm>
            <a:off x="5989320" y="3931920"/>
            <a:ext cx="2514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Production-ready APIs with minimal boilerplate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457200" y="473659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 Communication // Performance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8229600" y="473659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548640" y="5029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WRAP-UP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02920" y="8229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Takeaways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548640" y="1755648"/>
            <a:ext cx="365760" cy="365760"/>
          </a:xfrm>
          <a:prstGeom prst="ellipse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548640" y="175564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97280" y="1737360"/>
            <a:ext cx="7498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 is a conversation  </a:t>
            </a:r>
            <a:r>
              <a:rPr lang="en-US" sz="14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Every web action is a request and a matching response.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548640" y="2322576"/>
            <a:ext cx="365760" cy="365760"/>
          </a:xfrm>
          <a:prstGeom prst="ellipse">
            <a:avLst/>
          </a:prstGeom>
          <a:solidFill>
            <a:srgbClr val="F43F5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548640" y="2322576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097280" y="2304288"/>
            <a:ext cx="7498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Methods + codes tell the story  </a:t>
            </a:r>
            <a:r>
              <a:rPr lang="en-US" sz="14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Verbs say what you want; status codes say how it went.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548640" y="2889504"/>
            <a:ext cx="365760" cy="365760"/>
          </a:xfrm>
          <a:prstGeom prst="ellipse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548640" y="2889504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097280" y="2871216"/>
            <a:ext cx="7498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and server share the work  </a:t>
            </a:r>
            <a:r>
              <a:rPr lang="en-US" sz="14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Frontend presents; backend decides and stores.</a:t>
            </a:r>
            <a:endParaRPr lang="en-US" sz="1450" dirty="0"/>
          </a:p>
        </p:txBody>
      </p:sp>
      <p:sp>
        <p:nvSpPr>
          <p:cNvPr id="14" name="Shape 12"/>
          <p:cNvSpPr/>
          <p:nvPr/>
        </p:nvSpPr>
        <p:spPr>
          <a:xfrm>
            <a:off x="548640" y="3456432"/>
            <a:ext cx="365760" cy="365760"/>
          </a:xfrm>
          <a:prstGeom prst="ellipse">
            <a:avLst/>
          </a:prstGeom>
          <a:solidFill>
            <a:srgbClr val="F43F5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548640" y="345643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097280" y="3438144"/>
            <a:ext cx="7498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Standards keep it safe  </a:t>
            </a:r>
            <a:r>
              <a:rPr lang="en-US" sz="14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REST, HTTPS/TLS and auth make APIs reliable and secure.</a:t>
            </a:r>
            <a:endParaRPr lang="en-US" sz="1450" dirty="0"/>
          </a:p>
        </p:txBody>
      </p:sp>
      <p:sp>
        <p:nvSpPr>
          <p:cNvPr id="17" name="Shape 15"/>
          <p:cNvSpPr/>
          <p:nvPr/>
        </p:nvSpPr>
        <p:spPr>
          <a:xfrm>
            <a:off x="548640" y="4023360"/>
            <a:ext cx="365760" cy="365760"/>
          </a:xfrm>
          <a:prstGeom prst="ellipse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548640" y="40233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097280" y="4005072"/>
            <a:ext cx="7498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makes it easy &amp; fast  </a:t>
            </a:r>
            <a:r>
              <a:rPr lang="en-US" sz="14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Type hints, auto docs and async speed in modern Python.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1097280" y="4709160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go build something that talks to the web.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</TotalTime>
  <Words>1653</Words>
  <Application>Microsoft Office PowerPoint</Application>
  <PresentationFormat>On-screen Show (16:9)</PresentationFormat>
  <Paragraphs>358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5" baseType="lpstr">
      <vt:lpstr>Arial</vt:lpstr>
      <vt:lpstr>Calibri</vt:lpstr>
      <vt:lpstr>Consolas</vt:lpstr>
      <vt:lpstr>Trebuchet MS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Venkata Prasad KAPPA</dc:creator>
  <cp:lastModifiedBy>Venkata Prasad KAPPA</cp:lastModifiedBy>
  <cp:revision>1</cp:revision>
  <dcterms:created xsi:type="dcterms:W3CDTF">2026-06-19T04:45:16Z</dcterms:created>
  <dcterms:modified xsi:type="dcterms:W3CDTF">2026-06-19T05:08:06Z</dcterms:modified>
</cp:coreProperties>
</file>