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interns warmly. Set expectations: this is a beginner-friendly tour of deep learning, not a math-heavy lecture. By the end of the session they should (1) understand what a neural network is, (2) recognize the major building blocks of PyTorch, and (3) have walked through two small projects — an MNIST image classifier and a sentiment-analysis text classifier. Encourage them to ask questions throughout. Mention that all code samples will be shared in the team repo after the session.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quickly — about a minute. Emphasize that the first half is conceptual (what deep learning is, how neural networks work) and the second half is hands-on with PyTorch. Tell them they don't need to memorize math; we'll point at intuition and let the code do the heavy lifting. Mention that the two projects (MNIST and sentiment) cover both vision and NLP, so they get a feel for both worlds. Ask if anyone has prior ML experience — that helps calibrate pacing.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deep learning in plain English: it's machine learning that uses big stacked neural networks. Contrast with classical ML where engineers hand-craft features (e.g., 'count the number of edges'). In deep learning, the model learns its own features from raw inputs. The nested-circles diagram on the right shows the relationship: AI is the broad umbrella (any system that behaves intelligently), ML is a subset that learns from data, and DL is a subset of ML that specifically uses deep neural networks. Mention real-world examples: ChatGPT, image search, self-driving perception, voice assistants — all powered by deep learning.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deep learning ideas (neural networks, backpropagation) have existed since the 1980s. What changed in the 2010s was the combination of four things on these cards: (1) massive labeled datasets like ImageNet, (2) cheap GPUs that parallelize matrix multiplication, (3) algorithmic breakthroughs like ReLU, dropout, batch norm, and Adam, and (4) accessible open-source frameworks. The last point is especially important for interns — they get to start where decades of researchers ended. Reassure them that they don't need to invent anything novel to be useful; understanding the building blocks is what unlocks productivity.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diagram left to right. Inputs flow in (e.g., pixel values of an image), get multiplied by weights at each connection, summed at each neuron, passed through an activation function (typically ReLU), and then forwarded to the next layer. Repeat this several times and you get an output — e.g., probability of each digit class. Stress two intuitions: (1) the network is just a big chain of matrix multiplications and activations; (2) all that 'learning' means is finding good values for the weights. Use the right-side glossary as a quick reference and define each term in plain English.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loop of deep learning — make sure it lands. Use an analogy: it's like adjusting the knobs on a stereo. You play a song (forward pass), notice it sounds wrong (loss), figure out which knob to turn (backprop), and turn it a little (update). Repeat thousands of times until it sounds right. Reassure them that PyTorch handles backprop automatically via autograd — they never compute derivatives by hand. The optimizer (e.g., SGD or Adam) handles the update step. The interns just need to define the architecture, pick a loss, and call .backward() and optimizer.step().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one-line elevator pitch for each. (1) MLPs: the simplest deep nets — every neuron connected to every neuron in the next layer. (2) CNNs: specialized for images; the convolution operation lets the network share weights across spatial locations. (3) RNNs and LSTMs: process inputs one step at a time and keep a hidden 'memory' — historically used for text and time-series. (4) Transformers: replaced RNNs in most modern NLP and vision work; the attention mechanism lets the model look at all positions simultaneously. Tell interns they'll see all four eventually; today's projects use a CNN (MNIST) and a simple embedding+pooling model (sentiment).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PyTorch lets you write deep learning code that looks like normal Python. Walk through the small code panel on the right: we create a tensor, declare a weight matrix that requires gradients, do a matrix multiply, define a fake 'loss', and call backward(). PyTorch's autograd automatically computes the gradient of the loss with respect to every tensor that had requires_grad=True. This is the same mechanism that powers training of any neural net. Mention TorchVision (vision datasets and models), TorchText, and Hugging Face Transformers as the ecosystem they'll lean 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interns: if they only learn four things in PyTorch this week, learn these. Tensors are like NumPy arrays but with GPU support and gradient tracking. Autograd is the magic that makes backprop one line of code. nn.Module is how you define a model — they'll subclass it and implement forward(). DataLoader handles batching and shuffling so they don't have to write their own data pipeline. The training loop ties all four together: load a batch from DataLoader, push tensors to GPU, call model(x), compute loss, call backward(), step the optimizer. Show this loop on the next slides.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MNIST is the 'hello world' of deep learning. The dataset is 60,000 training and 10,000 test grayscale images of digits 0–9, each 28×28 pixels. Walk through the code on the right: we define a small CNN by subclassing nn.Module. The architecture is one convolution → ReLU → max pool → flatten → linear → 10 logits (one per digit). Training is the standard loop: for each batch, run model(x), compute cross_entropy loss against the true labels, call loss.backward(), then optimizer.step(). On a laptop CPU this trains in a few minutes; on a GPU it's seconds. Expect 98–99% test accuracy. Have interns clone the repo and run python train.py during the workshop.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complements MNIST by showing how to handle text. The model is intentionally minimal: tokens → embedding vectors → average pool → linear → one logit per review. We use BCEWithLogitsLoss because it's a binary task. Use the IMDb dataset (50k movie reviews labeled positive/negative). Walk through tokenization briefly — explain that we map each word to an integer ID via a vocabulary, then nn.Embedding turns those IDs into dense vectors the network can learn over. Mean pooling across tokens is a simple, surprisingly strong baseline. Expect ~85% accuracy. Encourage them to swap mean pooling for an LSTM or a small transformer once the baseline works.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lessons every engineer wishes they'd known on day one. Especially stress the 'overfit one batch' trick: before training on the full dataset, take a single batch of, say, 8 examples and try to drive the loss to zero. If you can't, your model or data pipeline has a bug. Emphasize the social tips too — interns often hesitate to ask questions. Make it explicit that pinging a mentor after 30 minutes of being stuck is the expected behavior, not a sign of weakness.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a warm, encouraging note. Walk through the resources column quickly and tell interns which one you personally recommend for their learning style. Then walk through the right-hand 'first week' checklist — this gives them a concrete plan to leave the room with. Emphasize the 1:1 with their mentor by Friday: it sets a habit of regular check-ins. End by inviting questions and reminding them that every senior engineer was once exactly where they are.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flipV="1">
            <a:off x="7863840" y="1828800"/>
            <a:ext cx="1188720" cy="457200"/>
          </a:xfrm>
          <a:prstGeom prst="line">
            <a:avLst/>
          </a:prstGeom>
          <a:noFill/>
          <a:ln w="6350">
            <a:solidFill>
              <a:srgbClr val="22D3EE">
                <a:alpha val="30000"/>
              </a:srgbClr>
            </a:solidFill>
            <a:prstDash val="solid"/>
          </a:ln>
        </p:spPr>
        <p:txBody>
          <a:bodyPr/>
          <a:lstStyle/>
          <a:p>
            <a:endParaRPr lang="en-IN"/>
          </a:p>
        </p:txBody>
      </p:sp>
      <p:sp>
        <p:nvSpPr>
          <p:cNvPr id="3" name="Shape 1"/>
          <p:cNvSpPr/>
          <p:nvPr/>
        </p:nvSpPr>
        <p:spPr>
          <a:xfrm>
            <a:off x="7863840" y="2286000"/>
            <a:ext cx="1188720" cy="457200"/>
          </a:xfrm>
          <a:prstGeom prst="line">
            <a:avLst/>
          </a:prstGeom>
          <a:noFill/>
          <a:ln w="6350">
            <a:solidFill>
              <a:srgbClr val="22D3EE">
                <a:alpha val="30000"/>
              </a:srgbClr>
            </a:solidFill>
            <a:prstDash val="solid"/>
          </a:ln>
        </p:spPr>
        <p:txBody>
          <a:bodyPr/>
          <a:lstStyle/>
          <a:p>
            <a:endParaRPr lang="en-IN"/>
          </a:p>
        </p:txBody>
      </p:sp>
      <p:sp>
        <p:nvSpPr>
          <p:cNvPr id="4" name="Shape 2"/>
          <p:cNvSpPr/>
          <p:nvPr/>
        </p:nvSpPr>
        <p:spPr>
          <a:xfrm>
            <a:off x="7863840" y="2286000"/>
            <a:ext cx="1188720" cy="1371600"/>
          </a:xfrm>
          <a:prstGeom prst="line">
            <a:avLst/>
          </a:prstGeom>
          <a:noFill/>
          <a:ln w="6350">
            <a:solidFill>
              <a:srgbClr val="22D3EE">
                <a:alpha val="30000"/>
              </a:srgbClr>
            </a:solidFill>
            <a:prstDash val="solid"/>
          </a:ln>
        </p:spPr>
        <p:txBody>
          <a:bodyPr/>
          <a:lstStyle/>
          <a:p>
            <a:endParaRPr lang="en-IN"/>
          </a:p>
        </p:txBody>
      </p:sp>
      <p:sp>
        <p:nvSpPr>
          <p:cNvPr id="5" name="Shape 3"/>
          <p:cNvSpPr/>
          <p:nvPr/>
        </p:nvSpPr>
        <p:spPr>
          <a:xfrm>
            <a:off x="7863840" y="2286000"/>
            <a:ext cx="1188720" cy="2286000"/>
          </a:xfrm>
          <a:prstGeom prst="line">
            <a:avLst/>
          </a:prstGeom>
          <a:noFill/>
          <a:ln w="6350">
            <a:solidFill>
              <a:srgbClr val="22D3EE">
                <a:alpha val="30000"/>
              </a:srgbClr>
            </a:solidFill>
            <a:prstDash val="solid"/>
          </a:ln>
        </p:spPr>
        <p:txBody>
          <a:bodyPr/>
          <a:lstStyle/>
          <a:p>
            <a:endParaRPr lang="en-IN"/>
          </a:p>
        </p:txBody>
      </p:sp>
      <p:sp>
        <p:nvSpPr>
          <p:cNvPr id="6" name="Shape 4"/>
          <p:cNvSpPr/>
          <p:nvPr/>
        </p:nvSpPr>
        <p:spPr>
          <a:xfrm>
            <a:off x="7863840" y="2286000"/>
            <a:ext cx="1188720" cy="3200400"/>
          </a:xfrm>
          <a:prstGeom prst="line">
            <a:avLst/>
          </a:prstGeom>
          <a:noFill/>
          <a:ln w="6350">
            <a:solidFill>
              <a:srgbClr val="22D3EE">
                <a:alpha val="30000"/>
              </a:srgbClr>
            </a:solidFill>
            <a:prstDash val="solid"/>
          </a:ln>
        </p:spPr>
        <p:txBody>
          <a:bodyPr/>
          <a:lstStyle/>
          <a:p>
            <a:endParaRPr lang="en-IN"/>
          </a:p>
        </p:txBody>
      </p:sp>
      <p:sp>
        <p:nvSpPr>
          <p:cNvPr id="7" name="Shape 5"/>
          <p:cNvSpPr/>
          <p:nvPr/>
        </p:nvSpPr>
        <p:spPr>
          <a:xfrm flipV="1">
            <a:off x="7863840" y="1828800"/>
            <a:ext cx="1188720" cy="1371600"/>
          </a:xfrm>
          <a:prstGeom prst="line">
            <a:avLst/>
          </a:prstGeom>
          <a:noFill/>
          <a:ln w="6350">
            <a:solidFill>
              <a:srgbClr val="22D3EE">
                <a:alpha val="30000"/>
              </a:srgbClr>
            </a:solidFill>
            <a:prstDash val="solid"/>
          </a:ln>
        </p:spPr>
        <p:txBody>
          <a:bodyPr/>
          <a:lstStyle/>
          <a:p>
            <a:endParaRPr lang="en-IN"/>
          </a:p>
        </p:txBody>
      </p:sp>
      <p:sp>
        <p:nvSpPr>
          <p:cNvPr id="8" name="Shape 6"/>
          <p:cNvSpPr/>
          <p:nvPr/>
        </p:nvSpPr>
        <p:spPr>
          <a:xfrm flipV="1">
            <a:off x="7863840" y="2743200"/>
            <a:ext cx="1188720" cy="457200"/>
          </a:xfrm>
          <a:prstGeom prst="line">
            <a:avLst/>
          </a:prstGeom>
          <a:noFill/>
          <a:ln w="6350">
            <a:solidFill>
              <a:srgbClr val="22D3EE">
                <a:alpha val="30000"/>
              </a:srgbClr>
            </a:solidFill>
            <a:prstDash val="solid"/>
          </a:ln>
        </p:spPr>
        <p:txBody>
          <a:bodyPr/>
          <a:lstStyle/>
          <a:p>
            <a:endParaRPr lang="en-IN"/>
          </a:p>
        </p:txBody>
      </p:sp>
      <p:sp>
        <p:nvSpPr>
          <p:cNvPr id="9" name="Shape 7"/>
          <p:cNvSpPr/>
          <p:nvPr/>
        </p:nvSpPr>
        <p:spPr>
          <a:xfrm>
            <a:off x="7863840" y="3200400"/>
            <a:ext cx="1188720" cy="457200"/>
          </a:xfrm>
          <a:prstGeom prst="line">
            <a:avLst/>
          </a:prstGeom>
          <a:noFill/>
          <a:ln w="6350">
            <a:solidFill>
              <a:srgbClr val="22D3EE">
                <a:alpha val="30000"/>
              </a:srgbClr>
            </a:solidFill>
            <a:prstDash val="solid"/>
          </a:ln>
        </p:spPr>
        <p:txBody>
          <a:bodyPr/>
          <a:lstStyle/>
          <a:p>
            <a:endParaRPr lang="en-IN"/>
          </a:p>
        </p:txBody>
      </p:sp>
      <p:sp>
        <p:nvSpPr>
          <p:cNvPr id="10" name="Shape 8"/>
          <p:cNvSpPr/>
          <p:nvPr/>
        </p:nvSpPr>
        <p:spPr>
          <a:xfrm>
            <a:off x="7863840" y="3200400"/>
            <a:ext cx="1188720" cy="1371600"/>
          </a:xfrm>
          <a:prstGeom prst="line">
            <a:avLst/>
          </a:prstGeom>
          <a:noFill/>
          <a:ln w="6350">
            <a:solidFill>
              <a:srgbClr val="22D3EE">
                <a:alpha val="30000"/>
              </a:srgbClr>
            </a:solidFill>
            <a:prstDash val="solid"/>
          </a:ln>
        </p:spPr>
        <p:txBody>
          <a:bodyPr/>
          <a:lstStyle/>
          <a:p>
            <a:endParaRPr lang="en-IN"/>
          </a:p>
        </p:txBody>
      </p:sp>
      <p:sp>
        <p:nvSpPr>
          <p:cNvPr id="11" name="Shape 9"/>
          <p:cNvSpPr/>
          <p:nvPr/>
        </p:nvSpPr>
        <p:spPr>
          <a:xfrm>
            <a:off x="7863840" y="3200400"/>
            <a:ext cx="1188720" cy="2286000"/>
          </a:xfrm>
          <a:prstGeom prst="line">
            <a:avLst/>
          </a:prstGeom>
          <a:noFill/>
          <a:ln w="6350">
            <a:solidFill>
              <a:srgbClr val="22D3EE">
                <a:alpha val="30000"/>
              </a:srgbClr>
            </a:solidFill>
            <a:prstDash val="solid"/>
          </a:ln>
        </p:spPr>
        <p:txBody>
          <a:bodyPr/>
          <a:lstStyle/>
          <a:p>
            <a:endParaRPr lang="en-IN"/>
          </a:p>
        </p:txBody>
      </p:sp>
      <p:sp>
        <p:nvSpPr>
          <p:cNvPr id="12" name="Shape 10"/>
          <p:cNvSpPr/>
          <p:nvPr/>
        </p:nvSpPr>
        <p:spPr>
          <a:xfrm flipV="1">
            <a:off x="7863840" y="1828800"/>
            <a:ext cx="1188720" cy="2286000"/>
          </a:xfrm>
          <a:prstGeom prst="line">
            <a:avLst/>
          </a:prstGeom>
          <a:noFill/>
          <a:ln w="6350">
            <a:solidFill>
              <a:srgbClr val="22D3EE">
                <a:alpha val="30000"/>
              </a:srgbClr>
            </a:solidFill>
            <a:prstDash val="solid"/>
          </a:ln>
        </p:spPr>
        <p:txBody>
          <a:bodyPr/>
          <a:lstStyle/>
          <a:p>
            <a:endParaRPr lang="en-IN"/>
          </a:p>
        </p:txBody>
      </p:sp>
      <p:sp>
        <p:nvSpPr>
          <p:cNvPr id="13" name="Shape 11"/>
          <p:cNvSpPr/>
          <p:nvPr/>
        </p:nvSpPr>
        <p:spPr>
          <a:xfrm flipV="1">
            <a:off x="7863840" y="2743200"/>
            <a:ext cx="1188720" cy="1371600"/>
          </a:xfrm>
          <a:prstGeom prst="line">
            <a:avLst/>
          </a:prstGeom>
          <a:noFill/>
          <a:ln w="6350">
            <a:solidFill>
              <a:srgbClr val="22D3EE">
                <a:alpha val="30000"/>
              </a:srgbClr>
            </a:solidFill>
            <a:prstDash val="solid"/>
          </a:ln>
        </p:spPr>
        <p:txBody>
          <a:bodyPr/>
          <a:lstStyle/>
          <a:p>
            <a:endParaRPr lang="en-IN"/>
          </a:p>
        </p:txBody>
      </p:sp>
      <p:sp>
        <p:nvSpPr>
          <p:cNvPr id="14" name="Shape 12"/>
          <p:cNvSpPr/>
          <p:nvPr/>
        </p:nvSpPr>
        <p:spPr>
          <a:xfrm flipV="1">
            <a:off x="7863840" y="3657600"/>
            <a:ext cx="1188720" cy="457200"/>
          </a:xfrm>
          <a:prstGeom prst="line">
            <a:avLst/>
          </a:prstGeom>
          <a:noFill/>
          <a:ln w="6350">
            <a:solidFill>
              <a:srgbClr val="22D3EE">
                <a:alpha val="30000"/>
              </a:srgbClr>
            </a:solidFill>
            <a:prstDash val="solid"/>
          </a:ln>
        </p:spPr>
        <p:txBody>
          <a:bodyPr/>
          <a:lstStyle/>
          <a:p>
            <a:endParaRPr lang="en-IN"/>
          </a:p>
        </p:txBody>
      </p:sp>
      <p:sp>
        <p:nvSpPr>
          <p:cNvPr id="15" name="Shape 13"/>
          <p:cNvSpPr/>
          <p:nvPr/>
        </p:nvSpPr>
        <p:spPr>
          <a:xfrm>
            <a:off x="7863840" y="4114800"/>
            <a:ext cx="1188720" cy="457200"/>
          </a:xfrm>
          <a:prstGeom prst="line">
            <a:avLst/>
          </a:prstGeom>
          <a:noFill/>
          <a:ln w="6350">
            <a:solidFill>
              <a:srgbClr val="22D3EE">
                <a:alpha val="30000"/>
              </a:srgbClr>
            </a:solidFill>
            <a:prstDash val="solid"/>
          </a:ln>
        </p:spPr>
        <p:txBody>
          <a:bodyPr/>
          <a:lstStyle/>
          <a:p>
            <a:endParaRPr lang="en-IN"/>
          </a:p>
        </p:txBody>
      </p:sp>
      <p:sp>
        <p:nvSpPr>
          <p:cNvPr id="16" name="Shape 14"/>
          <p:cNvSpPr/>
          <p:nvPr/>
        </p:nvSpPr>
        <p:spPr>
          <a:xfrm>
            <a:off x="7863840" y="4114800"/>
            <a:ext cx="1188720" cy="1371600"/>
          </a:xfrm>
          <a:prstGeom prst="line">
            <a:avLst/>
          </a:prstGeom>
          <a:noFill/>
          <a:ln w="6350">
            <a:solidFill>
              <a:srgbClr val="22D3EE">
                <a:alpha val="30000"/>
              </a:srgbClr>
            </a:solidFill>
            <a:prstDash val="solid"/>
          </a:ln>
        </p:spPr>
        <p:txBody>
          <a:bodyPr/>
          <a:lstStyle/>
          <a:p>
            <a:endParaRPr lang="en-IN"/>
          </a:p>
        </p:txBody>
      </p:sp>
      <p:sp>
        <p:nvSpPr>
          <p:cNvPr id="17" name="Shape 15"/>
          <p:cNvSpPr/>
          <p:nvPr/>
        </p:nvSpPr>
        <p:spPr>
          <a:xfrm flipV="1">
            <a:off x="7863840" y="1828800"/>
            <a:ext cx="1188720" cy="3200400"/>
          </a:xfrm>
          <a:prstGeom prst="line">
            <a:avLst/>
          </a:prstGeom>
          <a:noFill/>
          <a:ln w="6350">
            <a:solidFill>
              <a:srgbClr val="22D3EE">
                <a:alpha val="30000"/>
              </a:srgbClr>
            </a:solidFill>
            <a:prstDash val="solid"/>
          </a:ln>
        </p:spPr>
        <p:txBody>
          <a:bodyPr/>
          <a:lstStyle/>
          <a:p>
            <a:endParaRPr lang="en-IN"/>
          </a:p>
        </p:txBody>
      </p:sp>
      <p:sp>
        <p:nvSpPr>
          <p:cNvPr id="18" name="Shape 16"/>
          <p:cNvSpPr/>
          <p:nvPr/>
        </p:nvSpPr>
        <p:spPr>
          <a:xfrm flipV="1">
            <a:off x="7863840" y="2743200"/>
            <a:ext cx="1188720" cy="2286000"/>
          </a:xfrm>
          <a:prstGeom prst="line">
            <a:avLst/>
          </a:prstGeom>
          <a:noFill/>
          <a:ln w="6350">
            <a:solidFill>
              <a:srgbClr val="22D3EE">
                <a:alpha val="30000"/>
              </a:srgbClr>
            </a:solidFill>
            <a:prstDash val="solid"/>
          </a:ln>
        </p:spPr>
        <p:txBody>
          <a:bodyPr/>
          <a:lstStyle/>
          <a:p>
            <a:endParaRPr lang="en-IN"/>
          </a:p>
        </p:txBody>
      </p:sp>
      <p:sp>
        <p:nvSpPr>
          <p:cNvPr id="19" name="Shape 17"/>
          <p:cNvSpPr/>
          <p:nvPr/>
        </p:nvSpPr>
        <p:spPr>
          <a:xfrm flipV="1">
            <a:off x="7863840" y="3657600"/>
            <a:ext cx="1188720" cy="1371600"/>
          </a:xfrm>
          <a:prstGeom prst="line">
            <a:avLst/>
          </a:prstGeom>
          <a:noFill/>
          <a:ln w="6350">
            <a:solidFill>
              <a:srgbClr val="22D3EE">
                <a:alpha val="30000"/>
              </a:srgbClr>
            </a:solidFill>
            <a:prstDash val="solid"/>
          </a:ln>
        </p:spPr>
        <p:txBody>
          <a:bodyPr/>
          <a:lstStyle/>
          <a:p>
            <a:endParaRPr lang="en-IN"/>
          </a:p>
        </p:txBody>
      </p:sp>
      <p:sp>
        <p:nvSpPr>
          <p:cNvPr id="20" name="Shape 18"/>
          <p:cNvSpPr/>
          <p:nvPr/>
        </p:nvSpPr>
        <p:spPr>
          <a:xfrm flipV="1">
            <a:off x="7863840" y="4572000"/>
            <a:ext cx="1188720" cy="457200"/>
          </a:xfrm>
          <a:prstGeom prst="line">
            <a:avLst/>
          </a:prstGeom>
          <a:noFill/>
          <a:ln w="6350">
            <a:solidFill>
              <a:srgbClr val="22D3EE">
                <a:alpha val="30000"/>
              </a:srgbClr>
            </a:solidFill>
            <a:prstDash val="solid"/>
          </a:ln>
        </p:spPr>
        <p:txBody>
          <a:bodyPr/>
          <a:lstStyle/>
          <a:p>
            <a:endParaRPr lang="en-IN"/>
          </a:p>
        </p:txBody>
      </p:sp>
      <p:sp>
        <p:nvSpPr>
          <p:cNvPr id="21" name="Shape 19"/>
          <p:cNvSpPr/>
          <p:nvPr/>
        </p:nvSpPr>
        <p:spPr>
          <a:xfrm>
            <a:off x="7863840" y="5029200"/>
            <a:ext cx="1188720" cy="457200"/>
          </a:xfrm>
          <a:prstGeom prst="line">
            <a:avLst/>
          </a:prstGeom>
          <a:noFill/>
          <a:ln w="6350">
            <a:solidFill>
              <a:srgbClr val="22D3EE">
                <a:alpha val="30000"/>
              </a:srgbClr>
            </a:solidFill>
            <a:prstDash val="solid"/>
          </a:ln>
        </p:spPr>
        <p:txBody>
          <a:bodyPr/>
          <a:lstStyle/>
          <a:p>
            <a:endParaRPr lang="en-IN"/>
          </a:p>
        </p:txBody>
      </p:sp>
      <p:sp>
        <p:nvSpPr>
          <p:cNvPr id="22" name="Shape 20"/>
          <p:cNvSpPr/>
          <p:nvPr/>
        </p:nvSpPr>
        <p:spPr>
          <a:xfrm>
            <a:off x="9052560" y="1828800"/>
            <a:ext cx="1188720" cy="457200"/>
          </a:xfrm>
          <a:prstGeom prst="line">
            <a:avLst/>
          </a:prstGeom>
          <a:noFill/>
          <a:ln w="6350">
            <a:solidFill>
              <a:srgbClr val="22D3EE">
                <a:alpha val="30000"/>
              </a:srgbClr>
            </a:solidFill>
            <a:prstDash val="solid"/>
          </a:ln>
        </p:spPr>
        <p:txBody>
          <a:bodyPr/>
          <a:lstStyle/>
          <a:p>
            <a:endParaRPr lang="en-IN"/>
          </a:p>
        </p:txBody>
      </p:sp>
      <p:sp>
        <p:nvSpPr>
          <p:cNvPr id="23" name="Shape 21"/>
          <p:cNvSpPr/>
          <p:nvPr/>
        </p:nvSpPr>
        <p:spPr>
          <a:xfrm>
            <a:off x="9052560" y="1828800"/>
            <a:ext cx="1188720" cy="1371600"/>
          </a:xfrm>
          <a:prstGeom prst="line">
            <a:avLst/>
          </a:prstGeom>
          <a:noFill/>
          <a:ln w="6350">
            <a:solidFill>
              <a:srgbClr val="22D3EE">
                <a:alpha val="30000"/>
              </a:srgbClr>
            </a:solidFill>
            <a:prstDash val="solid"/>
          </a:ln>
        </p:spPr>
        <p:txBody>
          <a:bodyPr/>
          <a:lstStyle/>
          <a:p>
            <a:endParaRPr lang="en-IN"/>
          </a:p>
        </p:txBody>
      </p:sp>
      <p:sp>
        <p:nvSpPr>
          <p:cNvPr id="24" name="Shape 22"/>
          <p:cNvSpPr/>
          <p:nvPr/>
        </p:nvSpPr>
        <p:spPr>
          <a:xfrm>
            <a:off x="9052560" y="1828800"/>
            <a:ext cx="1188720" cy="2286000"/>
          </a:xfrm>
          <a:prstGeom prst="line">
            <a:avLst/>
          </a:prstGeom>
          <a:noFill/>
          <a:ln w="6350">
            <a:solidFill>
              <a:srgbClr val="22D3EE">
                <a:alpha val="30000"/>
              </a:srgbClr>
            </a:solidFill>
            <a:prstDash val="solid"/>
          </a:ln>
        </p:spPr>
        <p:txBody>
          <a:bodyPr/>
          <a:lstStyle/>
          <a:p>
            <a:endParaRPr lang="en-IN"/>
          </a:p>
        </p:txBody>
      </p:sp>
      <p:sp>
        <p:nvSpPr>
          <p:cNvPr id="25" name="Shape 23"/>
          <p:cNvSpPr/>
          <p:nvPr/>
        </p:nvSpPr>
        <p:spPr>
          <a:xfrm>
            <a:off x="9052560" y="1828800"/>
            <a:ext cx="1188720" cy="3200400"/>
          </a:xfrm>
          <a:prstGeom prst="line">
            <a:avLst/>
          </a:prstGeom>
          <a:noFill/>
          <a:ln w="6350">
            <a:solidFill>
              <a:srgbClr val="22D3EE">
                <a:alpha val="30000"/>
              </a:srgbClr>
            </a:solidFill>
            <a:prstDash val="solid"/>
          </a:ln>
        </p:spPr>
        <p:txBody>
          <a:bodyPr/>
          <a:lstStyle/>
          <a:p>
            <a:endParaRPr lang="en-IN"/>
          </a:p>
        </p:txBody>
      </p:sp>
      <p:sp>
        <p:nvSpPr>
          <p:cNvPr id="26" name="Shape 24"/>
          <p:cNvSpPr/>
          <p:nvPr/>
        </p:nvSpPr>
        <p:spPr>
          <a:xfrm flipV="1">
            <a:off x="9052560" y="2286000"/>
            <a:ext cx="1188720" cy="457200"/>
          </a:xfrm>
          <a:prstGeom prst="line">
            <a:avLst/>
          </a:prstGeom>
          <a:noFill/>
          <a:ln w="6350">
            <a:solidFill>
              <a:srgbClr val="22D3EE">
                <a:alpha val="30000"/>
              </a:srgbClr>
            </a:solidFill>
            <a:prstDash val="solid"/>
          </a:ln>
        </p:spPr>
        <p:txBody>
          <a:bodyPr/>
          <a:lstStyle/>
          <a:p>
            <a:endParaRPr lang="en-IN"/>
          </a:p>
        </p:txBody>
      </p:sp>
      <p:sp>
        <p:nvSpPr>
          <p:cNvPr id="27" name="Shape 25"/>
          <p:cNvSpPr/>
          <p:nvPr/>
        </p:nvSpPr>
        <p:spPr>
          <a:xfrm>
            <a:off x="9052560" y="2743200"/>
            <a:ext cx="1188720" cy="457200"/>
          </a:xfrm>
          <a:prstGeom prst="line">
            <a:avLst/>
          </a:prstGeom>
          <a:noFill/>
          <a:ln w="6350">
            <a:solidFill>
              <a:srgbClr val="22D3EE">
                <a:alpha val="30000"/>
              </a:srgbClr>
            </a:solidFill>
            <a:prstDash val="solid"/>
          </a:ln>
        </p:spPr>
        <p:txBody>
          <a:bodyPr/>
          <a:lstStyle/>
          <a:p>
            <a:endParaRPr lang="en-IN"/>
          </a:p>
        </p:txBody>
      </p:sp>
      <p:sp>
        <p:nvSpPr>
          <p:cNvPr id="28" name="Shape 26"/>
          <p:cNvSpPr/>
          <p:nvPr/>
        </p:nvSpPr>
        <p:spPr>
          <a:xfrm>
            <a:off x="9052560" y="2743200"/>
            <a:ext cx="1188720" cy="1371600"/>
          </a:xfrm>
          <a:prstGeom prst="line">
            <a:avLst/>
          </a:prstGeom>
          <a:noFill/>
          <a:ln w="6350">
            <a:solidFill>
              <a:srgbClr val="22D3EE">
                <a:alpha val="30000"/>
              </a:srgbClr>
            </a:solidFill>
            <a:prstDash val="solid"/>
          </a:ln>
        </p:spPr>
        <p:txBody>
          <a:bodyPr/>
          <a:lstStyle/>
          <a:p>
            <a:endParaRPr lang="en-IN"/>
          </a:p>
        </p:txBody>
      </p:sp>
      <p:sp>
        <p:nvSpPr>
          <p:cNvPr id="29" name="Shape 27"/>
          <p:cNvSpPr/>
          <p:nvPr/>
        </p:nvSpPr>
        <p:spPr>
          <a:xfrm>
            <a:off x="9052560" y="2743200"/>
            <a:ext cx="1188720" cy="2286000"/>
          </a:xfrm>
          <a:prstGeom prst="line">
            <a:avLst/>
          </a:prstGeom>
          <a:noFill/>
          <a:ln w="6350">
            <a:solidFill>
              <a:srgbClr val="22D3EE">
                <a:alpha val="30000"/>
              </a:srgbClr>
            </a:solidFill>
            <a:prstDash val="solid"/>
          </a:ln>
        </p:spPr>
        <p:txBody>
          <a:bodyPr/>
          <a:lstStyle/>
          <a:p>
            <a:endParaRPr lang="en-IN"/>
          </a:p>
        </p:txBody>
      </p:sp>
      <p:sp>
        <p:nvSpPr>
          <p:cNvPr id="30" name="Shape 28"/>
          <p:cNvSpPr/>
          <p:nvPr/>
        </p:nvSpPr>
        <p:spPr>
          <a:xfrm flipV="1">
            <a:off x="9052560" y="2286000"/>
            <a:ext cx="1188720" cy="1371600"/>
          </a:xfrm>
          <a:prstGeom prst="line">
            <a:avLst/>
          </a:prstGeom>
          <a:noFill/>
          <a:ln w="6350">
            <a:solidFill>
              <a:srgbClr val="22D3EE">
                <a:alpha val="30000"/>
              </a:srgbClr>
            </a:solidFill>
            <a:prstDash val="solid"/>
          </a:ln>
        </p:spPr>
        <p:txBody>
          <a:bodyPr/>
          <a:lstStyle/>
          <a:p>
            <a:endParaRPr lang="en-IN"/>
          </a:p>
        </p:txBody>
      </p:sp>
      <p:sp>
        <p:nvSpPr>
          <p:cNvPr id="31" name="Shape 29"/>
          <p:cNvSpPr/>
          <p:nvPr/>
        </p:nvSpPr>
        <p:spPr>
          <a:xfrm flipV="1">
            <a:off x="9052560" y="3200400"/>
            <a:ext cx="1188720" cy="457200"/>
          </a:xfrm>
          <a:prstGeom prst="line">
            <a:avLst/>
          </a:prstGeom>
          <a:noFill/>
          <a:ln w="6350">
            <a:solidFill>
              <a:srgbClr val="22D3EE">
                <a:alpha val="30000"/>
              </a:srgbClr>
            </a:solidFill>
            <a:prstDash val="solid"/>
          </a:ln>
        </p:spPr>
        <p:txBody>
          <a:bodyPr/>
          <a:lstStyle/>
          <a:p>
            <a:endParaRPr lang="en-IN"/>
          </a:p>
        </p:txBody>
      </p:sp>
      <p:sp>
        <p:nvSpPr>
          <p:cNvPr id="32" name="Shape 30"/>
          <p:cNvSpPr/>
          <p:nvPr/>
        </p:nvSpPr>
        <p:spPr>
          <a:xfrm>
            <a:off x="9052560" y="3657600"/>
            <a:ext cx="1188720" cy="457200"/>
          </a:xfrm>
          <a:prstGeom prst="line">
            <a:avLst/>
          </a:prstGeom>
          <a:noFill/>
          <a:ln w="6350">
            <a:solidFill>
              <a:srgbClr val="22D3EE">
                <a:alpha val="30000"/>
              </a:srgbClr>
            </a:solidFill>
            <a:prstDash val="solid"/>
          </a:ln>
        </p:spPr>
        <p:txBody>
          <a:bodyPr/>
          <a:lstStyle/>
          <a:p>
            <a:endParaRPr lang="en-IN"/>
          </a:p>
        </p:txBody>
      </p:sp>
      <p:sp>
        <p:nvSpPr>
          <p:cNvPr id="33" name="Shape 31"/>
          <p:cNvSpPr/>
          <p:nvPr/>
        </p:nvSpPr>
        <p:spPr>
          <a:xfrm>
            <a:off x="9052560" y="3657600"/>
            <a:ext cx="1188720" cy="1371600"/>
          </a:xfrm>
          <a:prstGeom prst="line">
            <a:avLst/>
          </a:prstGeom>
          <a:noFill/>
          <a:ln w="6350">
            <a:solidFill>
              <a:srgbClr val="22D3EE">
                <a:alpha val="30000"/>
              </a:srgbClr>
            </a:solidFill>
            <a:prstDash val="solid"/>
          </a:ln>
        </p:spPr>
        <p:txBody>
          <a:bodyPr/>
          <a:lstStyle/>
          <a:p>
            <a:endParaRPr lang="en-IN"/>
          </a:p>
        </p:txBody>
      </p:sp>
      <p:sp>
        <p:nvSpPr>
          <p:cNvPr id="34" name="Shape 32"/>
          <p:cNvSpPr/>
          <p:nvPr/>
        </p:nvSpPr>
        <p:spPr>
          <a:xfrm flipV="1">
            <a:off x="9052560" y="2286000"/>
            <a:ext cx="1188720" cy="2286000"/>
          </a:xfrm>
          <a:prstGeom prst="line">
            <a:avLst/>
          </a:prstGeom>
          <a:noFill/>
          <a:ln w="6350">
            <a:solidFill>
              <a:srgbClr val="22D3EE">
                <a:alpha val="30000"/>
              </a:srgbClr>
            </a:solidFill>
            <a:prstDash val="solid"/>
          </a:ln>
        </p:spPr>
        <p:txBody>
          <a:bodyPr/>
          <a:lstStyle/>
          <a:p>
            <a:endParaRPr lang="en-IN"/>
          </a:p>
        </p:txBody>
      </p:sp>
      <p:sp>
        <p:nvSpPr>
          <p:cNvPr id="35" name="Shape 33"/>
          <p:cNvSpPr/>
          <p:nvPr/>
        </p:nvSpPr>
        <p:spPr>
          <a:xfrm flipV="1">
            <a:off x="9052560" y="3200400"/>
            <a:ext cx="1188720" cy="1371600"/>
          </a:xfrm>
          <a:prstGeom prst="line">
            <a:avLst/>
          </a:prstGeom>
          <a:noFill/>
          <a:ln w="6350">
            <a:solidFill>
              <a:srgbClr val="22D3EE">
                <a:alpha val="30000"/>
              </a:srgbClr>
            </a:solidFill>
            <a:prstDash val="solid"/>
          </a:ln>
        </p:spPr>
        <p:txBody>
          <a:bodyPr/>
          <a:lstStyle/>
          <a:p>
            <a:endParaRPr lang="en-IN"/>
          </a:p>
        </p:txBody>
      </p:sp>
      <p:sp>
        <p:nvSpPr>
          <p:cNvPr id="36" name="Shape 34"/>
          <p:cNvSpPr/>
          <p:nvPr/>
        </p:nvSpPr>
        <p:spPr>
          <a:xfrm flipV="1">
            <a:off x="9052560" y="4114800"/>
            <a:ext cx="1188720" cy="457200"/>
          </a:xfrm>
          <a:prstGeom prst="line">
            <a:avLst/>
          </a:prstGeom>
          <a:noFill/>
          <a:ln w="6350">
            <a:solidFill>
              <a:srgbClr val="22D3EE">
                <a:alpha val="30000"/>
              </a:srgbClr>
            </a:solidFill>
            <a:prstDash val="solid"/>
          </a:ln>
        </p:spPr>
        <p:txBody>
          <a:bodyPr/>
          <a:lstStyle/>
          <a:p>
            <a:endParaRPr lang="en-IN"/>
          </a:p>
        </p:txBody>
      </p:sp>
      <p:sp>
        <p:nvSpPr>
          <p:cNvPr id="37" name="Shape 35"/>
          <p:cNvSpPr/>
          <p:nvPr/>
        </p:nvSpPr>
        <p:spPr>
          <a:xfrm>
            <a:off x="9052560" y="4572000"/>
            <a:ext cx="1188720" cy="457200"/>
          </a:xfrm>
          <a:prstGeom prst="line">
            <a:avLst/>
          </a:prstGeom>
          <a:noFill/>
          <a:ln w="6350">
            <a:solidFill>
              <a:srgbClr val="22D3EE">
                <a:alpha val="30000"/>
              </a:srgbClr>
            </a:solidFill>
            <a:prstDash val="solid"/>
          </a:ln>
        </p:spPr>
        <p:txBody>
          <a:bodyPr/>
          <a:lstStyle/>
          <a:p>
            <a:endParaRPr lang="en-IN"/>
          </a:p>
        </p:txBody>
      </p:sp>
      <p:sp>
        <p:nvSpPr>
          <p:cNvPr id="38" name="Shape 36"/>
          <p:cNvSpPr/>
          <p:nvPr/>
        </p:nvSpPr>
        <p:spPr>
          <a:xfrm flipV="1">
            <a:off x="9052560" y="2286000"/>
            <a:ext cx="1188720" cy="3200400"/>
          </a:xfrm>
          <a:prstGeom prst="line">
            <a:avLst/>
          </a:prstGeom>
          <a:noFill/>
          <a:ln w="6350">
            <a:solidFill>
              <a:srgbClr val="22D3EE">
                <a:alpha val="30000"/>
              </a:srgbClr>
            </a:solidFill>
            <a:prstDash val="solid"/>
          </a:ln>
        </p:spPr>
        <p:txBody>
          <a:bodyPr/>
          <a:lstStyle/>
          <a:p>
            <a:endParaRPr lang="en-IN"/>
          </a:p>
        </p:txBody>
      </p:sp>
      <p:sp>
        <p:nvSpPr>
          <p:cNvPr id="39" name="Shape 37"/>
          <p:cNvSpPr/>
          <p:nvPr/>
        </p:nvSpPr>
        <p:spPr>
          <a:xfrm flipV="1">
            <a:off x="9052560" y="3200400"/>
            <a:ext cx="1188720" cy="2286000"/>
          </a:xfrm>
          <a:prstGeom prst="line">
            <a:avLst/>
          </a:prstGeom>
          <a:noFill/>
          <a:ln w="6350">
            <a:solidFill>
              <a:srgbClr val="22D3EE">
                <a:alpha val="30000"/>
              </a:srgbClr>
            </a:solidFill>
            <a:prstDash val="solid"/>
          </a:ln>
        </p:spPr>
        <p:txBody>
          <a:bodyPr/>
          <a:lstStyle/>
          <a:p>
            <a:endParaRPr lang="en-IN"/>
          </a:p>
        </p:txBody>
      </p:sp>
      <p:sp>
        <p:nvSpPr>
          <p:cNvPr id="40" name="Shape 38"/>
          <p:cNvSpPr/>
          <p:nvPr/>
        </p:nvSpPr>
        <p:spPr>
          <a:xfrm flipV="1">
            <a:off x="9052560" y="4114800"/>
            <a:ext cx="1188720" cy="1371600"/>
          </a:xfrm>
          <a:prstGeom prst="line">
            <a:avLst/>
          </a:prstGeom>
          <a:noFill/>
          <a:ln w="6350">
            <a:solidFill>
              <a:srgbClr val="22D3EE">
                <a:alpha val="30000"/>
              </a:srgbClr>
            </a:solidFill>
            <a:prstDash val="solid"/>
          </a:ln>
        </p:spPr>
        <p:txBody>
          <a:bodyPr/>
          <a:lstStyle/>
          <a:p>
            <a:endParaRPr lang="en-IN"/>
          </a:p>
        </p:txBody>
      </p:sp>
      <p:sp>
        <p:nvSpPr>
          <p:cNvPr id="41" name="Shape 39"/>
          <p:cNvSpPr/>
          <p:nvPr/>
        </p:nvSpPr>
        <p:spPr>
          <a:xfrm flipV="1">
            <a:off x="9052560" y="5029200"/>
            <a:ext cx="1188720" cy="457200"/>
          </a:xfrm>
          <a:prstGeom prst="line">
            <a:avLst/>
          </a:prstGeom>
          <a:noFill/>
          <a:ln w="6350">
            <a:solidFill>
              <a:srgbClr val="22D3EE">
                <a:alpha val="30000"/>
              </a:srgbClr>
            </a:solidFill>
            <a:prstDash val="solid"/>
          </a:ln>
        </p:spPr>
        <p:txBody>
          <a:bodyPr/>
          <a:lstStyle/>
          <a:p>
            <a:endParaRPr lang="en-IN"/>
          </a:p>
        </p:txBody>
      </p:sp>
      <p:sp>
        <p:nvSpPr>
          <p:cNvPr id="42" name="Shape 40"/>
          <p:cNvSpPr/>
          <p:nvPr/>
        </p:nvSpPr>
        <p:spPr>
          <a:xfrm>
            <a:off x="10241280" y="2286000"/>
            <a:ext cx="1097280" cy="914400"/>
          </a:xfrm>
          <a:prstGeom prst="line">
            <a:avLst/>
          </a:prstGeom>
          <a:noFill/>
          <a:ln w="6350">
            <a:solidFill>
              <a:srgbClr val="22D3EE">
                <a:alpha val="30000"/>
              </a:srgbClr>
            </a:solidFill>
            <a:prstDash val="solid"/>
          </a:ln>
        </p:spPr>
        <p:txBody>
          <a:bodyPr/>
          <a:lstStyle/>
          <a:p>
            <a:endParaRPr lang="en-IN"/>
          </a:p>
        </p:txBody>
      </p:sp>
      <p:sp>
        <p:nvSpPr>
          <p:cNvPr id="43" name="Shape 41"/>
          <p:cNvSpPr/>
          <p:nvPr/>
        </p:nvSpPr>
        <p:spPr>
          <a:xfrm>
            <a:off x="10241280" y="2286000"/>
            <a:ext cx="1097280" cy="1828800"/>
          </a:xfrm>
          <a:prstGeom prst="line">
            <a:avLst/>
          </a:prstGeom>
          <a:noFill/>
          <a:ln w="6350">
            <a:solidFill>
              <a:srgbClr val="22D3EE">
                <a:alpha val="30000"/>
              </a:srgbClr>
            </a:solidFill>
            <a:prstDash val="solid"/>
          </a:ln>
        </p:spPr>
        <p:txBody>
          <a:bodyPr/>
          <a:lstStyle/>
          <a:p>
            <a:endParaRPr lang="en-IN"/>
          </a:p>
        </p:txBody>
      </p:sp>
      <p:sp>
        <p:nvSpPr>
          <p:cNvPr id="44" name="Shape 42"/>
          <p:cNvSpPr/>
          <p:nvPr/>
        </p:nvSpPr>
        <p:spPr>
          <a:xfrm>
            <a:off x="10241280" y="3200400"/>
            <a:ext cx="1097280" cy="0"/>
          </a:xfrm>
          <a:prstGeom prst="line">
            <a:avLst/>
          </a:prstGeom>
          <a:noFill/>
          <a:ln w="6350">
            <a:solidFill>
              <a:srgbClr val="22D3EE">
                <a:alpha val="30000"/>
              </a:srgbClr>
            </a:solidFill>
            <a:prstDash val="solid"/>
          </a:ln>
        </p:spPr>
        <p:txBody>
          <a:bodyPr/>
          <a:lstStyle/>
          <a:p>
            <a:endParaRPr lang="en-IN"/>
          </a:p>
        </p:txBody>
      </p:sp>
      <p:sp>
        <p:nvSpPr>
          <p:cNvPr id="45" name="Shape 43"/>
          <p:cNvSpPr/>
          <p:nvPr/>
        </p:nvSpPr>
        <p:spPr>
          <a:xfrm>
            <a:off x="10241280" y="3200400"/>
            <a:ext cx="1097280" cy="914400"/>
          </a:xfrm>
          <a:prstGeom prst="line">
            <a:avLst/>
          </a:prstGeom>
          <a:noFill/>
          <a:ln w="6350">
            <a:solidFill>
              <a:srgbClr val="22D3EE">
                <a:alpha val="30000"/>
              </a:srgbClr>
            </a:solidFill>
            <a:prstDash val="solid"/>
          </a:ln>
        </p:spPr>
        <p:txBody>
          <a:bodyPr/>
          <a:lstStyle/>
          <a:p>
            <a:endParaRPr lang="en-IN"/>
          </a:p>
        </p:txBody>
      </p:sp>
      <p:sp>
        <p:nvSpPr>
          <p:cNvPr id="46" name="Shape 44"/>
          <p:cNvSpPr/>
          <p:nvPr/>
        </p:nvSpPr>
        <p:spPr>
          <a:xfrm flipV="1">
            <a:off x="10241280" y="3200400"/>
            <a:ext cx="1097280" cy="914400"/>
          </a:xfrm>
          <a:prstGeom prst="line">
            <a:avLst/>
          </a:prstGeom>
          <a:noFill/>
          <a:ln w="6350">
            <a:solidFill>
              <a:srgbClr val="22D3EE">
                <a:alpha val="30000"/>
              </a:srgbClr>
            </a:solidFill>
            <a:prstDash val="solid"/>
          </a:ln>
        </p:spPr>
        <p:txBody>
          <a:bodyPr/>
          <a:lstStyle/>
          <a:p>
            <a:endParaRPr lang="en-IN"/>
          </a:p>
        </p:txBody>
      </p:sp>
      <p:sp>
        <p:nvSpPr>
          <p:cNvPr id="47" name="Shape 45"/>
          <p:cNvSpPr/>
          <p:nvPr/>
        </p:nvSpPr>
        <p:spPr>
          <a:xfrm>
            <a:off x="10241280" y="4114800"/>
            <a:ext cx="1097280" cy="0"/>
          </a:xfrm>
          <a:prstGeom prst="line">
            <a:avLst/>
          </a:prstGeom>
          <a:noFill/>
          <a:ln w="6350">
            <a:solidFill>
              <a:srgbClr val="22D3EE">
                <a:alpha val="30000"/>
              </a:srgbClr>
            </a:solidFill>
            <a:prstDash val="solid"/>
          </a:ln>
        </p:spPr>
        <p:txBody>
          <a:bodyPr/>
          <a:lstStyle/>
          <a:p>
            <a:endParaRPr lang="en-IN"/>
          </a:p>
        </p:txBody>
      </p:sp>
      <p:sp>
        <p:nvSpPr>
          <p:cNvPr id="48" name="Shape 46"/>
          <p:cNvSpPr/>
          <p:nvPr/>
        </p:nvSpPr>
        <p:spPr>
          <a:xfrm flipV="1">
            <a:off x="10241280" y="3200400"/>
            <a:ext cx="1097280" cy="1828800"/>
          </a:xfrm>
          <a:prstGeom prst="line">
            <a:avLst/>
          </a:prstGeom>
          <a:noFill/>
          <a:ln w="6350">
            <a:solidFill>
              <a:srgbClr val="22D3EE">
                <a:alpha val="30000"/>
              </a:srgbClr>
            </a:solidFill>
            <a:prstDash val="solid"/>
          </a:ln>
        </p:spPr>
        <p:txBody>
          <a:bodyPr/>
          <a:lstStyle/>
          <a:p>
            <a:endParaRPr lang="en-IN"/>
          </a:p>
        </p:txBody>
      </p:sp>
      <p:sp>
        <p:nvSpPr>
          <p:cNvPr id="49" name="Shape 47"/>
          <p:cNvSpPr/>
          <p:nvPr/>
        </p:nvSpPr>
        <p:spPr>
          <a:xfrm flipV="1">
            <a:off x="10241280" y="4114800"/>
            <a:ext cx="1097280" cy="914400"/>
          </a:xfrm>
          <a:prstGeom prst="line">
            <a:avLst/>
          </a:prstGeom>
          <a:noFill/>
          <a:ln w="6350">
            <a:solidFill>
              <a:srgbClr val="22D3EE">
                <a:alpha val="30000"/>
              </a:srgbClr>
            </a:solidFill>
            <a:prstDash val="solid"/>
          </a:ln>
        </p:spPr>
        <p:txBody>
          <a:bodyPr/>
          <a:lstStyle/>
          <a:p>
            <a:endParaRPr lang="en-IN"/>
          </a:p>
        </p:txBody>
      </p:sp>
      <p:sp>
        <p:nvSpPr>
          <p:cNvPr id="50" name="Shape 48"/>
          <p:cNvSpPr/>
          <p:nvPr/>
        </p:nvSpPr>
        <p:spPr>
          <a:xfrm>
            <a:off x="7735824" y="2157984"/>
            <a:ext cx="256032" cy="256032"/>
          </a:xfrm>
          <a:prstGeom prst="ellipse">
            <a:avLst/>
          </a:prstGeom>
          <a:solidFill>
            <a:srgbClr val="22D3EE"/>
          </a:solidFill>
          <a:ln w="12700">
            <a:solidFill>
              <a:srgbClr val="22D3EE"/>
            </a:solidFill>
            <a:prstDash val="solid"/>
          </a:ln>
        </p:spPr>
        <p:txBody>
          <a:bodyPr/>
          <a:lstStyle/>
          <a:p>
            <a:endParaRPr lang="en-IN"/>
          </a:p>
        </p:txBody>
      </p:sp>
      <p:sp>
        <p:nvSpPr>
          <p:cNvPr id="51" name="Shape 49"/>
          <p:cNvSpPr/>
          <p:nvPr/>
        </p:nvSpPr>
        <p:spPr>
          <a:xfrm>
            <a:off x="7735824" y="3072384"/>
            <a:ext cx="256032" cy="256032"/>
          </a:xfrm>
          <a:prstGeom prst="ellipse">
            <a:avLst/>
          </a:prstGeom>
          <a:solidFill>
            <a:srgbClr val="22D3EE"/>
          </a:solidFill>
          <a:ln w="12700">
            <a:solidFill>
              <a:srgbClr val="22D3EE"/>
            </a:solidFill>
            <a:prstDash val="solid"/>
          </a:ln>
        </p:spPr>
        <p:txBody>
          <a:bodyPr/>
          <a:lstStyle/>
          <a:p>
            <a:endParaRPr lang="en-IN"/>
          </a:p>
        </p:txBody>
      </p:sp>
      <p:sp>
        <p:nvSpPr>
          <p:cNvPr id="52" name="Shape 50"/>
          <p:cNvSpPr/>
          <p:nvPr/>
        </p:nvSpPr>
        <p:spPr>
          <a:xfrm>
            <a:off x="7735824" y="3986784"/>
            <a:ext cx="256032" cy="256032"/>
          </a:xfrm>
          <a:prstGeom prst="ellipse">
            <a:avLst/>
          </a:prstGeom>
          <a:solidFill>
            <a:srgbClr val="22D3EE"/>
          </a:solidFill>
          <a:ln w="12700">
            <a:solidFill>
              <a:srgbClr val="22D3EE"/>
            </a:solidFill>
            <a:prstDash val="solid"/>
          </a:ln>
        </p:spPr>
        <p:txBody>
          <a:bodyPr/>
          <a:lstStyle/>
          <a:p>
            <a:endParaRPr lang="en-IN"/>
          </a:p>
        </p:txBody>
      </p:sp>
      <p:sp>
        <p:nvSpPr>
          <p:cNvPr id="53" name="Shape 51"/>
          <p:cNvSpPr/>
          <p:nvPr/>
        </p:nvSpPr>
        <p:spPr>
          <a:xfrm>
            <a:off x="7735824" y="4901184"/>
            <a:ext cx="256032" cy="256032"/>
          </a:xfrm>
          <a:prstGeom prst="ellipse">
            <a:avLst/>
          </a:prstGeom>
          <a:solidFill>
            <a:srgbClr val="22D3EE"/>
          </a:solidFill>
          <a:ln w="12700">
            <a:solidFill>
              <a:srgbClr val="22D3EE"/>
            </a:solidFill>
            <a:prstDash val="solid"/>
          </a:ln>
        </p:spPr>
        <p:txBody>
          <a:bodyPr/>
          <a:lstStyle/>
          <a:p>
            <a:endParaRPr lang="en-IN"/>
          </a:p>
        </p:txBody>
      </p:sp>
      <p:sp>
        <p:nvSpPr>
          <p:cNvPr id="54" name="Shape 52"/>
          <p:cNvSpPr/>
          <p:nvPr/>
        </p:nvSpPr>
        <p:spPr>
          <a:xfrm>
            <a:off x="8924544" y="1700784"/>
            <a:ext cx="256032" cy="256032"/>
          </a:xfrm>
          <a:prstGeom prst="ellipse">
            <a:avLst/>
          </a:prstGeom>
          <a:solidFill>
            <a:srgbClr val="E879F9"/>
          </a:solidFill>
          <a:ln w="12700">
            <a:solidFill>
              <a:srgbClr val="E879F9"/>
            </a:solidFill>
            <a:prstDash val="solid"/>
          </a:ln>
        </p:spPr>
        <p:txBody>
          <a:bodyPr/>
          <a:lstStyle/>
          <a:p>
            <a:endParaRPr lang="en-IN"/>
          </a:p>
        </p:txBody>
      </p:sp>
      <p:sp>
        <p:nvSpPr>
          <p:cNvPr id="55" name="Shape 53"/>
          <p:cNvSpPr/>
          <p:nvPr/>
        </p:nvSpPr>
        <p:spPr>
          <a:xfrm>
            <a:off x="8924544" y="2615184"/>
            <a:ext cx="256032" cy="256032"/>
          </a:xfrm>
          <a:prstGeom prst="ellipse">
            <a:avLst/>
          </a:prstGeom>
          <a:solidFill>
            <a:srgbClr val="E879F9"/>
          </a:solidFill>
          <a:ln w="12700">
            <a:solidFill>
              <a:srgbClr val="E879F9"/>
            </a:solidFill>
            <a:prstDash val="solid"/>
          </a:ln>
        </p:spPr>
        <p:txBody>
          <a:bodyPr/>
          <a:lstStyle/>
          <a:p>
            <a:endParaRPr lang="en-IN"/>
          </a:p>
        </p:txBody>
      </p:sp>
      <p:sp>
        <p:nvSpPr>
          <p:cNvPr id="56" name="Shape 54"/>
          <p:cNvSpPr/>
          <p:nvPr/>
        </p:nvSpPr>
        <p:spPr>
          <a:xfrm>
            <a:off x="8924544" y="3529584"/>
            <a:ext cx="256032" cy="256032"/>
          </a:xfrm>
          <a:prstGeom prst="ellipse">
            <a:avLst/>
          </a:prstGeom>
          <a:solidFill>
            <a:srgbClr val="E879F9"/>
          </a:solidFill>
          <a:ln w="12700">
            <a:solidFill>
              <a:srgbClr val="E879F9"/>
            </a:solidFill>
            <a:prstDash val="solid"/>
          </a:ln>
        </p:spPr>
        <p:txBody>
          <a:bodyPr/>
          <a:lstStyle/>
          <a:p>
            <a:endParaRPr lang="en-IN"/>
          </a:p>
        </p:txBody>
      </p:sp>
      <p:sp>
        <p:nvSpPr>
          <p:cNvPr id="57" name="Shape 55"/>
          <p:cNvSpPr/>
          <p:nvPr/>
        </p:nvSpPr>
        <p:spPr>
          <a:xfrm>
            <a:off x="8924544" y="4443984"/>
            <a:ext cx="256032" cy="256032"/>
          </a:xfrm>
          <a:prstGeom prst="ellipse">
            <a:avLst/>
          </a:prstGeom>
          <a:solidFill>
            <a:srgbClr val="E879F9"/>
          </a:solidFill>
          <a:ln w="12700">
            <a:solidFill>
              <a:srgbClr val="E879F9"/>
            </a:solidFill>
            <a:prstDash val="solid"/>
          </a:ln>
        </p:spPr>
        <p:txBody>
          <a:bodyPr/>
          <a:lstStyle/>
          <a:p>
            <a:endParaRPr lang="en-IN"/>
          </a:p>
        </p:txBody>
      </p:sp>
      <p:sp>
        <p:nvSpPr>
          <p:cNvPr id="58" name="Shape 56"/>
          <p:cNvSpPr/>
          <p:nvPr/>
        </p:nvSpPr>
        <p:spPr>
          <a:xfrm>
            <a:off x="8924544" y="5358384"/>
            <a:ext cx="256032" cy="256032"/>
          </a:xfrm>
          <a:prstGeom prst="ellipse">
            <a:avLst/>
          </a:prstGeom>
          <a:solidFill>
            <a:srgbClr val="E879F9"/>
          </a:solidFill>
          <a:ln w="12700">
            <a:solidFill>
              <a:srgbClr val="E879F9"/>
            </a:solidFill>
            <a:prstDash val="solid"/>
          </a:ln>
        </p:spPr>
        <p:txBody>
          <a:bodyPr/>
          <a:lstStyle/>
          <a:p>
            <a:endParaRPr lang="en-IN"/>
          </a:p>
        </p:txBody>
      </p:sp>
      <p:sp>
        <p:nvSpPr>
          <p:cNvPr id="59" name="Shape 57"/>
          <p:cNvSpPr/>
          <p:nvPr/>
        </p:nvSpPr>
        <p:spPr>
          <a:xfrm>
            <a:off x="10113264" y="2157984"/>
            <a:ext cx="256032" cy="256032"/>
          </a:xfrm>
          <a:prstGeom prst="ellipse">
            <a:avLst/>
          </a:prstGeom>
          <a:solidFill>
            <a:srgbClr val="22D3EE"/>
          </a:solidFill>
          <a:ln w="12700">
            <a:solidFill>
              <a:srgbClr val="22D3EE"/>
            </a:solidFill>
            <a:prstDash val="solid"/>
          </a:ln>
        </p:spPr>
        <p:txBody>
          <a:bodyPr/>
          <a:lstStyle/>
          <a:p>
            <a:endParaRPr lang="en-IN"/>
          </a:p>
        </p:txBody>
      </p:sp>
      <p:sp>
        <p:nvSpPr>
          <p:cNvPr id="60" name="Shape 58"/>
          <p:cNvSpPr/>
          <p:nvPr/>
        </p:nvSpPr>
        <p:spPr>
          <a:xfrm>
            <a:off x="10113264" y="3072384"/>
            <a:ext cx="256032" cy="256032"/>
          </a:xfrm>
          <a:prstGeom prst="ellipse">
            <a:avLst/>
          </a:prstGeom>
          <a:solidFill>
            <a:srgbClr val="22D3EE"/>
          </a:solidFill>
          <a:ln w="12700">
            <a:solidFill>
              <a:srgbClr val="22D3EE"/>
            </a:solidFill>
            <a:prstDash val="solid"/>
          </a:ln>
        </p:spPr>
        <p:txBody>
          <a:bodyPr/>
          <a:lstStyle/>
          <a:p>
            <a:endParaRPr lang="en-IN"/>
          </a:p>
        </p:txBody>
      </p:sp>
      <p:sp>
        <p:nvSpPr>
          <p:cNvPr id="61" name="Shape 59"/>
          <p:cNvSpPr/>
          <p:nvPr/>
        </p:nvSpPr>
        <p:spPr>
          <a:xfrm>
            <a:off x="10113264" y="3986784"/>
            <a:ext cx="256032" cy="256032"/>
          </a:xfrm>
          <a:prstGeom prst="ellipse">
            <a:avLst/>
          </a:prstGeom>
          <a:solidFill>
            <a:srgbClr val="22D3EE"/>
          </a:solidFill>
          <a:ln w="12700">
            <a:solidFill>
              <a:srgbClr val="22D3EE"/>
            </a:solidFill>
            <a:prstDash val="solid"/>
          </a:ln>
        </p:spPr>
        <p:txBody>
          <a:bodyPr/>
          <a:lstStyle/>
          <a:p>
            <a:endParaRPr lang="en-IN"/>
          </a:p>
        </p:txBody>
      </p:sp>
      <p:sp>
        <p:nvSpPr>
          <p:cNvPr id="62" name="Shape 60"/>
          <p:cNvSpPr/>
          <p:nvPr/>
        </p:nvSpPr>
        <p:spPr>
          <a:xfrm>
            <a:off x="10113264" y="4901184"/>
            <a:ext cx="256032" cy="256032"/>
          </a:xfrm>
          <a:prstGeom prst="ellipse">
            <a:avLst/>
          </a:prstGeom>
          <a:solidFill>
            <a:srgbClr val="22D3EE"/>
          </a:solidFill>
          <a:ln w="12700">
            <a:solidFill>
              <a:srgbClr val="22D3EE"/>
            </a:solidFill>
            <a:prstDash val="solid"/>
          </a:ln>
        </p:spPr>
        <p:txBody>
          <a:bodyPr/>
          <a:lstStyle/>
          <a:p>
            <a:endParaRPr lang="en-IN"/>
          </a:p>
        </p:txBody>
      </p:sp>
      <p:sp>
        <p:nvSpPr>
          <p:cNvPr id="63" name="Shape 61"/>
          <p:cNvSpPr/>
          <p:nvPr/>
        </p:nvSpPr>
        <p:spPr>
          <a:xfrm>
            <a:off x="11210544" y="3072384"/>
            <a:ext cx="256032" cy="256032"/>
          </a:xfrm>
          <a:prstGeom prst="ellipse">
            <a:avLst/>
          </a:prstGeom>
          <a:solidFill>
            <a:srgbClr val="E879F9"/>
          </a:solidFill>
          <a:ln w="12700">
            <a:solidFill>
              <a:srgbClr val="E879F9"/>
            </a:solidFill>
            <a:prstDash val="solid"/>
          </a:ln>
        </p:spPr>
        <p:txBody>
          <a:bodyPr/>
          <a:lstStyle/>
          <a:p>
            <a:endParaRPr lang="en-IN"/>
          </a:p>
        </p:txBody>
      </p:sp>
      <p:sp>
        <p:nvSpPr>
          <p:cNvPr id="64" name="Shape 62"/>
          <p:cNvSpPr/>
          <p:nvPr/>
        </p:nvSpPr>
        <p:spPr>
          <a:xfrm>
            <a:off x="11210544" y="3986784"/>
            <a:ext cx="256032" cy="256032"/>
          </a:xfrm>
          <a:prstGeom prst="ellipse">
            <a:avLst/>
          </a:prstGeom>
          <a:solidFill>
            <a:srgbClr val="E879F9"/>
          </a:solidFill>
          <a:ln w="12700">
            <a:solidFill>
              <a:srgbClr val="E879F9"/>
            </a:solidFill>
            <a:prstDash val="solid"/>
          </a:ln>
        </p:spPr>
        <p:txBody>
          <a:bodyPr/>
          <a:lstStyle/>
          <a:p>
            <a:endParaRPr lang="en-IN"/>
          </a:p>
        </p:txBody>
      </p:sp>
      <p:sp>
        <p:nvSpPr>
          <p:cNvPr id="65" name="Shape 63"/>
          <p:cNvSpPr/>
          <p:nvPr/>
        </p:nvSpPr>
        <p:spPr>
          <a:xfrm>
            <a:off x="548640" y="2743200"/>
            <a:ext cx="73152" cy="1645920"/>
          </a:xfrm>
          <a:prstGeom prst="rect">
            <a:avLst/>
          </a:prstGeom>
          <a:solidFill>
            <a:srgbClr val="22D3EE"/>
          </a:solidFill>
          <a:ln w="12700">
            <a:solidFill>
              <a:srgbClr val="22D3EE"/>
            </a:solidFill>
            <a:prstDash val="solid"/>
          </a:ln>
        </p:spPr>
        <p:txBody>
          <a:bodyPr/>
          <a:lstStyle/>
          <a:p>
            <a:endParaRPr lang="en-IN"/>
          </a:p>
        </p:txBody>
      </p:sp>
      <p:sp>
        <p:nvSpPr>
          <p:cNvPr id="66" name="Text 64"/>
          <p:cNvSpPr/>
          <p:nvPr/>
        </p:nvSpPr>
        <p:spPr>
          <a:xfrm>
            <a:off x="822960" y="2651760"/>
            <a:ext cx="7315200" cy="365760"/>
          </a:xfrm>
          <a:prstGeom prst="rect">
            <a:avLst/>
          </a:prstGeom>
          <a:noFill/>
          <a:ln/>
        </p:spPr>
        <p:txBody>
          <a:bodyPr wrap="square" lIns="0" tIns="0" rIns="0" bIns="0" rtlCol="0" anchor="ctr"/>
          <a:lstStyle/>
          <a:p>
            <a:pPr marL="0" indent="0">
              <a:buNone/>
            </a:pPr>
            <a:r>
              <a:rPr lang="en-US" sz="1200" b="1" kern="0" spc="600" dirty="0">
                <a:solidFill>
                  <a:srgbClr val="22D3EE"/>
                </a:solidFill>
                <a:latin typeface="Calibri" pitchFamily="34" charset="0"/>
                <a:ea typeface="Calibri" pitchFamily="34" charset="-122"/>
                <a:cs typeface="Calibri" pitchFamily="34" charset="-120"/>
              </a:rPr>
              <a:t>INTERN ONBOARDING  ·  2026</a:t>
            </a:r>
            <a:endParaRPr lang="en-US" sz="1200" dirty="0"/>
          </a:p>
        </p:txBody>
      </p:sp>
      <p:sp>
        <p:nvSpPr>
          <p:cNvPr id="67" name="Text 65"/>
          <p:cNvSpPr/>
          <p:nvPr/>
        </p:nvSpPr>
        <p:spPr>
          <a:xfrm>
            <a:off x="822960" y="3017520"/>
            <a:ext cx="8229600" cy="1463040"/>
          </a:xfrm>
          <a:prstGeom prst="rect">
            <a:avLst/>
          </a:prstGeom>
          <a:noFill/>
          <a:ln/>
        </p:spPr>
        <p:txBody>
          <a:bodyPr wrap="square" lIns="0" tIns="0" rIns="0" bIns="0" rtlCol="0" anchor="ctr"/>
          <a:lstStyle/>
          <a:p>
            <a:pPr marL="0" indent="0">
              <a:buNone/>
            </a:pPr>
            <a:r>
              <a:rPr lang="en-US" sz="4400" b="1" dirty="0">
                <a:solidFill>
                  <a:srgbClr val="F8FAFC"/>
                </a:solidFill>
                <a:latin typeface="Calibri" pitchFamily="34" charset="0"/>
                <a:ea typeface="Calibri" pitchFamily="34" charset="-122"/>
                <a:cs typeface="Calibri" pitchFamily="34" charset="-120"/>
              </a:rPr>
              <a:t>Deep Learning,</a:t>
            </a:r>
            <a:endParaRPr lang="en-US" sz="4400" dirty="0"/>
          </a:p>
          <a:p>
            <a:pPr marL="0" indent="0">
              <a:buNone/>
            </a:pPr>
            <a:r>
              <a:rPr lang="en-US" sz="4400" b="1" dirty="0">
                <a:solidFill>
                  <a:srgbClr val="F8FAFC"/>
                </a:solidFill>
                <a:latin typeface="Calibri" pitchFamily="34" charset="0"/>
                <a:ea typeface="Calibri" pitchFamily="34" charset="-122"/>
                <a:cs typeface="Calibri" pitchFamily="34" charset="-120"/>
              </a:rPr>
              <a:t>Neural Networks &amp; PyTorch</a:t>
            </a:r>
            <a:endParaRPr lang="en-US" sz="4400" dirty="0"/>
          </a:p>
        </p:txBody>
      </p:sp>
      <p:sp>
        <p:nvSpPr>
          <p:cNvPr id="68" name="Text 66"/>
          <p:cNvSpPr/>
          <p:nvPr/>
        </p:nvSpPr>
        <p:spPr>
          <a:xfrm>
            <a:off x="822960" y="4572000"/>
            <a:ext cx="7315200" cy="82296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A friendly first look at the field, the math intuition, and a hands-on PyTorch project to get you shipping.</a:t>
            </a:r>
            <a:endParaRPr lang="en-US" sz="1600" dirty="0"/>
          </a:p>
        </p:txBody>
      </p:sp>
      <p:sp>
        <p:nvSpPr>
          <p:cNvPr id="69" name="Text 67"/>
          <p:cNvSpPr/>
          <p:nvPr/>
        </p:nvSpPr>
        <p:spPr>
          <a:xfrm>
            <a:off x="822960" y="6126480"/>
            <a:ext cx="7315200" cy="274320"/>
          </a:xfrm>
          <a:prstGeom prst="rect">
            <a:avLst/>
          </a:prstGeom>
          <a:noFill/>
          <a:ln/>
        </p:spPr>
        <p:txBody>
          <a:bodyPr wrap="square" lIns="0" tIns="0" rIns="0" bIns="0" rtlCol="0" anchor="ctr"/>
          <a:lstStyle/>
          <a:p>
            <a:pPr marL="0" indent="0">
              <a:buNone/>
            </a:pPr>
            <a:r>
              <a:rPr lang="en-US" sz="1100" b="1" dirty="0">
                <a:solidFill>
                  <a:srgbClr val="E879F9"/>
                </a:solidFill>
                <a:latin typeface="Calibri" pitchFamily="34" charset="0"/>
                <a:ea typeface="Calibri" pitchFamily="34" charset="-122"/>
                <a:cs typeface="Calibri" pitchFamily="34" charset="-120"/>
              </a:rPr>
              <a:t>Prepared for new interns  ·  Engineering Team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11247120" y="137160"/>
            <a:ext cx="365760" cy="182880"/>
          </a:xfrm>
          <a:prstGeom prst="line">
            <a:avLst/>
          </a:prstGeom>
          <a:noFill/>
          <a:ln w="9525">
            <a:solidFill>
              <a:srgbClr val="22D3EE">
                <a:alpha val="50000"/>
              </a:srgbClr>
            </a:solidFill>
            <a:prstDash val="solid"/>
          </a:ln>
        </p:spPr>
        <p:txBody>
          <a:bodyPr/>
          <a:lstStyle/>
          <a:p>
            <a:endParaRPr lang="en-IN"/>
          </a:p>
        </p:txBody>
      </p:sp>
      <p:sp>
        <p:nvSpPr>
          <p:cNvPr id="3" name="Shape 1"/>
          <p:cNvSpPr/>
          <p:nvPr/>
        </p:nvSpPr>
        <p:spPr>
          <a:xfrm>
            <a:off x="11247120" y="137160"/>
            <a:ext cx="228600" cy="411480"/>
          </a:xfrm>
          <a:prstGeom prst="line">
            <a:avLst/>
          </a:prstGeom>
          <a:noFill/>
          <a:ln w="9525">
            <a:solidFill>
              <a:srgbClr val="22D3EE">
                <a:alpha val="50000"/>
              </a:srgbClr>
            </a:solidFill>
            <a:prstDash val="solid"/>
          </a:ln>
        </p:spPr>
        <p:txBody>
          <a:bodyPr/>
          <a:lstStyle/>
          <a:p>
            <a:endParaRPr lang="en-IN"/>
          </a:p>
        </p:txBody>
      </p:sp>
      <p:sp>
        <p:nvSpPr>
          <p:cNvPr id="4" name="Shape 2"/>
          <p:cNvSpPr/>
          <p:nvPr/>
        </p:nvSpPr>
        <p:spPr>
          <a:xfrm>
            <a:off x="11612880" y="320040"/>
            <a:ext cx="228600" cy="182880"/>
          </a:xfrm>
          <a:prstGeom prst="line">
            <a:avLst/>
          </a:prstGeom>
          <a:noFill/>
          <a:ln w="9525">
            <a:solidFill>
              <a:srgbClr val="22D3EE">
                <a:alpha val="50000"/>
              </a:srgbClr>
            </a:solidFill>
            <a:prstDash val="solid"/>
          </a:ln>
        </p:spPr>
        <p:txBody>
          <a:bodyPr/>
          <a:lstStyle/>
          <a:p>
            <a:endParaRPr lang="en-IN"/>
          </a:p>
        </p:txBody>
      </p:sp>
      <p:sp>
        <p:nvSpPr>
          <p:cNvPr id="5" name="Shape 3"/>
          <p:cNvSpPr/>
          <p:nvPr/>
        </p:nvSpPr>
        <p:spPr>
          <a:xfrm flipV="1">
            <a:off x="11475720" y="502920"/>
            <a:ext cx="365760" cy="45720"/>
          </a:xfrm>
          <a:prstGeom prst="line">
            <a:avLst/>
          </a:prstGeom>
          <a:noFill/>
          <a:ln w="9525">
            <a:solidFill>
              <a:srgbClr val="22D3EE">
                <a:alpha val="50000"/>
              </a:srgbClr>
            </a:solidFill>
            <a:prstDash val="solid"/>
          </a:ln>
        </p:spPr>
        <p:txBody>
          <a:bodyPr/>
          <a:lstStyle/>
          <a:p>
            <a:endParaRPr lang="en-IN"/>
          </a:p>
        </p:txBody>
      </p:sp>
      <p:sp>
        <p:nvSpPr>
          <p:cNvPr id="6" name="Shape 4"/>
          <p:cNvSpPr/>
          <p:nvPr/>
        </p:nvSpPr>
        <p:spPr>
          <a:xfrm>
            <a:off x="11183112" y="73152"/>
            <a:ext cx="128016" cy="128016"/>
          </a:xfrm>
          <a:prstGeom prst="ellipse">
            <a:avLst/>
          </a:prstGeom>
          <a:solidFill>
            <a:srgbClr val="22D3EE"/>
          </a:solidFill>
          <a:ln w="12700">
            <a:solidFill>
              <a:srgbClr val="22D3EE"/>
            </a:solidFill>
            <a:prstDash val="solid"/>
          </a:ln>
        </p:spPr>
        <p:txBody>
          <a:bodyPr/>
          <a:lstStyle/>
          <a:p>
            <a:endParaRPr lang="en-IN"/>
          </a:p>
        </p:txBody>
      </p:sp>
      <p:sp>
        <p:nvSpPr>
          <p:cNvPr id="7" name="Shape 5"/>
          <p:cNvSpPr/>
          <p:nvPr/>
        </p:nvSpPr>
        <p:spPr>
          <a:xfrm>
            <a:off x="11548872" y="256032"/>
            <a:ext cx="128016" cy="128016"/>
          </a:xfrm>
          <a:prstGeom prst="ellipse">
            <a:avLst/>
          </a:prstGeom>
          <a:solidFill>
            <a:srgbClr val="E879F9"/>
          </a:solidFill>
          <a:ln w="12700">
            <a:solidFill>
              <a:srgbClr val="E879F9"/>
            </a:solidFill>
            <a:prstDash val="solid"/>
          </a:ln>
        </p:spPr>
        <p:txBody>
          <a:bodyPr/>
          <a:lstStyle/>
          <a:p>
            <a:endParaRPr lang="en-IN"/>
          </a:p>
        </p:txBody>
      </p:sp>
      <p:sp>
        <p:nvSpPr>
          <p:cNvPr id="8" name="Shape 6"/>
          <p:cNvSpPr/>
          <p:nvPr/>
        </p:nvSpPr>
        <p:spPr>
          <a:xfrm>
            <a:off x="11411712" y="484632"/>
            <a:ext cx="128016" cy="128016"/>
          </a:xfrm>
          <a:prstGeom prst="ellipse">
            <a:avLst/>
          </a:prstGeom>
          <a:solidFill>
            <a:srgbClr val="22D3EE"/>
          </a:solidFill>
          <a:ln w="12700">
            <a:solidFill>
              <a:srgbClr val="22D3EE"/>
            </a:solidFill>
            <a:prstDash val="solid"/>
          </a:ln>
        </p:spPr>
        <p:txBody>
          <a:bodyPr/>
          <a:lstStyle/>
          <a:p>
            <a:endParaRPr lang="en-IN"/>
          </a:p>
        </p:txBody>
      </p:sp>
      <p:sp>
        <p:nvSpPr>
          <p:cNvPr id="9" name="Shape 7"/>
          <p:cNvSpPr/>
          <p:nvPr/>
        </p:nvSpPr>
        <p:spPr>
          <a:xfrm>
            <a:off x="11777472" y="438912"/>
            <a:ext cx="128016" cy="128016"/>
          </a:xfrm>
          <a:prstGeom prst="ellipse">
            <a:avLst/>
          </a:prstGeom>
          <a:solidFill>
            <a:srgbClr val="E879F9"/>
          </a:solidFill>
          <a:ln w="12700">
            <a:solidFill>
              <a:srgbClr val="E879F9"/>
            </a:solidFill>
            <a:prstDash val="solid"/>
          </a:ln>
        </p:spPr>
        <p:txBody>
          <a:bodyPr/>
          <a:lstStyle/>
          <a:p>
            <a:endParaRPr lang="en-IN"/>
          </a:p>
        </p:txBody>
      </p:sp>
      <p:sp>
        <p:nvSpPr>
          <p:cNvPr id="10" name="Shape 8"/>
          <p:cNvSpPr/>
          <p:nvPr/>
        </p:nvSpPr>
        <p:spPr>
          <a:xfrm>
            <a:off x="0" y="6693408"/>
            <a:ext cx="12161520" cy="36576"/>
          </a:xfrm>
          <a:prstGeom prst="rect">
            <a:avLst/>
          </a:prstGeom>
          <a:solidFill>
            <a:srgbClr val="22D3EE"/>
          </a:solidFill>
          <a:ln w="12700">
            <a:solidFill>
              <a:srgbClr val="22D3EE"/>
            </a:solidFill>
            <a:prstDash val="solid"/>
          </a:ln>
        </p:spPr>
        <p:txBody>
          <a:bodyPr/>
          <a:lstStyle/>
          <a:p>
            <a:endParaRPr lang="en-IN"/>
          </a:p>
        </p:txBody>
      </p:sp>
      <p:sp>
        <p:nvSpPr>
          <p:cNvPr id="11" name="Text 9"/>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Deep Learning Onboarding  ·  Intern Training</a:t>
            </a:r>
            <a:endParaRPr lang="en-US" sz="1000" dirty="0"/>
          </a:p>
        </p:txBody>
      </p:sp>
      <p:sp>
        <p:nvSpPr>
          <p:cNvPr id="12" name="Text 10"/>
          <p:cNvSpPr/>
          <p:nvPr/>
        </p:nvSpPr>
        <p:spPr>
          <a:xfrm>
            <a:off x="10698480" y="6446520"/>
            <a:ext cx="914400" cy="27432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 / 13</a:t>
            </a:r>
            <a:endParaRPr lang="en-US" sz="1000" dirty="0"/>
          </a:p>
        </p:txBody>
      </p:sp>
      <p:sp>
        <p:nvSpPr>
          <p:cNvPr id="13" name="Text 11"/>
          <p:cNvSpPr/>
          <p:nvPr/>
        </p:nvSpPr>
        <p:spPr>
          <a:xfrm>
            <a:off x="548640" y="411480"/>
            <a:ext cx="9144000" cy="320040"/>
          </a:xfrm>
          <a:prstGeom prst="rect">
            <a:avLst/>
          </a:prstGeom>
          <a:noFill/>
          <a:ln/>
        </p:spPr>
        <p:txBody>
          <a:bodyPr wrap="square" lIns="0" tIns="0" rIns="0" bIns="0" rtlCol="0" anchor="ctr"/>
          <a:lstStyle/>
          <a:p>
            <a:pPr marL="0" indent="0">
              <a:buNone/>
            </a:pPr>
            <a:r>
              <a:rPr lang="en-US" sz="1100" b="1" kern="0" spc="400" dirty="0">
                <a:solidFill>
                  <a:srgbClr val="22D3EE"/>
                </a:solidFill>
                <a:latin typeface="Calibri" pitchFamily="34" charset="0"/>
                <a:ea typeface="Calibri" pitchFamily="34" charset="-122"/>
                <a:cs typeface="Calibri" pitchFamily="34" charset="-120"/>
              </a:rPr>
              <a:t>WHAT WE'LL COVER TODAY</a:t>
            </a:r>
            <a:endParaRPr lang="en-US" sz="1100" dirty="0"/>
          </a:p>
        </p:txBody>
      </p:sp>
      <p:sp>
        <p:nvSpPr>
          <p:cNvPr id="14" name="Text 12"/>
          <p:cNvSpPr/>
          <p:nvPr/>
        </p:nvSpPr>
        <p:spPr>
          <a:xfrm>
            <a:off x="548640" y="713232"/>
            <a:ext cx="10515600" cy="77724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Agenda</a:t>
            </a:r>
            <a:endParaRPr lang="en-US" sz="3200" dirty="0"/>
          </a:p>
        </p:txBody>
      </p:sp>
      <p:sp>
        <p:nvSpPr>
          <p:cNvPr id="15" name="Shape 13"/>
          <p:cNvSpPr/>
          <p:nvPr/>
        </p:nvSpPr>
        <p:spPr>
          <a:xfrm>
            <a:off x="548640" y="1481328"/>
            <a:ext cx="548640" cy="54864"/>
          </a:xfrm>
          <a:prstGeom prst="rect">
            <a:avLst/>
          </a:prstGeom>
          <a:solidFill>
            <a:srgbClr val="E879F9"/>
          </a:solidFill>
          <a:ln w="12700">
            <a:solidFill>
              <a:srgbClr val="E879F9"/>
            </a:solidFill>
            <a:prstDash val="solid"/>
          </a:ln>
        </p:spPr>
        <p:txBody>
          <a:bodyPr/>
          <a:lstStyle/>
          <a:p>
            <a:endParaRPr lang="en-IN"/>
          </a:p>
        </p:txBody>
      </p:sp>
      <p:sp>
        <p:nvSpPr>
          <p:cNvPr id="16" name="Shape 14"/>
          <p:cNvSpPr/>
          <p:nvPr/>
        </p:nvSpPr>
        <p:spPr>
          <a:xfrm>
            <a:off x="548640" y="1874520"/>
            <a:ext cx="5440680" cy="132588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17" name="Text 15"/>
          <p:cNvSpPr/>
          <p:nvPr/>
        </p:nvSpPr>
        <p:spPr>
          <a:xfrm>
            <a:off x="777240" y="2039112"/>
            <a:ext cx="914400" cy="548640"/>
          </a:xfrm>
          <a:prstGeom prst="rect">
            <a:avLst/>
          </a:prstGeom>
          <a:noFill/>
          <a:ln/>
        </p:spPr>
        <p:txBody>
          <a:bodyPr wrap="square" lIns="0" tIns="0" rIns="0" bIns="0" rtlCol="0" anchor="ctr"/>
          <a:lstStyle/>
          <a:p>
            <a:pPr marL="0" indent="0">
              <a:buNone/>
            </a:pPr>
            <a:r>
              <a:rPr lang="en-US" sz="2800" b="1" dirty="0">
                <a:solidFill>
                  <a:srgbClr val="22D3EE"/>
                </a:solidFill>
                <a:latin typeface="Calibri" pitchFamily="34" charset="0"/>
                <a:ea typeface="Calibri" pitchFamily="34" charset="-122"/>
                <a:cs typeface="Calibri" pitchFamily="34" charset="-120"/>
              </a:rPr>
              <a:t>01</a:t>
            </a:r>
            <a:endParaRPr lang="en-US" sz="2800" dirty="0"/>
          </a:p>
        </p:txBody>
      </p:sp>
      <p:sp>
        <p:nvSpPr>
          <p:cNvPr id="18" name="Text 16"/>
          <p:cNvSpPr/>
          <p:nvPr/>
        </p:nvSpPr>
        <p:spPr>
          <a:xfrm>
            <a:off x="1737360" y="2057400"/>
            <a:ext cx="4069080" cy="411480"/>
          </a:xfrm>
          <a:prstGeom prst="rect">
            <a:avLst/>
          </a:prstGeom>
          <a:noFill/>
          <a:ln/>
        </p:spPr>
        <p:txBody>
          <a:bodyPr wrap="square" lIns="0" tIns="0" rIns="0" bIns="0" rtlCol="0" anchor="ctr"/>
          <a:lstStyle/>
          <a:p>
            <a:pPr marL="0" indent="0">
              <a:buNone/>
            </a:pPr>
            <a:r>
              <a:rPr lang="en-US" sz="1700" b="1" dirty="0">
                <a:solidFill>
                  <a:srgbClr val="F8FAFC"/>
                </a:solidFill>
                <a:latin typeface="Calibri" pitchFamily="34" charset="0"/>
                <a:ea typeface="Calibri" pitchFamily="34" charset="-122"/>
                <a:cs typeface="Calibri" pitchFamily="34" charset="-120"/>
              </a:rPr>
              <a:t>What is Deep Learning?</a:t>
            </a:r>
            <a:endParaRPr lang="en-US" sz="1700" dirty="0"/>
          </a:p>
        </p:txBody>
      </p:sp>
      <p:sp>
        <p:nvSpPr>
          <p:cNvPr id="19" name="Text 17"/>
          <p:cNvSpPr/>
          <p:nvPr/>
        </p:nvSpPr>
        <p:spPr>
          <a:xfrm>
            <a:off x="1737360" y="2514600"/>
            <a:ext cx="4069080" cy="64008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Where it fits in AI and ML, and why it matters.</a:t>
            </a:r>
            <a:endParaRPr lang="en-US" sz="1200" dirty="0"/>
          </a:p>
        </p:txBody>
      </p:sp>
      <p:sp>
        <p:nvSpPr>
          <p:cNvPr id="20" name="Shape 18"/>
          <p:cNvSpPr/>
          <p:nvPr/>
        </p:nvSpPr>
        <p:spPr>
          <a:xfrm>
            <a:off x="6263640" y="1874520"/>
            <a:ext cx="5440680" cy="132588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21" name="Text 19"/>
          <p:cNvSpPr/>
          <p:nvPr/>
        </p:nvSpPr>
        <p:spPr>
          <a:xfrm>
            <a:off x="6492240" y="2039112"/>
            <a:ext cx="914400" cy="548640"/>
          </a:xfrm>
          <a:prstGeom prst="rect">
            <a:avLst/>
          </a:prstGeom>
          <a:noFill/>
          <a:ln/>
        </p:spPr>
        <p:txBody>
          <a:bodyPr wrap="square" lIns="0" tIns="0" rIns="0" bIns="0" rtlCol="0" anchor="ctr"/>
          <a:lstStyle/>
          <a:p>
            <a:pPr marL="0" indent="0">
              <a:buNone/>
            </a:pPr>
            <a:r>
              <a:rPr lang="en-US" sz="2800" b="1" dirty="0">
                <a:solidFill>
                  <a:srgbClr val="E879F9"/>
                </a:solidFill>
                <a:latin typeface="Calibri" pitchFamily="34" charset="0"/>
                <a:ea typeface="Calibri" pitchFamily="34" charset="-122"/>
                <a:cs typeface="Calibri" pitchFamily="34" charset="-120"/>
              </a:rPr>
              <a:t>02</a:t>
            </a:r>
            <a:endParaRPr lang="en-US" sz="2800" dirty="0"/>
          </a:p>
        </p:txBody>
      </p:sp>
      <p:sp>
        <p:nvSpPr>
          <p:cNvPr id="22" name="Text 20"/>
          <p:cNvSpPr/>
          <p:nvPr/>
        </p:nvSpPr>
        <p:spPr>
          <a:xfrm>
            <a:off x="7452360" y="2057400"/>
            <a:ext cx="4069080" cy="411480"/>
          </a:xfrm>
          <a:prstGeom prst="rect">
            <a:avLst/>
          </a:prstGeom>
          <a:noFill/>
          <a:ln/>
        </p:spPr>
        <p:txBody>
          <a:bodyPr wrap="square" lIns="0" tIns="0" rIns="0" bIns="0" rtlCol="0" anchor="ctr"/>
          <a:lstStyle/>
          <a:p>
            <a:pPr marL="0" indent="0">
              <a:buNone/>
            </a:pPr>
            <a:r>
              <a:rPr lang="en-US" sz="1700" b="1" dirty="0">
                <a:solidFill>
                  <a:srgbClr val="F8FAFC"/>
                </a:solidFill>
                <a:latin typeface="Calibri" pitchFamily="34" charset="0"/>
                <a:ea typeface="Calibri" pitchFamily="34" charset="-122"/>
                <a:cs typeface="Calibri" pitchFamily="34" charset="-120"/>
              </a:rPr>
              <a:t>Neural Networks 101</a:t>
            </a:r>
            <a:endParaRPr lang="en-US" sz="1700" dirty="0"/>
          </a:p>
        </p:txBody>
      </p:sp>
      <p:sp>
        <p:nvSpPr>
          <p:cNvPr id="23" name="Text 21"/>
          <p:cNvSpPr/>
          <p:nvPr/>
        </p:nvSpPr>
        <p:spPr>
          <a:xfrm>
            <a:off x="7452360" y="2514600"/>
            <a:ext cx="4069080" cy="64008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Neurons, layers, activations, and how learning happens.</a:t>
            </a:r>
            <a:endParaRPr lang="en-US" sz="1200" dirty="0"/>
          </a:p>
        </p:txBody>
      </p:sp>
      <p:sp>
        <p:nvSpPr>
          <p:cNvPr id="24" name="Shape 22"/>
          <p:cNvSpPr/>
          <p:nvPr/>
        </p:nvSpPr>
        <p:spPr>
          <a:xfrm>
            <a:off x="548640" y="3474720"/>
            <a:ext cx="5440680" cy="132588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25" name="Text 23"/>
          <p:cNvSpPr/>
          <p:nvPr/>
        </p:nvSpPr>
        <p:spPr>
          <a:xfrm>
            <a:off x="777240" y="3639312"/>
            <a:ext cx="914400" cy="548640"/>
          </a:xfrm>
          <a:prstGeom prst="rect">
            <a:avLst/>
          </a:prstGeom>
          <a:noFill/>
          <a:ln/>
        </p:spPr>
        <p:txBody>
          <a:bodyPr wrap="square" lIns="0" tIns="0" rIns="0" bIns="0" rtlCol="0" anchor="ctr"/>
          <a:lstStyle/>
          <a:p>
            <a:pPr marL="0" indent="0">
              <a:buNone/>
            </a:pPr>
            <a:r>
              <a:rPr lang="en-US" sz="2800" b="1" dirty="0">
                <a:solidFill>
                  <a:srgbClr val="22D3EE"/>
                </a:solidFill>
                <a:latin typeface="Calibri" pitchFamily="34" charset="0"/>
                <a:ea typeface="Calibri" pitchFamily="34" charset="-122"/>
                <a:cs typeface="Calibri" pitchFamily="34" charset="-120"/>
              </a:rPr>
              <a:t>03</a:t>
            </a:r>
            <a:endParaRPr lang="en-US" sz="2800" dirty="0"/>
          </a:p>
        </p:txBody>
      </p:sp>
      <p:sp>
        <p:nvSpPr>
          <p:cNvPr id="26" name="Text 24"/>
          <p:cNvSpPr/>
          <p:nvPr/>
        </p:nvSpPr>
        <p:spPr>
          <a:xfrm>
            <a:off x="1737360" y="3657600"/>
            <a:ext cx="4069080" cy="411480"/>
          </a:xfrm>
          <a:prstGeom prst="rect">
            <a:avLst/>
          </a:prstGeom>
          <a:noFill/>
          <a:ln/>
        </p:spPr>
        <p:txBody>
          <a:bodyPr wrap="square" lIns="0" tIns="0" rIns="0" bIns="0" rtlCol="0" anchor="ctr"/>
          <a:lstStyle/>
          <a:p>
            <a:pPr marL="0" indent="0">
              <a:buNone/>
            </a:pPr>
            <a:r>
              <a:rPr lang="en-US" sz="1700" b="1" dirty="0">
                <a:solidFill>
                  <a:srgbClr val="F8FAFC"/>
                </a:solidFill>
                <a:latin typeface="Calibri" pitchFamily="34" charset="0"/>
                <a:ea typeface="Calibri" pitchFamily="34" charset="-122"/>
                <a:cs typeface="Calibri" pitchFamily="34" charset="-120"/>
              </a:rPr>
              <a:t>Meet PyTorch</a:t>
            </a:r>
            <a:endParaRPr lang="en-US" sz="1700" dirty="0"/>
          </a:p>
        </p:txBody>
      </p:sp>
      <p:sp>
        <p:nvSpPr>
          <p:cNvPr id="27" name="Text 25"/>
          <p:cNvSpPr/>
          <p:nvPr/>
        </p:nvSpPr>
        <p:spPr>
          <a:xfrm>
            <a:off x="1737360" y="4114800"/>
            <a:ext cx="4069080" cy="64008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Tensors, autograd, nn.Module, and the training loop.</a:t>
            </a:r>
            <a:endParaRPr lang="en-US" sz="1200" dirty="0"/>
          </a:p>
        </p:txBody>
      </p:sp>
      <p:sp>
        <p:nvSpPr>
          <p:cNvPr id="28" name="Shape 26"/>
          <p:cNvSpPr/>
          <p:nvPr/>
        </p:nvSpPr>
        <p:spPr>
          <a:xfrm>
            <a:off x="6263640" y="3474720"/>
            <a:ext cx="5440680" cy="132588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29" name="Text 27"/>
          <p:cNvSpPr/>
          <p:nvPr/>
        </p:nvSpPr>
        <p:spPr>
          <a:xfrm>
            <a:off x="6492240" y="3639312"/>
            <a:ext cx="914400" cy="548640"/>
          </a:xfrm>
          <a:prstGeom prst="rect">
            <a:avLst/>
          </a:prstGeom>
          <a:noFill/>
          <a:ln/>
        </p:spPr>
        <p:txBody>
          <a:bodyPr wrap="square" lIns="0" tIns="0" rIns="0" bIns="0" rtlCol="0" anchor="ctr"/>
          <a:lstStyle/>
          <a:p>
            <a:pPr marL="0" indent="0">
              <a:buNone/>
            </a:pPr>
            <a:r>
              <a:rPr lang="en-US" sz="2800" b="1" dirty="0">
                <a:solidFill>
                  <a:srgbClr val="E879F9"/>
                </a:solidFill>
                <a:latin typeface="Calibri" pitchFamily="34" charset="0"/>
                <a:ea typeface="Calibri" pitchFamily="34" charset="-122"/>
                <a:cs typeface="Calibri" pitchFamily="34" charset="-120"/>
              </a:rPr>
              <a:t>04</a:t>
            </a:r>
            <a:endParaRPr lang="en-US" sz="2800" dirty="0"/>
          </a:p>
        </p:txBody>
      </p:sp>
      <p:sp>
        <p:nvSpPr>
          <p:cNvPr id="30" name="Text 28"/>
          <p:cNvSpPr/>
          <p:nvPr/>
        </p:nvSpPr>
        <p:spPr>
          <a:xfrm>
            <a:off x="7452360" y="3657600"/>
            <a:ext cx="4069080" cy="411480"/>
          </a:xfrm>
          <a:prstGeom prst="rect">
            <a:avLst/>
          </a:prstGeom>
          <a:noFill/>
          <a:ln/>
        </p:spPr>
        <p:txBody>
          <a:bodyPr wrap="square" lIns="0" tIns="0" rIns="0" bIns="0" rtlCol="0" anchor="ctr"/>
          <a:lstStyle/>
          <a:p>
            <a:pPr marL="0" indent="0">
              <a:buNone/>
            </a:pPr>
            <a:r>
              <a:rPr lang="en-US" sz="1700" b="1" dirty="0">
                <a:solidFill>
                  <a:srgbClr val="F8FAFC"/>
                </a:solidFill>
                <a:latin typeface="Calibri" pitchFamily="34" charset="0"/>
                <a:ea typeface="Calibri" pitchFamily="34" charset="-122"/>
                <a:cs typeface="Calibri" pitchFamily="34" charset="-120"/>
              </a:rPr>
              <a:t>Project A — MNIST</a:t>
            </a:r>
            <a:endParaRPr lang="en-US" sz="1700" dirty="0"/>
          </a:p>
        </p:txBody>
      </p:sp>
      <p:sp>
        <p:nvSpPr>
          <p:cNvPr id="31" name="Text 29"/>
          <p:cNvSpPr/>
          <p:nvPr/>
        </p:nvSpPr>
        <p:spPr>
          <a:xfrm>
            <a:off x="7452360" y="4114800"/>
            <a:ext cx="4069080" cy="64008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Train a small CNN to recognize handwritten digits.</a:t>
            </a:r>
            <a:endParaRPr lang="en-US" sz="1200" dirty="0"/>
          </a:p>
        </p:txBody>
      </p:sp>
      <p:sp>
        <p:nvSpPr>
          <p:cNvPr id="32" name="Shape 30"/>
          <p:cNvSpPr/>
          <p:nvPr/>
        </p:nvSpPr>
        <p:spPr>
          <a:xfrm>
            <a:off x="548640" y="5074920"/>
            <a:ext cx="5440680" cy="132588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33" name="Text 31"/>
          <p:cNvSpPr/>
          <p:nvPr/>
        </p:nvSpPr>
        <p:spPr>
          <a:xfrm>
            <a:off x="777240" y="5239512"/>
            <a:ext cx="914400" cy="548640"/>
          </a:xfrm>
          <a:prstGeom prst="rect">
            <a:avLst/>
          </a:prstGeom>
          <a:noFill/>
          <a:ln/>
        </p:spPr>
        <p:txBody>
          <a:bodyPr wrap="square" lIns="0" tIns="0" rIns="0" bIns="0" rtlCol="0" anchor="ctr"/>
          <a:lstStyle/>
          <a:p>
            <a:pPr marL="0" indent="0">
              <a:buNone/>
            </a:pPr>
            <a:r>
              <a:rPr lang="en-US" sz="2800" b="1" dirty="0">
                <a:solidFill>
                  <a:srgbClr val="22D3EE"/>
                </a:solidFill>
                <a:latin typeface="Calibri" pitchFamily="34" charset="0"/>
                <a:ea typeface="Calibri" pitchFamily="34" charset="-122"/>
                <a:cs typeface="Calibri" pitchFamily="34" charset="-120"/>
              </a:rPr>
              <a:t>05</a:t>
            </a:r>
            <a:endParaRPr lang="en-US" sz="2800" dirty="0"/>
          </a:p>
        </p:txBody>
      </p:sp>
      <p:sp>
        <p:nvSpPr>
          <p:cNvPr id="34" name="Text 32"/>
          <p:cNvSpPr/>
          <p:nvPr/>
        </p:nvSpPr>
        <p:spPr>
          <a:xfrm>
            <a:off x="1737360" y="5257800"/>
            <a:ext cx="4069080" cy="411480"/>
          </a:xfrm>
          <a:prstGeom prst="rect">
            <a:avLst/>
          </a:prstGeom>
          <a:noFill/>
          <a:ln/>
        </p:spPr>
        <p:txBody>
          <a:bodyPr wrap="square" lIns="0" tIns="0" rIns="0" bIns="0" rtlCol="0" anchor="ctr"/>
          <a:lstStyle/>
          <a:p>
            <a:pPr marL="0" indent="0">
              <a:buNone/>
            </a:pPr>
            <a:r>
              <a:rPr lang="en-US" sz="1700" b="1" dirty="0">
                <a:solidFill>
                  <a:srgbClr val="F8FAFC"/>
                </a:solidFill>
                <a:latin typeface="Calibri" pitchFamily="34" charset="0"/>
                <a:ea typeface="Calibri" pitchFamily="34" charset="-122"/>
                <a:cs typeface="Calibri" pitchFamily="34" charset="-120"/>
              </a:rPr>
              <a:t>Project B — Sentiment</a:t>
            </a:r>
            <a:endParaRPr lang="en-US" sz="1700" dirty="0"/>
          </a:p>
        </p:txBody>
      </p:sp>
      <p:sp>
        <p:nvSpPr>
          <p:cNvPr id="35" name="Text 33"/>
          <p:cNvSpPr/>
          <p:nvPr/>
        </p:nvSpPr>
        <p:spPr>
          <a:xfrm>
            <a:off x="1737360" y="5715000"/>
            <a:ext cx="4069080" cy="64008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Classify movie reviews as positive or negative.</a:t>
            </a:r>
            <a:endParaRPr lang="en-US" sz="1200" dirty="0"/>
          </a:p>
        </p:txBody>
      </p:sp>
      <p:sp>
        <p:nvSpPr>
          <p:cNvPr id="36" name="Shape 34"/>
          <p:cNvSpPr/>
          <p:nvPr/>
        </p:nvSpPr>
        <p:spPr>
          <a:xfrm>
            <a:off x="6263640" y="5074920"/>
            <a:ext cx="5440680" cy="132588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37" name="Text 35"/>
          <p:cNvSpPr/>
          <p:nvPr/>
        </p:nvSpPr>
        <p:spPr>
          <a:xfrm>
            <a:off x="6492240" y="5239512"/>
            <a:ext cx="914400" cy="548640"/>
          </a:xfrm>
          <a:prstGeom prst="rect">
            <a:avLst/>
          </a:prstGeom>
          <a:noFill/>
          <a:ln/>
        </p:spPr>
        <p:txBody>
          <a:bodyPr wrap="square" lIns="0" tIns="0" rIns="0" bIns="0" rtlCol="0" anchor="ctr"/>
          <a:lstStyle/>
          <a:p>
            <a:pPr marL="0" indent="0">
              <a:buNone/>
            </a:pPr>
            <a:r>
              <a:rPr lang="en-US" sz="2800" b="1" dirty="0">
                <a:solidFill>
                  <a:srgbClr val="E879F9"/>
                </a:solidFill>
                <a:latin typeface="Calibri" pitchFamily="34" charset="0"/>
                <a:ea typeface="Calibri" pitchFamily="34" charset="-122"/>
                <a:cs typeface="Calibri" pitchFamily="34" charset="-120"/>
              </a:rPr>
              <a:t>06</a:t>
            </a:r>
            <a:endParaRPr lang="en-US" sz="2800" dirty="0"/>
          </a:p>
        </p:txBody>
      </p:sp>
      <p:sp>
        <p:nvSpPr>
          <p:cNvPr id="38" name="Text 36"/>
          <p:cNvSpPr/>
          <p:nvPr/>
        </p:nvSpPr>
        <p:spPr>
          <a:xfrm>
            <a:off x="7452360" y="5257800"/>
            <a:ext cx="4069080" cy="411480"/>
          </a:xfrm>
          <a:prstGeom prst="rect">
            <a:avLst/>
          </a:prstGeom>
          <a:noFill/>
          <a:ln/>
        </p:spPr>
        <p:txBody>
          <a:bodyPr wrap="square" lIns="0" tIns="0" rIns="0" bIns="0" rtlCol="0" anchor="ctr"/>
          <a:lstStyle/>
          <a:p>
            <a:pPr marL="0" indent="0">
              <a:buNone/>
            </a:pPr>
            <a:r>
              <a:rPr lang="en-US" sz="1700" b="1" dirty="0">
                <a:solidFill>
                  <a:srgbClr val="F8FAFC"/>
                </a:solidFill>
                <a:latin typeface="Calibri" pitchFamily="34" charset="0"/>
                <a:ea typeface="Calibri" pitchFamily="34" charset="-122"/>
                <a:cs typeface="Calibri" pitchFamily="34" charset="-120"/>
              </a:rPr>
              <a:t>Tips &amp; Next Steps</a:t>
            </a:r>
            <a:endParaRPr lang="en-US" sz="1700" dirty="0"/>
          </a:p>
        </p:txBody>
      </p:sp>
      <p:sp>
        <p:nvSpPr>
          <p:cNvPr id="39" name="Text 37"/>
          <p:cNvSpPr/>
          <p:nvPr/>
        </p:nvSpPr>
        <p:spPr>
          <a:xfrm>
            <a:off x="7452360" y="5715000"/>
            <a:ext cx="4069080" cy="64008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Habits, debugging, and where to learn more.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11247120" y="137160"/>
            <a:ext cx="365760" cy="182880"/>
          </a:xfrm>
          <a:prstGeom prst="line">
            <a:avLst/>
          </a:prstGeom>
          <a:noFill/>
          <a:ln w="9525">
            <a:solidFill>
              <a:srgbClr val="22D3EE">
                <a:alpha val="50000"/>
              </a:srgbClr>
            </a:solidFill>
            <a:prstDash val="solid"/>
          </a:ln>
        </p:spPr>
        <p:txBody>
          <a:bodyPr/>
          <a:lstStyle/>
          <a:p>
            <a:endParaRPr lang="en-IN"/>
          </a:p>
        </p:txBody>
      </p:sp>
      <p:sp>
        <p:nvSpPr>
          <p:cNvPr id="3" name="Shape 1"/>
          <p:cNvSpPr/>
          <p:nvPr/>
        </p:nvSpPr>
        <p:spPr>
          <a:xfrm>
            <a:off x="11247120" y="137160"/>
            <a:ext cx="228600" cy="411480"/>
          </a:xfrm>
          <a:prstGeom prst="line">
            <a:avLst/>
          </a:prstGeom>
          <a:noFill/>
          <a:ln w="9525">
            <a:solidFill>
              <a:srgbClr val="22D3EE">
                <a:alpha val="50000"/>
              </a:srgbClr>
            </a:solidFill>
            <a:prstDash val="solid"/>
          </a:ln>
        </p:spPr>
        <p:txBody>
          <a:bodyPr/>
          <a:lstStyle/>
          <a:p>
            <a:endParaRPr lang="en-IN"/>
          </a:p>
        </p:txBody>
      </p:sp>
      <p:sp>
        <p:nvSpPr>
          <p:cNvPr id="4" name="Shape 2"/>
          <p:cNvSpPr/>
          <p:nvPr/>
        </p:nvSpPr>
        <p:spPr>
          <a:xfrm>
            <a:off x="11612880" y="320040"/>
            <a:ext cx="228600" cy="182880"/>
          </a:xfrm>
          <a:prstGeom prst="line">
            <a:avLst/>
          </a:prstGeom>
          <a:noFill/>
          <a:ln w="9525">
            <a:solidFill>
              <a:srgbClr val="22D3EE">
                <a:alpha val="50000"/>
              </a:srgbClr>
            </a:solidFill>
            <a:prstDash val="solid"/>
          </a:ln>
        </p:spPr>
        <p:txBody>
          <a:bodyPr/>
          <a:lstStyle/>
          <a:p>
            <a:endParaRPr lang="en-IN"/>
          </a:p>
        </p:txBody>
      </p:sp>
      <p:sp>
        <p:nvSpPr>
          <p:cNvPr id="5" name="Shape 3"/>
          <p:cNvSpPr/>
          <p:nvPr/>
        </p:nvSpPr>
        <p:spPr>
          <a:xfrm flipV="1">
            <a:off x="11475720" y="502920"/>
            <a:ext cx="365760" cy="45720"/>
          </a:xfrm>
          <a:prstGeom prst="line">
            <a:avLst/>
          </a:prstGeom>
          <a:noFill/>
          <a:ln w="9525">
            <a:solidFill>
              <a:srgbClr val="22D3EE">
                <a:alpha val="50000"/>
              </a:srgbClr>
            </a:solidFill>
            <a:prstDash val="solid"/>
          </a:ln>
        </p:spPr>
        <p:txBody>
          <a:bodyPr/>
          <a:lstStyle/>
          <a:p>
            <a:endParaRPr lang="en-IN"/>
          </a:p>
        </p:txBody>
      </p:sp>
      <p:sp>
        <p:nvSpPr>
          <p:cNvPr id="6" name="Shape 4"/>
          <p:cNvSpPr/>
          <p:nvPr/>
        </p:nvSpPr>
        <p:spPr>
          <a:xfrm>
            <a:off x="11183112" y="73152"/>
            <a:ext cx="128016" cy="128016"/>
          </a:xfrm>
          <a:prstGeom prst="ellipse">
            <a:avLst/>
          </a:prstGeom>
          <a:solidFill>
            <a:srgbClr val="22D3EE"/>
          </a:solidFill>
          <a:ln w="12700">
            <a:solidFill>
              <a:srgbClr val="22D3EE"/>
            </a:solidFill>
            <a:prstDash val="solid"/>
          </a:ln>
        </p:spPr>
        <p:txBody>
          <a:bodyPr/>
          <a:lstStyle/>
          <a:p>
            <a:endParaRPr lang="en-IN"/>
          </a:p>
        </p:txBody>
      </p:sp>
      <p:sp>
        <p:nvSpPr>
          <p:cNvPr id="7" name="Shape 5"/>
          <p:cNvSpPr/>
          <p:nvPr/>
        </p:nvSpPr>
        <p:spPr>
          <a:xfrm>
            <a:off x="11548872" y="256032"/>
            <a:ext cx="128016" cy="128016"/>
          </a:xfrm>
          <a:prstGeom prst="ellipse">
            <a:avLst/>
          </a:prstGeom>
          <a:solidFill>
            <a:srgbClr val="E879F9"/>
          </a:solidFill>
          <a:ln w="12700">
            <a:solidFill>
              <a:srgbClr val="E879F9"/>
            </a:solidFill>
            <a:prstDash val="solid"/>
          </a:ln>
        </p:spPr>
        <p:txBody>
          <a:bodyPr/>
          <a:lstStyle/>
          <a:p>
            <a:endParaRPr lang="en-IN"/>
          </a:p>
        </p:txBody>
      </p:sp>
      <p:sp>
        <p:nvSpPr>
          <p:cNvPr id="8" name="Shape 6"/>
          <p:cNvSpPr/>
          <p:nvPr/>
        </p:nvSpPr>
        <p:spPr>
          <a:xfrm>
            <a:off x="11411712" y="484632"/>
            <a:ext cx="128016" cy="128016"/>
          </a:xfrm>
          <a:prstGeom prst="ellipse">
            <a:avLst/>
          </a:prstGeom>
          <a:solidFill>
            <a:srgbClr val="22D3EE"/>
          </a:solidFill>
          <a:ln w="12700">
            <a:solidFill>
              <a:srgbClr val="22D3EE"/>
            </a:solidFill>
            <a:prstDash val="solid"/>
          </a:ln>
        </p:spPr>
        <p:txBody>
          <a:bodyPr/>
          <a:lstStyle/>
          <a:p>
            <a:endParaRPr lang="en-IN"/>
          </a:p>
        </p:txBody>
      </p:sp>
      <p:sp>
        <p:nvSpPr>
          <p:cNvPr id="9" name="Shape 7"/>
          <p:cNvSpPr/>
          <p:nvPr/>
        </p:nvSpPr>
        <p:spPr>
          <a:xfrm>
            <a:off x="11777472" y="438912"/>
            <a:ext cx="128016" cy="128016"/>
          </a:xfrm>
          <a:prstGeom prst="ellipse">
            <a:avLst/>
          </a:prstGeom>
          <a:solidFill>
            <a:srgbClr val="E879F9"/>
          </a:solidFill>
          <a:ln w="12700">
            <a:solidFill>
              <a:srgbClr val="E879F9"/>
            </a:solidFill>
            <a:prstDash val="solid"/>
          </a:ln>
        </p:spPr>
        <p:txBody>
          <a:bodyPr/>
          <a:lstStyle/>
          <a:p>
            <a:endParaRPr lang="en-IN"/>
          </a:p>
        </p:txBody>
      </p:sp>
      <p:sp>
        <p:nvSpPr>
          <p:cNvPr id="10" name="Shape 8"/>
          <p:cNvSpPr/>
          <p:nvPr/>
        </p:nvSpPr>
        <p:spPr>
          <a:xfrm>
            <a:off x="0" y="6693408"/>
            <a:ext cx="12161520" cy="36576"/>
          </a:xfrm>
          <a:prstGeom prst="rect">
            <a:avLst/>
          </a:prstGeom>
          <a:solidFill>
            <a:srgbClr val="22D3EE"/>
          </a:solidFill>
          <a:ln w="12700">
            <a:solidFill>
              <a:srgbClr val="22D3EE"/>
            </a:solidFill>
            <a:prstDash val="solid"/>
          </a:ln>
        </p:spPr>
        <p:txBody>
          <a:bodyPr/>
          <a:lstStyle/>
          <a:p>
            <a:endParaRPr lang="en-IN"/>
          </a:p>
        </p:txBody>
      </p:sp>
      <p:sp>
        <p:nvSpPr>
          <p:cNvPr id="11" name="Text 9"/>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Deep Learning Onboarding  ·  Intern Training</a:t>
            </a:r>
            <a:endParaRPr lang="en-US" sz="1000" dirty="0"/>
          </a:p>
        </p:txBody>
      </p:sp>
      <p:sp>
        <p:nvSpPr>
          <p:cNvPr id="12" name="Text 10"/>
          <p:cNvSpPr/>
          <p:nvPr/>
        </p:nvSpPr>
        <p:spPr>
          <a:xfrm>
            <a:off x="10698480" y="6446520"/>
            <a:ext cx="914400" cy="27432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3 / 13</a:t>
            </a:r>
            <a:endParaRPr lang="en-US" sz="1000" dirty="0"/>
          </a:p>
        </p:txBody>
      </p:sp>
      <p:sp>
        <p:nvSpPr>
          <p:cNvPr id="13" name="Text 11"/>
          <p:cNvSpPr/>
          <p:nvPr/>
        </p:nvSpPr>
        <p:spPr>
          <a:xfrm>
            <a:off x="548640" y="411480"/>
            <a:ext cx="9144000" cy="320040"/>
          </a:xfrm>
          <a:prstGeom prst="rect">
            <a:avLst/>
          </a:prstGeom>
          <a:noFill/>
          <a:ln/>
        </p:spPr>
        <p:txBody>
          <a:bodyPr wrap="square" lIns="0" tIns="0" rIns="0" bIns="0" rtlCol="0" anchor="ctr"/>
          <a:lstStyle/>
          <a:p>
            <a:pPr marL="0" indent="0">
              <a:buNone/>
            </a:pPr>
            <a:r>
              <a:rPr lang="en-US" sz="1100" b="1" kern="0" spc="400" dirty="0">
                <a:solidFill>
                  <a:srgbClr val="22D3EE"/>
                </a:solidFill>
                <a:latin typeface="Calibri" pitchFamily="34" charset="0"/>
                <a:ea typeface="Calibri" pitchFamily="34" charset="-122"/>
                <a:cs typeface="Calibri" pitchFamily="34" charset="-120"/>
              </a:rPr>
              <a:t>MODULE 1</a:t>
            </a:r>
            <a:endParaRPr lang="en-US" sz="1100" dirty="0"/>
          </a:p>
        </p:txBody>
      </p:sp>
      <p:sp>
        <p:nvSpPr>
          <p:cNvPr id="14" name="Text 12"/>
          <p:cNvSpPr/>
          <p:nvPr/>
        </p:nvSpPr>
        <p:spPr>
          <a:xfrm>
            <a:off x="548640" y="713232"/>
            <a:ext cx="10515600" cy="77724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What is Deep Learning?</a:t>
            </a:r>
            <a:endParaRPr lang="en-US" sz="3200" dirty="0"/>
          </a:p>
        </p:txBody>
      </p:sp>
      <p:sp>
        <p:nvSpPr>
          <p:cNvPr id="15" name="Shape 13"/>
          <p:cNvSpPr/>
          <p:nvPr/>
        </p:nvSpPr>
        <p:spPr>
          <a:xfrm>
            <a:off x="548640" y="1481328"/>
            <a:ext cx="548640" cy="54864"/>
          </a:xfrm>
          <a:prstGeom prst="rect">
            <a:avLst/>
          </a:prstGeom>
          <a:solidFill>
            <a:srgbClr val="E879F9"/>
          </a:solidFill>
          <a:ln w="12700">
            <a:solidFill>
              <a:srgbClr val="E879F9"/>
            </a:solidFill>
            <a:prstDash val="solid"/>
          </a:ln>
        </p:spPr>
        <p:txBody>
          <a:bodyPr/>
          <a:lstStyle/>
          <a:p>
            <a:endParaRPr lang="en-IN"/>
          </a:p>
        </p:txBody>
      </p:sp>
      <p:sp>
        <p:nvSpPr>
          <p:cNvPr id="16" name="Shape 14"/>
          <p:cNvSpPr/>
          <p:nvPr/>
        </p:nvSpPr>
        <p:spPr>
          <a:xfrm>
            <a:off x="548640" y="1874520"/>
            <a:ext cx="5486400" cy="420624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17" name="Text 15"/>
          <p:cNvSpPr/>
          <p:nvPr/>
        </p:nvSpPr>
        <p:spPr>
          <a:xfrm>
            <a:off x="777240" y="2011680"/>
            <a:ext cx="5029200" cy="365760"/>
          </a:xfrm>
          <a:prstGeom prst="rect">
            <a:avLst/>
          </a:prstGeom>
          <a:noFill/>
          <a:ln/>
        </p:spPr>
        <p:txBody>
          <a:bodyPr wrap="square" lIns="0" tIns="0" rIns="0" bIns="0" rtlCol="0" anchor="ctr"/>
          <a:lstStyle/>
          <a:p>
            <a:pPr marL="0" indent="0">
              <a:buNone/>
            </a:pPr>
            <a:r>
              <a:rPr lang="en-US" sz="1300" b="1" kern="0" spc="300" dirty="0">
                <a:solidFill>
                  <a:srgbClr val="22D3EE"/>
                </a:solidFill>
                <a:latin typeface="Calibri" pitchFamily="34" charset="0"/>
                <a:ea typeface="Calibri" pitchFamily="34" charset="-122"/>
                <a:cs typeface="Calibri" pitchFamily="34" charset="-120"/>
              </a:rPr>
              <a:t>A short definition</a:t>
            </a:r>
            <a:endParaRPr lang="en-US" sz="1300" dirty="0"/>
          </a:p>
        </p:txBody>
      </p:sp>
      <p:sp>
        <p:nvSpPr>
          <p:cNvPr id="18" name="Text 16"/>
          <p:cNvSpPr/>
          <p:nvPr/>
        </p:nvSpPr>
        <p:spPr>
          <a:xfrm>
            <a:off x="777240" y="2377440"/>
            <a:ext cx="5029200" cy="1463040"/>
          </a:xfrm>
          <a:prstGeom prst="rect">
            <a:avLst/>
          </a:prstGeom>
          <a:noFill/>
          <a:ln/>
        </p:spPr>
        <p:txBody>
          <a:bodyPr wrap="square" lIns="0" tIns="0" rIns="0" bIns="0" rtlCol="0" anchor="ctr"/>
          <a:lstStyle/>
          <a:p>
            <a:pPr marL="0" indent="0">
              <a:buNone/>
            </a:pPr>
            <a:r>
              <a:rPr lang="en-US" sz="1600" dirty="0">
                <a:solidFill>
                  <a:srgbClr val="F8FAFC"/>
                </a:solidFill>
                <a:latin typeface="Calibri" pitchFamily="34" charset="0"/>
                <a:ea typeface="Calibri" pitchFamily="34" charset="-122"/>
                <a:cs typeface="Calibri" pitchFamily="34" charset="-120"/>
              </a:rPr>
              <a:t>Deep learning is a branch of machine learning that uses neural networks with many layers to learn patterns directly from raw data — pixels, text, audio — without hand-engineered features.</a:t>
            </a:r>
            <a:endParaRPr lang="en-US" sz="1600" dirty="0"/>
          </a:p>
        </p:txBody>
      </p:sp>
      <p:sp>
        <p:nvSpPr>
          <p:cNvPr id="19" name="Text 17"/>
          <p:cNvSpPr/>
          <p:nvPr/>
        </p:nvSpPr>
        <p:spPr>
          <a:xfrm>
            <a:off x="777240" y="3977640"/>
            <a:ext cx="5029200" cy="320040"/>
          </a:xfrm>
          <a:prstGeom prst="rect">
            <a:avLst/>
          </a:prstGeom>
          <a:noFill/>
          <a:ln/>
        </p:spPr>
        <p:txBody>
          <a:bodyPr wrap="square" lIns="0" tIns="0" rIns="0" bIns="0" rtlCol="0" anchor="ctr"/>
          <a:lstStyle/>
          <a:p>
            <a:pPr marL="0" indent="0">
              <a:buNone/>
            </a:pPr>
            <a:r>
              <a:rPr lang="en-US" sz="1300" b="1" kern="0" spc="300" dirty="0">
                <a:solidFill>
                  <a:srgbClr val="E879F9"/>
                </a:solidFill>
                <a:latin typeface="Calibri" pitchFamily="34" charset="0"/>
                <a:ea typeface="Calibri" pitchFamily="34" charset="-122"/>
                <a:cs typeface="Calibri" pitchFamily="34" charset="-120"/>
              </a:rPr>
              <a:t>The key idea</a:t>
            </a:r>
            <a:endParaRPr lang="en-US" sz="1300" dirty="0"/>
          </a:p>
        </p:txBody>
      </p:sp>
      <p:sp>
        <p:nvSpPr>
          <p:cNvPr id="20" name="Text 18"/>
          <p:cNvSpPr/>
          <p:nvPr/>
        </p:nvSpPr>
        <p:spPr>
          <a:xfrm>
            <a:off x="777240" y="4297680"/>
            <a:ext cx="5029200" cy="1554480"/>
          </a:xfrm>
          <a:prstGeom prst="rect">
            <a:avLst/>
          </a:prstGeom>
          <a:noFill/>
          <a:ln/>
        </p:spPr>
        <p:txBody>
          <a:bodyPr wrap="square" lIns="0" tIns="0" rIns="0" bIns="0" rtlCol="0" anchor="ctr"/>
          <a:lstStyle/>
          <a:p>
            <a:pPr marL="0" indent="0">
              <a:buNone/>
            </a:pPr>
            <a:r>
              <a:rPr lang="en-US" sz="1500" i="1" dirty="0">
                <a:solidFill>
                  <a:srgbClr val="94A3B8"/>
                </a:solidFill>
                <a:latin typeface="Calibri" pitchFamily="34" charset="0"/>
                <a:ea typeface="Calibri" pitchFamily="34" charset="-122"/>
                <a:cs typeface="Calibri" pitchFamily="34" charset="-120"/>
              </a:rPr>
              <a:t>Stack many simple math operations together, show the model lots of examples, and let it figure out the rules.</a:t>
            </a:r>
            <a:endParaRPr lang="en-US" sz="1500" dirty="0"/>
          </a:p>
        </p:txBody>
      </p:sp>
      <p:sp>
        <p:nvSpPr>
          <p:cNvPr id="21" name="Shape 19"/>
          <p:cNvSpPr/>
          <p:nvPr/>
        </p:nvSpPr>
        <p:spPr>
          <a:xfrm>
            <a:off x="6583680" y="1645920"/>
            <a:ext cx="4754880" cy="4754880"/>
          </a:xfrm>
          <a:prstGeom prst="ellipse">
            <a:avLst/>
          </a:prstGeom>
          <a:solidFill>
            <a:srgbClr val="121A33"/>
          </a:solidFill>
          <a:ln w="19050">
            <a:solidFill>
              <a:srgbClr val="22D3EE"/>
            </a:solidFill>
            <a:prstDash val="solid"/>
          </a:ln>
        </p:spPr>
        <p:txBody>
          <a:bodyPr/>
          <a:lstStyle/>
          <a:p>
            <a:endParaRPr lang="en-IN"/>
          </a:p>
        </p:txBody>
      </p:sp>
      <p:sp>
        <p:nvSpPr>
          <p:cNvPr id="22" name="Shape 20"/>
          <p:cNvSpPr/>
          <p:nvPr/>
        </p:nvSpPr>
        <p:spPr>
          <a:xfrm>
            <a:off x="7315200" y="2377440"/>
            <a:ext cx="3291840" cy="3291840"/>
          </a:xfrm>
          <a:prstGeom prst="ellipse">
            <a:avLst/>
          </a:prstGeom>
          <a:solidFill>
            <a:srgbClr val="1B2547"/>
          </a:solidFill>
          <a:ln w="19050">
            <a:solidFill>
              <a:srgbClr val="E879F9"/>
            </a:solidFill>
            <a:prstDash val="solid"/>
          </a:ln>
        </p:spPr>
        <p:txBody>
          <a:bodyPr/>
          <a:lstStyle/>
          <a:p>
            <a:endParaRPr lang="en-IN"/>
          </a:p>
        </p:txBody>
      </p:sp>
      <p:sp>
        <p:nvSpPr>
          <p:cNvPr id="23" name="Shape 21"/>
          <p:cNvSpPr/>
          <p:nvPr/>
        </p:nvSpPr>
        <p:spPr>
          <a:xfrm>
            <a:off x="8001000" y="3063240"/>
            <a:ext cx="1920240" cy="1920240"/>
          </a:xfrm>
          <a:prstGeom prst="ellipse">
            <a:avLst/>
          </a:prstGeom>
          <a:solidFill>
            <a:srgbClr val="23306B"/>
          </a:solidFill>
          <a:ln w="19050">
            <a:solidFill>
              <a:srgbClr val="22D3EE"/>
            </a:solidFill>
            <a:prstDash val="solid"/>
          </a:ln>
        </p:spPr>
        <p:txBody>
          <a:bodyPr/>
          <a:lstStyle/>
          <a:p>
            <a:endParaRPr lang="en-IN"/>
          </a:p>
        </p:txBody>
      </p:sp>
      <p:sp>
        <p:nvSpPr>
          <p:cNvPr id="24" name="Text 22"/>
          <p:cNvSpPr/>
          <p:nvPr/>
        </p:nvSpPr>
        <p:spPr>
          <a:xfrm>
            <a:off x="6766560" y="1874520"/>
            <a:ext cx="1280160" cy="365760"/>
          </a:xfrm>
          <a:prstGeom prst="rect">
            <a:avLst/>
          </a:prstGeom>
          <a:noFill/>
          <a:ln/>
        </p:spPr>
        <p:txBody>
          <a:bodyPr wrap="square" lIns="0" tIns="0" rIns="0" bIns="0" rtlCol="0" anchor="ctr"/>
          <a:lstStyle/>
          <a:p>
            <a:pPr marL="0" indent="0">
              <a:buNone/>
            </a:pPr>
            <a:r>
              <a:rPr lang="en-US" sz="1400" b="1" dirty="0">
                <a:solidFill>
                  <a:srgbClr val="22D3EE"/>
                </a:solidFill>
                <a:latin typeface="Calibri" pitchFamily="34" charset="0"/>
                <a:ea typeface="Calibri" pitchFamily="34" charset="-122"/>
                <a:cs typeface="Calibri" pitchFamily="34" charset="-120"/>
              </a:rPr>
              <a:t>AI</a:t>
            </a:r>
            <a:endParaRPr lang="en-US" sz="1400" dirty="0"/>
          </a:p>
        </p:txBody>
      </p:sp>
      <p:sp>
        <p:nvSpPr>
          <p:cNvPr id="25" name="Text 23"/>
          <p:cNvSpPr/>
          <p:nvPr/>
        </p:nvSpPr>
        <p:spPr>
          <a:xfrm>
            <a:off x="7680960" y="2880360"/>
            <a:ext cx="2560320" cy="320040"/>
          </a:xfrm>
          <a:prstGeom prst="rect">
            <a:avLst/>
          </a:prstGeom>
          <a:noFill/>
          <a:ln/>
        </p:spPr>
        <p:txBody>
          <a:bodyPr wrap="square" lIns="0" tIns="0" rIns="0" bIns="0" rtlCol="0" anchor="ctr"/>
          <a:lstStyle/>
          <a:p>
            <a:pPr marL="0" indent="0" algn="ctr">
              <a:buNone/>
            </a:pPr>
            <a:r>
              <a:rPr lang="en-US" sz="1100" b="1" dirty="0">
                <a:solidFill>
                  <a:srgbClr val="E879F9"/>
                </a:solidFill>
                <a:latin typeface="Calibri" pitchFamily="34" charset="0"/>
                <a:ea typeface="Calibri" pitchFamily="34" charset="-122"/>
                <a:cs typeface="Calibri" pitchFamily="34" charset="-120"/>
              </a:rPr>
              <a:t>Machine Learning</a:t>
            </a:r>
            <a:endParaRPr lang="en-US" sz="1100" dirty="0"/>
          </a:p>
        </p:txBody>
      </p:sp>
      <p:sp>
        <p:nvSpPr>
          <p:cNvPr id="26" name="Text 24"/>
          <p:cNvSpPr/>
          <p:nvPr/>
        </p:nvSpPr>
        <p:spPr>
          <a:xfrm>
            <a:off x="8138160" y="3566160"/>
            <a:ext cx="1645920" cy="914400"/>
          </a:xfrm>
          <a:prstGeom prst="rect">
            <a:avLst/>
          </a:prstGeom>
          <a:noFill/>
          <a:ln/>
        </p:spPr>
        <p:txBody>
          <a:bodyPr wrap="square" lIns="0" tIns="0" rIns="0" bIns="0" rtlCol="0" anchor="ctr"/>
          <a:lstStyle/>
          <a:p>
            <a:pPr marL="0" indent="0" algn="ctr">
              <a:buNone/>
            </a:pPr>
            <a:r>
              <a:rPr lang="en-US" sz="1600" b="1" dirty="0">
                <a:solidFill>
                  <a:srgbClr val="F8FAFC"/>
                </a:solidFill>
                <a:latin typeface="Calibri" pitchFamily="34" charset="0"/>
                <a:ea typeface="Calibri" pitchFamily="34" charset="-122"/>
                <a:cs typeface="Calibri" pitchFamily="34" charset="-120"/>
              </a:rPr>
              <a:t>Deep</a:t>
            </a:r>
            <a:endParaRPr lang="en-US" sz="1600" dirty="0"/>
          </a:p>
          <a:p>
            <a:pPr marL="0" indent="0" algn="ctr">
              <a:buNone/>
            </a:pPr>
            <a:r>
              <a:rPr lang="en-US" sz="1600" b="1" dirty="0">
                <a:solidFill>
                  <a:srgbClr val="F8FAFC"/>
                </a:solidFill>
                <a:latin typeface="Calibri" pitchFamily="34" charset="0"/>
                <a:ea typeface="Calibri" pitchFamily="34" charset="-122"/>
                <a:cs typeface="Calibri" pitchFamily="34" charset="-120"/>
              </a:rPr>
              <a:t>Learning</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11247120" y="137160"/>
            <a:ext cx="365760" cy="182880"/>
          </a:xfrm>
          <a:prstGeom prst="line">
            <a:avLst/>
          </a:prstGeom>
          <a:noFill/>
          <a:ln w="9525">
            <a:solidFill>
              <a:srgbClr val="22D3EE">
                <a:alpha val="50000"/>
              </a:srgbClr>
            </a:solidFill>
            <a:prstDash val="solid"/>
          </a:ln>
        </p:spPr>
        <p:txBody>
          <a:bodyPr/>
          <a:lstStyle/>
          <a:p>
            <a:endParaRPr lang="en-IN"/>
          </a:p>
        </p:txBody>
      </p:sp>
      <p:sp>
        <p:nvSpPr>
          <p:cNvPr id="3" name="Shape 1"/>
          <p:cNvSpPr/>
          <p:nvPr/>
        </p:nvSpPr>
        <p:spPr>
          <a:xfrm>
            <a:off x="11247120" y="137160"/>
            <a:ext cx="228600" cy="411480"/>
          </a:xfrm>
          <a:prstGeom prst="line">
            <a:avLst/>
          </a:prstGeom>
          <a:noFill/>
          <a:ln w="9525">
            <a:solidFill>
              <a:srgbClr val="22D3EE">
                <a:alpha val="50000"/>
              </a:srgbClr>
            </a:solidFill>
            <a:prstDash val="solid"/>
          </a:ln>
        </p:spPr>
        <p:txBody>
          <a:bodyPr/>
          <a:lstStyle/>
          <a:p>
            <a:endParaRPr lang="en-IN"/>
          </a:p>
        </p:txBody>
      </p:sp>
      <p:sp>
        <p:nvSpPr>
          <p:cNvPr id="4" name="Shape 2"/>
          <p:cNvSpPr/>
          <p:nvPr/>
        </p:nvSpPr>
        <p:spPr>
          <a:xfrm>
            <a:off x="11612880" y="320040"/>
            <a:ext cx="228600" cy="182880"/>
          </a:xfrm>
          <a:prstGeom prst="line">
            <a:avLst/>
          </a:prstGeom>
          <a:noFill/>
          <a:ln w="9525">
            <a:solidFill>
              <a:srgbClr val="22D3EE">
                <a:alpha val="50000"/>
              </a:srgbClr>
            </a:solidFill>
            <a:prstDash val="solid"/>
          </a:ln>
        </p:spPr>
        <p:txBody>
          <a:bodyPr/>
          <a:lstStyle/>
          <a:p>
            <a:endParaRPr lang="en-IN"/>
          </a:p>
        </p:txBody>
      </p:sp>
      <p:sp>
        <p:nvSpPr>
          <p:cNvPr id="5" name="Shape 3"/>
          <p:cNvSpPr/>
          <p:nvPr/>
        </p:nvSpPr>
        <p:spPr>
          <a:xfrm flipV="1">
            <a:off x="11475720" y="502920"/>
            <a:ext cx="365760" cy="45720"/>
          </a:xfrm>
          <a:prstGeom prst="line">
            <a:avLst/>
          </a:prstGeom>
          <a:noFill/>
          <a:ln w="9525">
            <a:solidFill>
              <a:srgbClr val="22D3EE">
                <a:alpha val="50000"/>
              </a:srgbClr>
            </a:solidFill>
            <a:prstDash val="solid"/>
          </a:ln>
        </p:spPr>
        <p:txBody>
          <a:bodyPr/>
          <a:lstStyle/>
          <a:p>
            <a:endParaRPr lang="en-IN"/>
          </a:p>
        </p:txBody>
      </p:sp>
      <p:sp>
        <p:nvSpPr>
          <p:cNvPr id="6" name="Shape 4"/>
          <p:cNvSpPr/>
          <p:nvPr/>
        </p:nvSpPr>
        <p:spPr>
          <a:xfrm>
            <a:off x="11183112" y="73152"/>
            <a:ext cx="128016" cy="128016"/>
          </a:xfrm>
          <a:prstGeom prst="ellipse">
            <a:avLst/>
          </a:prstGeom>
          <a:solidFill>
            <a:srgbClr val="22D3EE"/>
          </a:solidFill>
          <a:ln w="12700">
            <a:solidFill>
              <a:srgbClr val="22D3EE"/>
            </a:solidFill>
            <a:prstDash val="solid"/>
          </a:ln>
        </p:spPr>
        <p:txBody>
          <a:bodyPr/>
          <a:lstStyle/>
          <a:p>
            <a:endParaRPr lang="en-IN"/>
          </a:p>
        </p:txBody>
      </p:sp>
      <p:sp>
        <p:nvSpPr>
          <p:cNvPr id="7" name="Shape 5"/>
          <p:cNvSpPr/>
          <p:nvPr/>
        </p:nvSpPr>
        <p:spPr>
          <a:xfrm>
            <a:off x="11548872" y="256032"/>
            <a:ext cx="128016" cy="128016"/>
          </a:xfrm>
          <a:prstGeom prst="ellipse">
            <a:avLst/>
          </a:prstGeom>
          <a:solidFill>
            <a:srgbClr val="E879F9"/>
          </a:solidFill>
          <a:ln w="12700">
            <a:solidFill>
              <a:srgbClr val="E879F9"/>
            </a:solidFill>
            <a:prstDash val="solid"/>
          </a:ln>
        </p:spPr>
        <p:txBody>
          <a:bodyPr/>
          <a:lstStyle/>
          <a:p>
            <a:endParaRPr lang="en-IN"/>
          </a:p>
        </p:txBody>
      </p:sp>
      <p:sp>
        <p:nvSpPr>
          <p:cNvPr id="8" name="Shape 6"/>
          <p:cNvSpPr/>
          <p:nvPr/>
        </p:nvSpPr>
        <p:spPr>
          <a:xfrm>
            <a:off x="11411712" y="484632"/>
            <a:ext cx="128016" cy="128016"/>
          </a:xfrm>
          <a:prstGeom prst="ellipse">
            <a:avLst/>
          </a:prstGeom>
          <a:solidFill>
            <a:srgbClr val="22D3EE"/>
          </a:solidFill>
          <a:ln w="12700">
            <a:solidFill>
              <a:srgbClr val="22D3EE"/>
            </a:solidFill>
            <a:prstDash val="solid"/>
          </a:ln>
        </p:spPr>
        <p:txBody>
          <a:bodyPr/>
          <a:lstStyle/>
          <a:p>
            <a:endParaRPr lang="en-IN"/>
          </a:p>
        </p:txBody>
      </p:sp>
      <p:sp>
        <p:nvSpPr>
          <p:cNvPr id="9" name="Shape 7"/>
          <p:cNvSpPr/>
          <p:nvPr/>
        </p:nvSpPr>
        <p:spPr>
          <a:xfrm>
            <a:off x="11777472" y="438912"/>
            <a:ext cx="128016" cy="128016"/>
          </a:xfrm>
          <a:prstGeom prst="ellipse">
            <a:avLst/>
          </a:prstGeom>
          <a:solidFill>
            <a:srgbClr val="E879F9"/>
          </a:solidFill>
          <a:ln w="12700">
            <a:solidFill>
              <a:srgbClr val="E879F9"/>
            </a:solidFill>
            <a:prstDash val="solid"/>
          </a:ln>
        </p:spPr>
        <p:txBody>
          <a:bodyPr/>
          <a:lstStyle/>
          <a:p>
            <a:endParaRPr lang="en-IN"/>
          </a:p>
        </p:txBody>
      </p:sp>
      <p:sp>
        <p:nvSpPr>
          <p:cNvPr id="10" name="Shape 8"/>
          <p:cNvSpPr/>
          <p:nvPr/>
        </p:nvSpPr>
        <p:spPr>
          <a:xfrm>
            <a:off x="0" y="6693408"/>
            <a:ext cx="12161520" cy="36576"/>
          </a:xfrm>
          <a:prstGeom prst="rect">
            <a:avLst/>
          </a:prstGeom>
          <a:solidFill>
            <a:srgbClr val="22D3EE"/>
          </a:solidFill>
          <a:ln w="12700">
            <a:solidFill>
              <a:srgbClr val="22D3EE"/>
            </a:solidFill>
            <a:prstDash val="solid"/>
          </a:ln>
        </p:spPr>
        <p:txBody>
          <a:bodyPr/>
          <a:lstStyle/>
          <a:p>
            <a:endParaRPr lang="en-IN"/>
          </a:p>
        </p:txBody>
      </p:sp>
      <p:sp>
        <p:nvSpPr>
          <p:cNvPr id="11" name="Text 9"/>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Deep Learning Onboarding  ·  Intern Training</a:t>
            </a:r>
            <a:endParaRPr lang="en-US" sz="1000" dirty="0"/>
          </a:p>
        </p:txBody>
      </p:sp>
      <p:sp>
        <p:nvSpPr>
          <p:cNvPr id="12" name="Text 10"/>
          <p:cNvSpPr/>
          <p:nvPr/>
        </p:nvSpPr>
        <p:spPr>
          <a:xfrm>
            <a:off x="10698480" y="6446520"/>
            <a:ext cx="914400" cy="27432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4 / 13</a:t>
            </a:r>
            <a:endParaRPr lang="en-US" sz="1000" dirty="0"/>
          </a:p>
        </p:txBody>
      </p:sp>
      <p:sp>
        <p:nvSpPr>
          <p:cNvPr id="13" name="Text 11"/>
          <p:cNvSpPr/>
          <p:nvPr/>
        </p:nvSpPr>
        <p:spPr>
          <a:xfrm>
            <a:off x="548640" y="411480"/>
            <a:ext cx="9144000" cy="320040"/>
          </a:xfrm>
          <a:prstGeom prst="rect">
            <a:avLst/>
          </a:prstGeom>
          <a:noFill/>
          <a:ln/>
        </p:spPr>
        <p:txBody>
          <a:bodyPr wrap="square" lIns="0" tIns="0" rIns="0" bIns="0" rtlCol="0" anchor="ctr"/>
          <a:lstStyle/>
          <a:p>
            <a:pPr marL="0" indent="0">
              <a:buNone/>
            </a:pPr>
            <a:r>
              <a:rPr lang="en-US" sz="1100" b="1" kern="0" spc="400" dirty="0">
                <a:solidFill>
                  <a:srgbClr val="22D3EE"/>
                </a:solidFill>
                <a:latin typeface="Calibri" pitchFamily="34" charset="0"/>
                <a:ea typeface="Calibri" pitchFamily="34" charset="-122"/>
                <a:cs typeface="Calibri" pitchFamily="34" charset="-120"/>
              </a:rPr>
              <a:t>MODULE 1</a:t>
            </a:r>
            <a:endParaRPr lang="en-US" sz="1100" dirty="0"/>
          </a:p>
        </p:txBody>
      </p:sp>
      <p:sp>
        <p:nvSpPr>
          <p:cNvPr id="14" name="Text 12"/>
          <p:cNvSpPr/>
          <p:nvPr/>
        </p:nvSpPr>
        <p:spPr>
          <a:xfrm>
            <a:off x="548640" y="713232"/>
            <a:ext cx="10515600" cy="77724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Why deep learning, and why now?</a:t>
            </a:r>
            <a:endParaRPr lang="en-US" sz="3200" dirty="0"/>
          </a:p>
        </p:txBody>
      </p:sp>
      <p:sp>
        <p:nvSpPr>
          <p:cNvPr id="15" name="Shape 13"/>
          <p:cNvSpPr/>
          <p:nvPr/>
        </p:nvSpPr>
        <p:spPr>
          <a:xfrm>
            <a:off x="548640" y="1481328"/>
            <a:ext cx="548640" cy="54864"/>
          </a:xfrm>
          <a:prstGeom prst="rect">
            <a:avLst/>
          </a:prstGeom>
          <a:solidFill>
            <a:srgbClr val="E879F9"/>
          </a:solidFill>
          <a:ln w="12700">
            <a:solidFill>
              <a:srgbClr val="E879F9"/>
            </a:solidFill>
            <a:prstDash val="solid"/>
          </a:ln>
        </p:spPr>
        <p:txBody>
          <a:bodyPr/>
          <a:lstStyle/>
          <a:p>
            <a:endParaRPr lang="en-IN"/>
          </a:p>
        </p:txBody>
      </p:sp>
      <p:sp>
        <p:nvSpPr>
          <p:cNvPr id="16" name="Shape 14"/>
          <p:cNvSpPr/>
          <p:nvPr/>
        </p:nvSpPr>
        <p:spPr>
          <a:xfrm>
            <a:off x="548640" y="1920240"/>
            <a:ext cx="2697480" cy="393192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17" name="Shape 15"/>
          <p:cNvSpPr/>
          <p:nvPr/>
        </p:nvSpPr>
        <p:spPr>
          <a:xfrm>
            <a:off x="548640" y="1920240"/>
            <a:ext cx="2697480" cy="73152"/>
          </a:xfrm>
          <a:prstGeom prst="rect">
            <a:avLst/>
          </a:prstGeom>
          <a:solidFill>
            <a:srgbClr val="22D3EE"/>
          </a:solidFill>
          <a:ln w="12700">
            <a:solidFill>
              <a:srgbClr val="333333"/>
            </a:solidFill>
            <a:prstDash val="solid"/>
          </a:ln>
        </p:spPr>
        <p:txBody>
          <a:bodyPr/>
          <a:lstStyle/>
          <a:p>
            <a:endParaRPr lang="en-IN"/>
          </a:p>
        </p:txBody>
      </p:sp>
      <p:sp>
        <p:nvSpPr>
          <p:cNvPr id="18" name="Text 16"/>
          <p:cNvSpPr/>
          <p:nvPr/>
        </p:nvSpPr>
        <p:spPr>
          <a:xfrm>
            <a:off x="777240" y="2286000"/>
            <a:ext cx="2240280" cy="548640"/>
          </a:xfrm>
          <a:prstGeom prst="rect">
            <a:avLst/>
          </a:prstGeom>
          <a:noFill/>
          <a:ln/>
        </p:spPr>
        <p:txBody>
          <a:bodyPr wrap="square" lIns="0" tIns="0" rIns="0" bIns="0" rtlCol="0" anchor="ctr"/>
          <a:lstStyle/>
          <a:p>
            <a:pPr marL="0" indent="0">
              <a:buNone/>
            </a:pPr>
            <a:r>
              <a:rPr lang="en-US" sz="2200" b="1" dirty="0">
                <a:solidFill>
                  <a:srgbClr val="F8FAFC"/>
                </a:solidFill>
                <a:latin typeface="Calibri" pitchFamily="34" charset="0"/>
                <a:ea typeface="Calibri" pitchFamily="34" charset="-122"/>
                <a:cs typeface="Calibri" pitchFamily="34" charset="-120"/>
              </a:rPr>
              <a:t>Data</a:t>
            </a:r>
            <a:endParaRPr lang="en-US" sz="2200" dirty="0"/>
          </a:p>
        </p:txBody>
      </p:sp>
      <p:sp>
        <p:nvSpPr>
          <p:cNvPr id="19" name="Shape 17"/>
          <p:cNvSpPr/>
          <p:nvPr/>
        </p:nvSpPr>
        <p:spPr>
          <a:xfrm>
            <a:off x="777240" y="2880360"/>
            <a:ext cx="457200" cy="36576"/>
          </a:xfrm>
          <a:prstGeom prst="rect">
            <a:avLst/>
          </a:prstGeom>
          <a:solidFill>
            <a:srgbClr val="22D3EE"/>
          </a:solidFill>
          <a:ln w="12700">
            <a:solidFill>
              <a:srgbClr val="333333"/>
            </a:solidFill>
            <a:prstDash val="solid"/>
          </a:ln>
        </p:spPr>
        <p:txBody>
          <a:bodyPr/>
          <a:lstStyle/>
          <a:p>
            <a:endParaRPr lang="en-IN"/>
          </a:p>
        </p:txBody>
      </p:sp>
      <p:sp>
        <p:nvSpPr>
          <p:cNvPr id="20" name="Text 18"/>
          <p:cNvSpPr/>
          <p:nvPr/>
        </p:nvSpPr>
        <p:spPr>
          <a:xfrm>
            <a:off x="777240" y="3063240"/>
            <a:ext cx="2240280" cy="256032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Billions of labeled images, text snippets, and sensor readings are now available.</a:t>
            </a:r>
            <a:endParaRPr lang="en-US" sz="1300" dirty="0"/>
          </a:p>
        </p:txBody>
      </p:sp>
      <p:sp>
        <p:nvSpPr>
          <p:cNvPr id="21" name="Shape 19"/>
          <p:cNvSpPr/>
          <p:nvPr/>
        </p:nvSpPr>
        <p:spPr>
          <a:xfrm>
            <a:off x="3383280" y="1920240"/>
            <a:ext cx="2697480" cy="393192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22" name="Shape 20"/>
          <p:cNvSpPr/>
          <p:nvPr/>
        </p:nvSpPr>
        <p:spPr>
          <a:xfrm>
            <a:off x="3383280" y="1920240"/>
            <a:ext cx="2697480" cy="73152"/>
          </a:xfrm>
          <a:prstGeom prst="rect">
            <a:avLst/>
          </a:prstGeom>
          <a:solidFill>
            <a:srgbClr val="E879F9"/>
          </a:solidFill>
          <a:ln w="12700">
            <a:solidFill>
              <a:srgbClr val="333333"/>
            </a:solidFill>
            <a:prstDash val="solid"/>
          </a:ln>
        </p:spPr>
        <p:txBody>
          <a:bodyPr/>
          <a:lstStyle/>
          <a:p>
            <a:endParaRPr lang="en-IN"/>
          </a:p>
        </p:txBody>
      </p:sp>
      <p:sp>
        <p:nvSpPr>
          <p:cNvPr id="23" name="Text 21"/>
          <p:cNvSpPr/>
          <p:nvPr/>
        </p:nvSpPr>
        <p:spPr>
          <a:xfrm>
            <a:off x="3611880" y="2286000"/>
            <a:ext cx="2240280" cy="548640"/>
          </a:xfrm>
          <a:prstGeom prst="rect">
            <a:avLst/>
          </a:prstGeom>
          <a:noFill/>
          <a:ln/>
        </p:spPr>
        <p:txBody>
          <a:bodyPr wrap="square" lIns="0" tIns="0" rIns="0" bIns="0" rtlCol="0" anchor="ctr"/>
          <a:lstStyle/>
          <a:p>
            <a:pPr marL="0" indent="0">
              <a:buNone/>
            </a:pPr>
            <a:r>
              <a:rPr lang="en-US" sz="2200" b="1" dirty="0">
                <a:solidFill>
                  <a:srgbClr val="F8FAFC"/>
                </a:solidFill>
                <a:latin typeface="Calibri" pitchFamily="34" charset="0"/>
                <a:ea typeface="Calibri" pitchFamily="34" charset="-122"/>
                <a:cs typeface="Calibri" pitchFamily="34" charset="-120"/>
              </a:rPr>
              <a:t>Compute</a:t>
            </a:r>
            <a:endParaRPr lang="en-US" sz="2200" dirty="0"/>
          </a:p>
        </p:txBody>
      </p:sp>
      <p:sp>
        <p:nvSpPr>
          <p:cNvPr id="24" name="Shape 22"/>
          <p:cNvSpPr/>
          <p:nvPr/>
        </p:nvSpPr>
        <p:spPr>
          <a:xfrm>
            <a:off x="3611880" y="2880360"/>
            <a:ext cx="457200" cy="36576"/>
          </a:xfrm>
          <a:prstGeom prst="rect">
            <a:avLst/>
          </a:prstGeom>
          <a:solidFill>
            <a:srgbClr val="E879F9"/>
          </a:solidFill>
          <a:ln w="12700">
            <a:solidFill>
              <a:srgbClr val="333333"/>
            </a:solidFill>
            <a:prstDash val="solid"/>
          </a:ln>
        </p:spPr>
        <p:txBody>
          <a:bodyPr/>
          <a:lstStyle/>
          <a:p>
            <a:endParaRPr lang="en-IN"/>
          </a:p>
        </p:txBody>
      </p:sp>
      <p:sp>
        <p:nvSpPr>
          <p:cNvPr id="25" name="Text 23"/>
          <p:cNvSpPr/>
          <p:nvPr/>
        </p:nvSpPr>
        <p:spPr>
          <a:xfrm>
            <a:off x="3611880" y="3063240"/>
            <a:ext cx="2240280" cy="256032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GPUs and TPUs make training networks with millions of parameters tractable.</a:t>
            </a:r>
            <a:endParaRPr lang="en-US" sz="1300" dirty="0"/>
          </a:p>
        </p:txBody>
      </p:sp>
      <p:sp>
        <p:nvSpPr>
          <p:cNvPr id="26" name="Shape 24"/>
          <p:cNvSpPr/>
          <p:nvPr/>
        </p:nvSpPr>
        <p:spPr>
          <a:xfrm>
            <a:off x="6217920" y="1920240"/>
            <a:ext cx="2697480" cy="393192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27" name="Shape 25"/>
          <p:cNvSpPr/>
          <p:nvPr/>
        </p:nvSpPr>
        <p:spPr>
          <a:xfrm>
            <a:off x="6217920" y="1920240"/>
            <a:ext cx="2697480" cy="73152"/>
          </a:xfrm>
          <a:prstGeom prst="rect">
            <a:avLst/>
          </a:prstGeom>
          <a:solidFill>
            <a:srgbClr val="22D3EE"/>
          </a:solidFill>
          <a:ln w="12700">
            <a:solidFill>
              <a:srgbClr val="333333"/>
            </a:solidFill>
            <a:prstDash val="solid"/>
          </a:ln>
        </p:spPr>
        <p:txBody>
          <a:bodyPr/>
          <a:lstStyle/>
          <a:p>
            <a:endParaRPr lang="en-IN"/>
          </a:p>
        </p:txBody>
      </p:sp>
      <p:sp>
        <p:nvSpPr>
          <p:cNvPr id="28" name="Text 26"/>
          <p:cNvSpPr/>
          <p:nvPr/>
        </p:nvSpPr>
        <p:spPr>
          <a:xfrm>
            <a:off x="6446520" y="2286000"/>
            <a:ext cx="2240280" cy="548640"/>
          </a:xfrm>
          <a:prstGeom prst="rect">
            <a:avLst/>
          </a:prstGeom>
          <a:noFill/>
          <a:ln/>
        </p:spPr>
        <p:txBody>
          <a:bodyPr wrap="square" lIns="0" tIns="0" rIns="0" bIns="0" rtlCol="0" anchor="ctr"/>
          <a:lstStyle/>
          <a:p>
            <a:pPr marL="0" indent="0">
              <a:buNone/>
            </a:pPr>
            <a:r>
              <a:rPr lang="en-US" sz="2200" b="1" dirty="0">
                <a:solidFill>
                  <a:srgbClr val="F8FAFC"/>
                </a:solidFill>
                <a:latin typeface="Calibri" pitchFamily="34" charset="0"/>
                <a:ea typeface="Calibri" pitchFamily="34" charset="-122"/>
                <a:cs typeface="Calibri" pitchFamily="34" charset="-120"/>
              </a:rPr>
              <a:t>Algorithms</a:t>
            </a:r>
            <a:endParaRPr lang="en-US" sz="2200" dirty="0"/>
          </a:p>
        </p:txBody>
      </p:sp>
      <p:sp>
        <p:nvSpPr>
          <p:cNvPr id="29" name="Shape 27"/>
          <p:cNvSpPr/>
          <p:nvPr/>
        </p:nvSpPr>
        <p:spPr>
          <a:xfrm>
            <a:off x="6446520" y="2880360"/>
            <a:ext cx="457200" cy="36576"/>
          </a:xfrm>
          <a:prstGeom prst="rect">
            <a:avLst/>
          </a:prstGeom>
          <a:solidFill>
            <a:srgbClr val="22D3EE"/>
          </a:solidFill>
          <a:ln w="12700">
            <a:solidFill>
              <a:srgbClr val="333333"/>
            </a:solidFill>
            <a:prstDash val="solid"/>
          </a:ln>
        </p:spPr>
        <p:txBody>
          <a:bodyPr/>
          <a:lstStyle/>
          <a:p>
            <a:endParaRPr lang="en-IN"/>
          </a:p>
        </p:txBody>
      </p:sp>
      <p:sp>
        <p:nvSpPr>
          <p:cNvPr id="30" name="Text 28"/>
          <p:cNvSpPr/>
          <p:nvPr/>
        </p:nvSpPr>
        <p:spPr>
          <a:xfrm>
            <a:off x="6446520" y="3063240"/>
            <a:ext cx="2240280" cy="256032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Better optimizers, activations, and architectures unlock deeper, more stable models.</a:t>
            </a:r>
            <a:endParaRPr lang="en-US" sz="1300" dirty="0"/>
          </a:p>
        </p:txBody>
      </p:sp>
      <p:sp>
        <p:nvSpPr>
          <p:cNvPr id="31" name="Shape 29"/>
          <p:cNvSpPr/>
          <p:nvPr/>
        </p:nvSpPr>
        <p:spPr>
          <a:xfrm>
            <a:off x="9052560" y="1920240"/>
            <a:ext cx="2697480" cy="393192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32" name="Shape 30"/>
          <p:cNvSpPr/>
          <p:nvPr/>
        </p:nvSpPr>
        <p:spPr>
          <a:xfrm>
            <a:off x="9052560" y="1920240"/>
            <a:ext cx="2697480" cy="73152"/>
          </a:xfrm>
          <a:prstGeom prst="rect">
            <a:avLst/>
          </a:prstGeom>
          <a:solidFill>
            <a:srgbClr val="E879F9"/>
          </a:solidFill>
          <a:ln w="12700">
            <a:solidFill>
              <a:srgbClr val="333333"/>
            </a:solidFill>
            <a:prstDash val="solid"/>
          </a:ln>
        </p:spPr>
        <p:txBody>
          <a:bodyPr/>
          <a:lstStyle/>
          <a:p>
            <a:endParaRPr lang="en-IN"/>
          </a:p>
        </p:txBody>
      </p:sp>
      <p:sp>
        <p:nvSpPr>
          <p:cNvPr id="33" name="Text 31"/>
          <p:cNvSpPr/>
          <p:nvPr/>
        </p:nvSpPr>
        <p:spPr>
          <a:xfrm>
            <a:off x="9281160" y="2286000"/>
            <a:ext cx="2240280" cy="548640"/>
          </a:xfrm>
          <a:prstGeom prst="rect">
            <a:avLst/>
          </a:prstGeom>
          <a:noFill/>
          <a:ln/>
        </p:spPr>
        <p:txBody>
          <a:bodyPr wrap="square" lIns="0" tIns="0" rIns="0" bIns="0" rtlCol="0" anchor="ctr"/>
          <a:lstStyle/>
          <a:p>
            <a:pPr marL="0" indent="0">
              <a:buNone/>
            </a:pPr>
            <a:r>
              <a:rPr lang="en-US" sz="2200" b="1" dirty="0">
                <a:solidFill>
                  <a:srgbClr val="F8FAFC"/>
                </a:solidFill>
                <a:latin typeface="Calibri" pitchFamily="34" charset="0"/>
                <a:ea typeface="Calibri" pitchFamily="34" charset="-122"/>
                <a:cs typeface="Calibri" pitchFamily="34" charset="-120"/>
              </a:rPr>
              <a:t>Frameworks</a:t>
            </a:r>
            <a:endParaRPr lang="en-US" sz="2200" dirty="0"/>
          </a:p>
        </p:txBody>
      </p:sp>
      <p:sp>
        <p:nvSpPr>
          <p:cNvPr id="34" name="Shape 32"/>
          <p:cNvSpPr/>
          <p:nvPr/>
        </p:nvSpPr>
        <p:spPr>
          <a:xfrm>
            <a:off x="9281160" y="2880360"/>
            <a:ext cx="457200" cy="36576"/>
          </a:xfrm>
          <a:prstGeom prst="rect">
            <a:avLst/>
          </a:prstGeom>
          <a:solidFill>
            <a:srgbClr val="E879F9"/>
          </a:solidFill>
          <a:ln w="12700">
            <a:solidFill>
              <a:srgbClr val="333333"/>
            </a:solidFill>
            <a:prstDash val="solid"/>
          </a:ln>
        </p:spPr>
        <p:txBody>
          <a:bodyPr/>
          <a:lstStyle/>
          <a:p>
            <a:endParaRPr lang="en-IN"/>
          </a:p>
        </p:txBody>
      </p:sp>
      <p:sp>
        <p:nvSpPr>
          <p:cNvPr id="35" name="Text 33"/>
          <p:cNvSpPr/>
          <p:nvPr/>
        </p:nvSpPr>
        <p:spPr>
          <a:xfrm>
            <a:off x="9281160" y="3063240"/>
            <a:ext cx="2240280" cy="256032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Tools like PyTorch let you go from idea to trained model in hours, not weeks.</a:t>
            </a:r>
            <a:endParaRPr lang="en-US" sz="1300" dirty="0"/>
          </a:p>
        </p:txBody>
      </p:sp>
      <p:sp>
        <p:nvSpPr>
          <p:cNvPr id="36" name="Text 34"/>
          <p:cNvSpPr/>
          <p:nvPr/>
        </p:nvSpPr>
        <p:spPr>
          <a:xfrm>
            <a:off x="548640" y="6035040"/>
            <a:ext cx="10972800" cy="365760"/>
          </a:xfrm>
          <a:prstGeom prst="rect">
            <a:avLst/>
          </a:prstGeom>
          <a:noFill/>
          <a:ln/>
        </p:spPr>
        <p:txBody>
          <a:bodyPr wrap="square" lIns="0" tIns="0" rIns="0" bIns="0" rtlCol="0" anchor="ctr"/>
          <a:lstStyle/>
          <a:p>
            <a:pPr marL="0" indent="0" algn="ctr">
              <a:buNone/>
            </a:pPr>
            <a:r>
              <a:rPr lang="en-US" sz="1400" i="1" dirty="0">
                <a:solidFill>
                  <a:srgbClr val="22D3EE"/>
                </a:solidFill>
                <a:latin typeface="Calibri" pitchFamily="34" charset="0"/>
                <a:ea typeface="Calibri" pitchFamily="34" charset="-122"/>
                <a:cs typeface="Calibri" pitchFamily="34" charset="-120"/>
              </a:rPr>
              <a:t>In short: the perfect storm of data, hardware, math, and tooling.</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11247120" y="137160"/>
            <a:ext cx="365760" cy="182880"/>
          </a:xfrm>
          <a:prstGeom prst="line">
            <a:avLst/>
          </a:prstGeom>
          <a:noFill/>
          <a:ln w="9525">
            <a:solidFill>
              <a:srgbClr val="22D3EE">
                <a:alpha val="50000"/>
              </a:srgbClr>
            </a:solidFill>
            <a:prstDash val="solid"/>
          </a:ln>
        </p:spPr>
        <p:txBody>
          <a:bodyPr/>
          <a:lstStyle/>
          <a:p>
            <a:endParaRPr lang="en-IN"/>
          </a:p>
        </p:txBody>
      </p:sp>
      <p:sp>
        <p:nvSpPr>
          <p:cNvPr id="3" name="Shape 1"/>
          <p:cNvSpPr/>
          <p:nvPr/>
        </p:nvSpPr>
        <p:spPr>
          <a:xfrm>
            <a:off x="11247120" y="137160"/>
            <a:ext cx="228600" cy="411480"/>
          </a:xfrm>
          <a:prstGeom prst="line">
            <a:avLst/>
          </a:prstGeom>
          <a:noFill/>
          <a:ln w="9525">
            <a:solidFill>
              <a:srgbClr val="22D3EE">
                <a:alpha val="50000"/>
              </a:srgbClr>
            </a:solidFill>
            <a:prstDash val="solid"/>
          </a:ln>
        </p:spPr>
        <p:txBody>
          <a:bodyPr/>
          <a:lstStyle/>
          <a:p>
            <a:endParaRPr lang="en-IN"/>
          </a:p>
        </p:txBody>
      </p:sp>
      <p:sp>
        <p:nvSpPr>
          <p:cNvPr id="4" name="Shape 2"/>
          <p:cNvSpPr/>
          <p:nvPr/>
        </p:nvSpPr>
        <p:spPr>
          <a:xfrm>
            <a:off x="11612880" y="320040"/>
            <a:ext cx="228600" cy="182880"/>
          </a:xfrm>
          <a:prstGeom prst="line">
            <a:avLst/>
          </a:prstGeom>
          <a:noFill/>
          <a:ln w="9525">
            <a:solidFill>
              <a:srgbClr val="22D3EE">
                <a:alpha val="50000"/>
              </a:srgbClr>
            </a:solidFill>
            <a:prstDash val="solid"/>
          </a:ln>
        </p:spPr>
        <p:txBody>
          <a:bodyPr/>
          <a:lstStyle/>
          <a:p>
            <a:endParaRPr lang="en-IN"/>
          </a:p>
        </p:txBody>
      </p:sp>
      <p:sp>
        <p:nvSpPr>
          <p:cNvPr id="5" name="Shape 3"/>
          <p:cNvSpPr/>
          <p:nvPr/>
        </p:nvSpPr>
        <p:spPr>
          <a:xfrm flipV="1">
            <a:off x="11475720" y="502920"/>
            <a:ext cx="365760" cy="45720"/>
          </a:xfrm>
          <a:prstGeom prst="line">
            <a:avLst/>
          </a:prstGeom>
          <a:noFill/>
          <a:ln w="9525">
            <a:solidFill>
              <a:srgbClr val="22D3EE">
                <a:alpha val="50000"/>
              </a:srgbClr>
            </a:solidFill>
            <a:prstDash val="solid"/>
          </a:ln>
        </p:spPr>
        <p:txBody>
          <a:bodyPr/>
          <a:lstStyle/>
          <a:p>
            <a:endParaRPr lang="en-IN"/>
          </a:p>
        </p:txBody>
      </p:sp>
      <p:sp>
        <p:nvSpPr>
          <p:cNvPr id="6" name="Shape 4"/>
          <p:cNvSpPr/>
          <p:nvPr/>
        </p:nvSpPr>
        <p:spPr>
          <a:xfrm>
            <a:off x="11183112" y="73152"/>
            <a:ext cx="128016" cy="128016"/>
          </a:xfrm>
          <a:prstGeom prst="ellipse">
            <a:avLst/>
          </a:prstGeom>
          <a:solidFill>
            <a:srgbClr val="22D3EE"/>
          </a:solidFill>
          <a:ln w="12700">
            <a:solidFill>
              <a:srgbClr val="22D3EE"/>
            </a:solidFill>
            <a:prstDash val="solid"/>
          </a:ln>
        </p:spPr>
        <p:txBody>
          <a:bodyPr/>
          <a:lstStyle/>
          <a:p>
            <a:endParaRPr lang="en-IN"/>
          </a:p>
        </p:txBody>
      </p:sp>
      <p:sp>
        <p:nvSpPr>
          <p:cNvPr id="7" name="Shape 5"/>
          <p:cNvSpPr/>
          <p:nvPr/>
        </p:nvSpPr>
        <p:spPr>
          <a:xfrm>
            <a:off x="11548872" y="256032"/>
            <a:ext cx="128016" cy="128016"/>
          </a:xfrm>
          <a:prstGeom prst="ellipse">
            <a:avLst/>
          </a:prstGeom>
          <a:solidFill>
            <a:srgbClr val="E879F9"/>
          </a:solidFill>
          <a:ln w="12700">
            <a:solidFill>
              <a:srgbClr val="E879F9"/>
            </a:solidFill>
            <a:prstDash val="solid"/>
          </a:ln>
        </p:spPr>
        <p:txBody>
          <a:bodyPr/>
          <a:lstStyle/>
          <a:p>
            <a:endParaRPr lang="en-IN"/>
          </a:p>
        </p:txBody>
      </p:sp>
      <p:sp>
        <p:nvSpPr>
          <p:cNvPr id="8" name="Shape 6"/>
          <p:cNvSpPr/>
          <p:nvPr/>
        </p:nvSpPr>
        <p:spPr>
          <a:xfrm>
            <a:off x="11411712" y="484632"/>
            <a:ext cx="128016" cy="128016"/>
          </a:xfrm>
          <a:prstGeom prst="ellipse">
            <a:avLst/>
          </a:prstGeom>
          <a:solidFill>
            <a:srgbClr val="22D3EE"/>
          </a:solidFill>
          <a:ln w="12700">
            <a:solidFill>
              <a:srgbClr val="22D3EE"/>
            </a:solidFill>
            <a:prstDash val="solid"/>
          </a:ln>
        </p:spPr>
        <p:txBody>
          <a:bodyPr/>
          <a:lstStyle/>
          <a:p>
            <a:endParaRPr lang="en-IN"/>
          </a:p>
        </p:txBody>
      </p:sp>
      <p:sp>
        <p:nvSpPr>
          <p:cNvPr id="9" name="Shape 7"/>
          <p:cNvSpPr/>
          <p:nvPr/>
        </p:nvSpPr>
        <p:spPr>
          <a:xfrm>
            <a:off x="11777472" y="438912"/>
            <a:ext cx="128016" cy="128016"/>
          </a:xfrm>
          <a:prstGeom prst="ellipse">
            <a:avLst/>
          </a:prstGeom>
          <a:solidFill>
            <a:srgbClr val="E879F9"/>
          </a:solidFill>
          <a:ln w="12700">
            <a:solidFill>
              <a:srgbClr val="E879F9"/>
            </a:solidFill>
            <a:prstDash val="solid"/>
          </a:ln>
        </p:spPr>
        <p:txBody>
          <a:bodyPr/>
          <a:lstStyle/>
          <a:p>
            <a:endParaRPr lang="en-IN"/>
          </a:p>
        </p:txBody>
      </p:sp>
      <p:sp>
        <p:nvSpPr>
          <p:cNvPr id="10" name="Shape 8"/>
          <p:cNvSpPr/>
          <p:nvPr/>
        </p:nvSpPr>
        <p:spPr>
          <a:xfrm>
            <a:off x="0" y="6693408"/>
            <a:ext cx="12161520" cy="36576"/>
          </a:xfrm>
          <a:prstGeom prst="rect">
            <a:avLst/>
          </a:prstGeom>
          <a:solidFill>
            <a:srgbClr val="22D3EE"/>
          </a:solidFill>
          <a:ln w="12700">
            <a:solidFill>
              <a:srgbClr val="22D3EE"/>
            </a:solidFill>
            <a:prstDash val="solid"/>
          </a:ln>
        </p:spPr>
        <p:txBody>
          <a:bodyPr/>
          <a:lstStyle/>
          <a:p>
            <a:endParaRPr lang="en-IN"/>
          </a:p>
        </p:txBody>
      </p:sp>
      <p:sp>
        <p:nvSpPr>
          <p:cNvPr id="11" name="Text 9"/>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Deep Learning Onboarding  ·  Intern Training</a:t>
            </a:r>
            <a:endParaRPr lang="en-US" sz="1000" dirty="0"/>
          </a:p>
        </p:txBody>
      </p:sp>
      <p:sp>
        <p:nvSpPr>
          <p:cNvPr id="12" name="Text 10"/>
          <p:cNvSpPr/>
          <p:nvPr/>
        </p:nvSpPr>
        <p:spPr>
          <a:xfrm>
            <a:off x="10698480" y="6446520"/>
            <a:ext cx="914400" cy="27432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5 / 13</a:t>
            </a:r>
            <a:endParaRPr lang="en-US" sz="1000" dirty="0"/>
          </a:p>
        </p:txBody>
      </p:sp>
      <p:sp>
        <p:nvSpPr>
          <p:cNvPr id="13" name="Text 11"/>
          <p:cNvSpPr/>
          <p:nvPr/>
        </p:nvSpPr>
        <p:spPr>
          <a:xfrm>
            <a:off x="548640" y="411480"/>
            <a:ext cx="9144000" cy="320040"/>
          </a:xfrm>
          <a:prstGeom prst="rect">
            <a:avLst/>
          </a:prstGeom>
          <a:noFill/>
          <a:ln/>
        </p:spPr>
        <p:txBody>
          <a:bodyPr wrap="square" lIns="0" tIns="0" rIns="0" bIns="0" rtlCol="0" anchor="ctr"/>
          <a:lstStyle/>
          <a:p>
            <a:pPr marL="0" indent="0">
              <a:buNone/>
            </a:pPr>
            <a:r>
              <a:rPr lang="en-US" sz="1100" b="1" kern="0" spc="400" dirty="0">
                <a:solidFill>
                  <a:srgbClr val="22D3EE"/>
                </a:solidFill>
                <a:latin typeface="Calibri" pitchFamily="34" charset="0"/>
                <a:ea typeface="Calibri" pitchFamily="34" charset="-122"/>
                <a:cs typeface="Calibri" pitchFamily="34" charset="-120"/>
              </a:rPr>
              <a:t>MODULE 2</a:t>
            </a:r>
            <a:endParaRPr lang="en-US" sz="1100" dirty="0"/>
          </a:p>
        </p:txBody>
      </p:sp>
      <p:sp>
        <p:nvSpPr>
          <p:cNvPr id="14" name="Text 12"/>
          <p:cNvSpPr/>
          <p:nvPr/>
        </p:nvSpPr>
        <p:spPr>
          <a:xfrm>
            <a:off x="548640" y="713232"/>
            <a:ext cx="10515600" cy="77724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Anatomy of a neural network</a:t>
            </a:r>
            <a:endParaRPr lang="en-US" sz="3200" dirty="0"/>
          </a:p>
        </p:txBody>
      </p:sp>
      <p:sp>
        <p:nvSpPr>
          <p:cNvPr id="15" name="Shape 13"/>
          <p:cNvSpPr/>
          <p:nvPr/>
        </p:nvSpPr>
        <p:spPr>
          <a:xfrm>
            <a:off x="548640" y="1481328"/>
            <a:ext cx="548640" cy="54864"/>
          </a:xfrm>
          <a:prstGeom prst="rect">
            <a:avLst/>
          </a:prstGeom>
          <a:solidFill>
            <a:srgbClr val="E879F9"/>
          </a:solidFill>
          <a:ln w="12700">
            <a:solidFill>
              <a:srgbClr val="E879F9"/>
            </a:solidFill>
            <a:prstDash val="solid"/>
          </a:ln>
        </p:spPr>
        <p:txBody>
          <a:bodyPr/>
          <a:lstStyle/>
          <a:p>
            <a:endParaRPr lang="en-IN"/>
          </a:p>
        </p:txBody>
      </p:sp>
      <p:sp>
        <p:nvSpPr>
          <p:cNvPr id="16" name="Shape 14"/>
          <p:cNvSpPr/>
          <p:nvPr/>
        </p:nvSpPr>
        <p:spPr>
          <a:xfrm>
            <a:off x="548640" y="1874520"/>
            <a:ext cx="6858000" cy="420624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17" name="Shape 15"/>
          <p:cNvSpPr/>
          <p:nvPr/>
        </p:nvSpPr>
        <p:spPr>
          <a:xfrm flipV="1">
            <a:off x="1188720" y="2468880"/>
            <a:ext cx="2011680" cy="274320"/>
          </a:xfrm>
          <a:prstGeom prst="line">
            <a:avLst/>
          </a:prstGeom>
          <a:noFill/>
          <a:ln w="6350">
            <a:solidFill>
              <a:srgbClr val="F8FAFC">
                <a:alpha val="20000"/>
              </a:srgbClr>
            </a:solidFill>
            <a:prstDash val="solid"/>
          </a:ln>
        </p:spPr>
        <p:txBody>
          <a:bodyPr/>
          <a:lstStyle/>
          <a:p>
            <a:endParaRPr lang="en-IN"/>
          </a:p>
        </p:txBody>
      </p:sp>
      <p:sp>
        <p:nvSpPr>
          <p:cNvPr id="18" name="Shape 16"/>
          <p:cNvSpPr/>
          <p:nvPr/>
        </p:nvSpPr>
        <p:spPr>
          <a:xfrm>
            <a:off x="1188720" y="2743200"/>
            <a:ext cx="2011680" cy="548640"/>
          </a:xfrm>
          <a:prstGeom prst="line">
            <a:avLst/>
          </a:prstGeom>
          <a:noFill/>
          <a:ln w="6350">
            <a:solidFill>
              <a:srgbClr val="F8FAFC">
                <a:alpha val="20000"/>
              </a:srgbClr>
            </a:solidFill>
            <a:prstDash val="solid"/>
          </a:ln>
        </p:spPr>
        <p:txBody>
          <a:bodyPr/>
          <a:lstStyle/>
          <a:p>
            <a:endParaRPr lang="en-IN"/>
          </a:p>
        </p:txBody>
      </p:sp>
      <p:sp>
        <p:nvSpPr>
          <p:cNvPr id="19" name="Shape 17"/>
          <p:cNvSpPr/>
          <p:nvPr/>
        </p:nvSpPr>
        <p:spPr>
          <a:xfrm>
            <a:off x="1188720" y="2743200"/>
            <a:ext cx="2011680" cy="1371600"/>
          </a:xfrm>
          <a:prstGeom prst="line">
            <a:avLst/>
          </a:prstGeom>
          <a:noFill/>
          <a:ln w="6350">
            <a:solidFill>
              <a:srgbClr val="F8FAFC">
                <a:alpha val="20000"/>
              </a:srgbClr>
            </a:solidFill>
            <a:prstDash val="solid"/>
          </a:ln>
        </p:spPr>
        <p:txBody>
          <a:bodyPr/>
          <a:lstStyle/>
          <a:p>
            <a:endParaRPr lang="en-IN"/>
          </a:p>
        </p:txBody>
      </p:sp>
      <p:sp>
        <p:nvSpPr>
          <p:cNvPr id="20" name="Shape 18"/>
          <p:cNvSpPr/>
          <p:nvPr/>
        </p:nvSpPr>
        <p:spPr>
          <a:xfrm>
            <a:off x="1188720" y="2743200"/>
            <a:ext cx="2011680" cy="2194560"/>
          </a:xfrm>
          <a:prstGeom prst="line">
            <a:avLst/>
          </a:prstGeom>
          <a:noFill/>
          <a:ln w="6350">
            <a:solidFill>
              <a:srgbClr val="F8FAFC">
                <a:alpha val="20000"/>
              </a:srgbClr>
            </a:solidFill>
            <a:prstDash val="solid"/>
          </a:ln>
        </p:spPr>
        <p:txBody>
          <a:bodyPr/>
          <a:lstStyle/>
          <a:p>
            <a:endParaRPr lang="en-IN"/>
          </a:p>
        </p:txBody>
      </p:sp>
      <p:sp>
        <p:nvSpPr>
          <p:cNvPr id="21" name="Shape 19"/>
          <p:cNvSpPr/>
          <p:nvPr/>
        </p:nvSpPr>
        <p:spPr>
          <a:xfrm>
            <a:off x="1188720" y="2743200"/>
            <a:ext cx="2011680" cy="2743200"/>
          </a:xfrm>
          <a:prstGeom prst="line">
            <a:avLst/>
          </a:prstGeom>
          <a:noFill/>
          <a:ln w="6350">
            <a:solidFill>
              <a:srgbClr val="F8FAFC">
                <a:alpha val="20000"/>
              </a:srgbClr>
            </a:solidFill>
            <a:prstDash val="solid"/>
          </a:ln>
        </p:spPr>
        <p:txBody>
          <a:bodyPr/>
          <a:lstStyle/>
          <a:p>
            <a:endParaRPr lang="en-IN"/>
          </a:p>
        </p:txBody>
      </p:sp>
      <p:sp>
        <p:nvSpPr>
          <p:cNvPr id="22" name="Shape 20"/>
          <p:cNvSpPr/>
          <p:nvPr/>
        </p:nvSpPr>
        <p:spPr>
          <a:xfrm flipV="1">
            <a:off x="1188720" y="2468880"/>
            <a:ext cx="2011680" cy="1097280"/>
          </a:xfrm>
          <a:prstGeom prst="line">
            <a:avLst/>
          </a:prstGeom>
          <a:noFill/>
          <a:ln w="6350">
            <a:solidFill>
              <a:srgbClr val="F8FAFC">
                <a:alpha val="20000"/>
              </a:srgbClr>
            </a:solidFill>
            <a:prstDash val="solid"/>
          </a:ln>
        </p:spPr>
        <p:txBody>
          <a:bodyPr/>
          <a:lstStyle/>
          <a:p>
            <a:endParaRPr lang="en-IN"/>
          </a:p>
        </p:txBody>
      </p:sp>
      <p:sp>
        <p:nvSpPr>
          <p:cNvPr id="23" name="Shape 21"/>
          <p:cNvSpPr/>
          <p:nvPr/>
        </p:nvSpPr>
        <p:spPr>
          <a:xfrm flipV="1">
            <a:off x="1188720" y="3291840"/>
            <a:ext cx="2011680" cy="274320"/>
          </a:xfrm>
          <a:prstGeom prst="line">
            <a:avLst/>
          </a:prstGeom>
          <a:noFill/>
          <a:ln w="6350">
            <a:solidFill>
              <a:srgbClr val="F8FAFC">
                <a:alpha val="20000"/>
              </a:srgbClr>
            </a:solidFill>
            <a:prstDash val="solid"/>
          </a:ln>
        </p:spPr>
        <p:txBody>
          <a:bodyPr/>
          <a:lstStyle/>
          <a:p>
            <a:endParaRPr lang="en-IN"/>
          </a:p>
        </p:txBody>
      </p:sp>
      <p:sp>
        <p:nvSpPr>
          <p:cNvPr id="24" name="Shape 22"/>
          <p:cNvSpPr/>
          <p:nvPr/>
        </p:nvSpPr>
        <p:spPr>
          <a:xfrm>
            <a:off x="1188720" y="3566160"/>
            <a:ext cx="2011680" cy="548640"/>
          </a:xfrm>
          <a:prstGeom prst="line">
            <a:avLst/>
          </a:prstGeom>
          <a:noFill/>
          <a:ln w="6350">
            <a:solidFill>
              <a:srgbClr val="F8FAFC">
                <a:alpha val="20000"/>
              </a:srgbClr>
            </a:solidFill>
            <a:prstDash val="solid"/>
          </a:ln>
        </p:spPr>
        <p:txBody>
          <a:bodyPr/>
          <a:lstStyle/>
          <a:p>
            <a:endParaRPr lang="en-IN"/>
          </a:p>
        </p:txBody>
      </p:sp>
      <p:sp>
        <p:nvSpPr>
          <p:cNvPr id="25" name="Shape 23"/>
          <p:cNvSpPr/>
          <p:nvPr/>
        </p:nvSpPr>
        <p:spPr>
          <a:xfrm>
            <a:off x="1188720" y="3566160"/>
            <a:ext cx="2011680" cy="1371600"/>
          </a:xfrm>
          <a:prstGeom prst="line">
            <a:avLst/>
          </a:prstGeom>
          <a:noFill/>
          <a:ln w="6350">
            <a:solidFill>
              <a:srgbClr val="F8FAFC">
                <a:alpha val="20000"/>
              </a:srgbClr>
            </a:solidFill>
            <a:prstDash val="solid"/>
          </a:ln>
        </p:spPr>
        <p:txBody>
          <a:bodyPr/>
          <a:lstStyle/>
          <a:p>
            <a:endParaRPr lang="en-IN"/>
          </a:p>
        </p:txBody>
      </p:sp>
      <p:sp>
        <p:nvSpPr>
          <p:cNvPr id="26" name="Shape 24"/>
          <p:cNvSpPr/>
          <p:nvPr/>
        </p:nvSpPr>
        <p:spPr>
          <a:xfrm>
            <a:off x="1188720" y="3566160"/>
            <a:ext cx="2011680" cy="1920240"/>
          </a:xfrm>
          <a:prstGeom prst="line">
            <a:avLst/>
          </a:prstGeom>
          <a:noFill/>
          <a:ln w="6350">
            <a:solidFill>
              <a:srgbClr val="F8FAFC">
                <a:alpha val="20000"/>
              </a:srgbClr>
            </a:solidFill>
            <a:prstDash val="solid"/>
          </a:ln>
        </p:spPr>
        <p:txBody>
          <a:bodyPr/>
          <a:lstStyle/>
          <a:p>
            <a:endParaRPr lang="en-IN"/>
          </a:p>
        </p:txBody>
      </p:sp>
      <p:sp>
        <p:nvSpPr>
          <p:cNvPr id="27" name="Shape 25"/>
          <p:cNvSpPr/>
          <p:nvPr/>
        </p:nvSpPr>
        <p:spPr>
          <a:xfrm flipV="1">
            <a:off x="1188720" y="2468880"/>
            <a:ext cx="2011680" cy="1920240"/>
          </a:xfrm>
          <a:prstGeom prst="line">
            <a:avLst/>
          </a:prstGeom>
          <a:noFill/>
          <a:ln w="6350">
            <a:solidFill>
              <a:srgbClr val="F8FAFC">
                <a:alpha val="20000"/>
              </a:srgbClr>
            </a:solidFill>
            <a:prstDash val="solid"/>
          </a:ln>
        </p:spPr>
        <p:txBody>
          <a:bodyPr/>
          <a:lstStyle/>
          <a:p>
            <a:endParaRPr lang="en-IN"/>
          </a:p>
        </p:txBody>
      </p:sp>
      <p:sp>
        <p:nvSpPr>
          <p:cNvPr id="28" name="Shape 26"/>
          <p:cNvSpPr/>
          <p:nvPr/>
        </p:nvSpPr>
        <p:spPr>
          <a:xfrm flipV="1">
            <a:off x="1188720" y="3291840"/>
            <a:ext cx="2011680" cy="1097280"/>
          </a:xfrm>
          <a:prstGeom prst="line">
            <a:avLst/>
          </a:prstGeom>
          <a:noFill/>
          <a:ln w="6350">
            <a:solidFill>
              <a:srgbClr val="F8FAFC">
                <a:alpha val="20000"/>
              </a:srgbClr>
            </a:solidFill>
            <a:prstDash val="solid"/>
          </a:ln>
        </p:spPr>
        <p:txBody>
          <a:bodyPr/>
          <a:lstStyle/>
          <a:p>
            <a:endParaRPr lang="en-IN"/>
          </a:p>
        </p:txBody>
      </p:sp>
      <p:sp>
        <p:nvSpPr>
          <p:cNvPr id="29" name="Shape 27"/>
          <p:cNvSpPr/>
          <p:nvPr/>
        </p:nvSpPr>
        <p:spPr>
          <a:xfrm flipV="1">
            <a:off x="1188720" y="4114800"/>
            <a:ext cx="2011680" cy="274320"/>
          </a:xfrm>
          <a:prstGeom prst="line">
            <a:avLst/>
          </a:prstGeom>
          <a:noFill/>
          <a:ln w="6350">
            <a:solidFill>
              <a:srgbClr val="F8FAFC">
                <a:alpha val="20000"/>
              </a:srgbClr>
            </a:solidFill>
            <a:prstDash val="solid"/>
          </a:ln>
        </p:spPr>
        <p:txBody>
          <a:bodyPr/>
          <a:lstStyle/>
          <a:p>
            <a:endParaRPr lang="en-IN"/>
          </a:p>
        </p:txBody>
      </p:sp>
      <p:sp>
        <p:nvSpPr>
          <p:cNvPr id="30" name="Shape 28"/>
          <p:cNvSpPr/>
          <p:nvPr/>
        </p:nvSpPr>
        <p:spPr>
          <a:xfrm>
            <a:off x="1188720" y="4389120"/>
            <a:ext cx="2011680" cy="548640"/>
          </a:xfrm>
          <a:prstGeom prst="line">
            <a:avLst/>
          </a:prstGeom>
          <a:noFill/>
          <a:ln w="6350">
            <a:solidFill>
              <a:srgbClr val="F8FAFC">
                <a:alpha val="20000"/>
              </a:srgbClr>
            </a:solidFill>
            <a:prstDash val="solid"/>
          </a:ln>
        </p:spPr>
        <p:txBody>
          <a:bodyPr/>
          <a:lstStyle/>
          <a:p>
            <a:endParaRPr lang="en-IN"/>
          </a:p>
        </p:txBody>
      </p:sp>
      <p:sp>
        <p:nvSpPr>
          <p:cNvPr id="31" name="Shape 29"/>
          <p:cNvSpPr/>
          <p:nvPr/>
        </p:nvSpPr>
        <p:spPr>
          <a:xfrm>
            <a:off x="1188720" y="4389120"/>
            <a:ext cx="2011680" cy="1097280"/>
          </a:xfrm>
          <a:prstGeom prst="line">
            <a:avLst/>
          </a:prstGeom>
          <a:noFill/>
          <a:ln w="6350">
            <a:solidFill>
              <a:srgbClr val="F8FAFC">
                <a:alpha val="20000"/>
              </a:srgbClr>
            </a:solidFill>
            <a:prstDash val="solid"/>
          </a:ln>
        </p:spPr>
        <p:txBody>
          <a:bodyPr/>
          <a:lstStyle/>
          <a:p>
            <a:endParaRPr lang="en-IN"/>
          </a:p>
        </p:txBody>
      </p:sp>
      <p:sp>
        <p:nvSpPr>
          <p:cNvPr id="32" name="Shape 30"/>
          <p:cNvSpPr/>
          <p:nvPr/>
        </p:nvSpPr>
        <p:spPr>
          <a:xfrm flipV="1">
            <a:off x="1188720" y="2468880"/>
            <a:ext cx="2011680" cy="2743200"/>
          </a:xfrm>
          <a:prstGeom prst="line">
            <a:avLst/>
          </a:prstGeom>
          <a:noFill/>
          <a:ln w="6350">
            <a:solidFill>
              <a:srgbClr val="F8FAFC">
                <a:alpha val="20000"/>
              </a:srgbClr>
            </a:solidFill>
            <a:prstDash val="solid"/>
          </a:ln>
        </p:spPr>
        <p:txBody>
          <a:bodyPr/>
          <a:lstStyle/>
          <a:p>
            <a:endParaRPr lang="en-IN"/>
          </a:p>
        </p:txBody>
      </p:sp>
      <p:sp>
        <p:nvSpPr>
          <p:cNvPr id="33" name="Shape 31"/>
          <p:cNvSpPr/>
          <p:nvPr/>
        </p:nvSpPr>
        <p:spPr>
          <a:xfrm flipV="1">
            <a:off x="1188720" y="3291840"/>
            <a:ext cx="2011680" cy="1920240"/>
          </a:xfrm>
          <a:prstGeom prst="line">
            <a:avLst/>
          </a:prstGeom>
          <a:noFill/>
          <a:ln w="6350">
            <a:solidFill>
              <a:srgbClr val="F8FAFC">
                <a:alpha val="20000"/>
              </a:srgbClr>
            </a:solidFill>
            <a:prstDash val="solid"/>
          </a:ln>
        </p:spPr>
        <p:txBody>
          <a:bodyPr/>
          <a:lstStyle/>
          <a:p>
            <a:endParaRPr lang="en-IN"/>
          </a:p>
        </p:txBody>
      </p:sp>
      <p:sp>
        <p:nvSpPr>
          <p:cNvPr id="34" name="Shape 32"/>
          <p:cNvSpPr/>
          <p:nvPr/>
        </p:nvSpPr>
        <p:spPr>
          <a:xfrm flipV="1">
            <a:off x="1188720" y="4114800"/>
            <a:ext cx="2011680" cy="1097280"/>
          </a:xfrm>
          <a:prstGeom prst="line">
            <a:avLst/>
          </a:prstGeom>
          <a:noFill/>
          <a:ln w="6350">
            <a:solidFill>
              <a:srgbClr val="F8FAFC">
                <a:alpha val="20000"/>
              </a:srgbClr>
            </a:solidFill>
            <a:prstDash val="solid"/>
          </a:ln>
        </p:spPr>
        <p:txBody>
          <a:bodyPr/>
          <a:lstStyle/>
          <a:p>
            <a:endParaRPr lang="en-IN"/>
          </a:p>
        </p:txBody>
      </p:sp>
      <p:sp>
        <p:nvSpPr>
          <p:cNvPr id="35" name="Shape 33"/>
          <p:cNvSpPr/>
          <p:nvPr/>
        </p:nvSpPr>
        <p:spPr>
          <a:xfrm flipV="1">
            <a:off x="1188720" y="4937760"/>
            <a:ext cx="2011680" cy="274320"/>
          </a:xfrm>
          <a:prstGeom prst="line">
            <a:avLst/>
          </a:prstGeom>
          <a:noFill/>
          <a:ln w="6350">
            <a:solidFill>
              <a:srgbClr val="F8FAFC">
                <a:alpha val="20000"/>
              </a:srgbClr>
            </a:solidFill>
            <a:prstDash val="solid"/>
          </a:ln>
        </p:spPr>
        <p:txBody>
          <a:bodyPr/>
          <a:lstStyle/>
          <a:p>
            <a:endParaRPr lang="en-IN"/>
          </a:p>
        </p:txBody>
      </p:sp>
      <p:sp>
        <p:nvSpPr>
          <p:cNvPr id="36" name="Shape 34"/>
          <p:cNvSpPr/>
          <p:nvPr/>
        </p:nvSpPr>
        <p:spPr>
          <a:xfrm>
            <a:off x="1188720" y="5212080"/>
            <a:ext cx="2011680" cy="274320"/>
          </a:xfrm>
          <a:prstGeom prst="line">
            <a:avLst/>
          </a:prstGeom>
          <a:noFill/>
          <a:ln w="6350">
            <a:solidFill>
              <a:srgbClr val="F8FAFC">
                <a:alpha val="20000"/>
              </a:srgbClr>
            </a:solidFill>
            <a:prstDash val="solid"/>
          </a:ln>
        </p:spPr>
        <p:txBody>
          <a:bodyPr/>
          <a:lstStyle/>
          <a:p>
            <a:endParaRPr lang="en-IN"/>
          </a:p>
        </p:txBody>
      </p:sp>
      <p:sp>
        <p:nvSpPr>
          <p:cNvPr id="37" name="Shape 35"/>
          <p:cNvSpPr/>
          <p:nvPr/>
        </p:nvSpPr>
        <p:spPr>
          <a:xfrm>
            <a:off x="3200400" y="2468880"/>
            <a:ext cx="2011680" cy="0"/>
          </a:xfrm>
          <a:prstGeom prst="line">
            <a:avLst/>
          </a:prstGeom>
          <a:noFill/>
          <a:ln w="6350">
            <a:solidFill>
              <a:srgbClr val="F8FAFC">
                <a:alpha val="20000"/>
              </a:srgbClr>
            </a:solidFill>
            <a:prstDash val="solid"/>
          </a:ln>
        </p:spPr>
        <p:txBody>
          <a:bodyPr/>
          <a:lstStyle/>
          <a:p>
            <a:endParaRPr lang="en-IN"/>
          </a:p>
        </p:txBody>
      </p:sp>
      <p:sp>
        <p:nvSpPr>
          <p:cNvPr id="38" name="Shape 36"/>
          <p:cNvSpPr/>
          <p:nvPr/>
        </p:nvSpPr>
        <p:spPr>
          <a:xfrm>
            <a:off x="3200400" y="2468880"/>
            <a:ext cx="2011680" cy="822960"/>
          </a:xfrm>
          <a:prstGeom prst="line">
            <a:avLst/>
          </a:prstGeom>
          <a:noFill/>
          <a:ln w="6350">
            <a:solidFill>
              <a:srgbClr val="F8FAFC">
                <a:alpha val="20000"/>
              </a:srgbClr>
            </a:solidFill>
            <a:prstDash val="solid"/>
          </a:ln>
        </p:spPr>
        <p:txBody>
          <a:bodyPr/>
          <a:lstStyle/>
          <a:p>
            <a:endParaRPr lang="en-IN"/>
          </a:p>
        </p:txBody>
      </p:sp>
      <p:sp>
        <p:nvSpPr>
          <p:cNvPr id="39" name="Shape 37"/>
          <p:cNvSpPr/>
          <p:nvPr/>
        </p:nvSpPr>
        <p:spPr>
          <a:xfrm>
            <a:off x="3200400" y="2468880"/>
            <a:ext cx="2011680" cy="1645920"/>
          </a:xfrm>
          <a:prstGeom prst="line">
            <a:avLst/>
          </a:prstGeom>
          <a:noFill/>
          <a:ln w="6350">
            <a:solidFill>
              <a:srgbClr val="F8FAFC">
                <a:alpha val="20000"/>
              </a:srgbClr>
            </a:solidFill>
            <a:prstDash val="solid"/>
          </a:ln>
        </p:spPr>
        <p:txBody>
          <a:bodyPr/>
          <a:lstStyle/>
          <a:p>
            <a:endParaRPr lang="en-IN"/>
          </a:p>
        </p:txBody>
      </p:sp>
      <p:sp>
        <p:nvSpPr>
          <p:cNvPr id="40" name="Shape 38"/>
          <p:cNvSpPr/>
          <p:nvPr/>
        </p:nvSpPr>
        <p:spPr>
          <a:xfrm>
            <a:off x="3200400" y="2468880"/>
            <a:ext cx="2011680" cy="2468880"/>
          </a:xfrm>
          <a:prstGeom prst="line">
            <a:avLst/>
          </a:prstGeom>
          <a:noFill/>
          <a:ln w="6350">
            <a:solidFill>
              <a:srgbClr val="F8FAFC">
                <a:alpha val="20000"/>
              </a:srgbClr>
            </a:solidFill>
            <a:prstDash val="solid"/>
          </a:ln>
        </p:spPr>
        <p:txBody>
          <a:bodyPr/>
          <a:lstStyle/>
          <a:p>
            <a:endParaRPr lang="en-IN"/>
          </a:p>
        </p:txBody>
      </p:sp>
      <p:sp>
        <p:nvSpPr>
          <p:cNvPr id="41" name="Shape 39"/>
          <p:cNvSpPr/>
          <p:nvPr/>
        </p:nvSpPr>
        <p:spPr>
          <a:xfrm>
            <a:off x="3200400" y="2468880"/>
            <a:ext cx="2011680" cy="3017520"/>
          </a:xfrm>
          <a:prstGeom prst="line">
            <a:avLst/>
          </a:prstGeom>
          <a:noFill/>
          <a:ln w="6350">
            <a:solidFill>
              <a:srgbClr val="F8FAFC">
                <a:alpha val="20000"/>
              </a:srgbClr>
            </a:solidFill>
            <a:prstDash val="solid"/>
          </a:ln>
        </p:spPr>
        <p:txBody>
          <a:bodyPr/>
          <a:lstStyle/>
          <a:p>
            <a:endParaRPr lang="en-IN"/>
          </a:p>
        </p:txBody>
      </p:sp>
      <p:sp>
        <p:nvSpPr>
          <p:cNvPr id="42" name="Shape 40"/>
          <p:cNvSpPr/>
          <p:nvPr/>
        </p:nvSpPr>
        <p:spPr>
          <a:xfrm flipV="1">
            <a:off x="3200400" y="2468880"/>
            <a:ext cx="2011680" cy="822960"/>
          </a:xfrm>
          <a:prstGeom prst="line">
            <a:avLst/>
          </a:prstGeom>
          <a:noFill/>
          <a:ln w="6350">
            <a:solidFill>
              <a:srgbClr val="F8FAFC">
                <a:alpha val="20000"/>
              </a:srgbClr>
            </a:solidFill>
            <a:prstDash val="solid"/>
          </a:ln>
        </p:spPr>
        <p:txBody>
          <a:bodyPr/>
          <a:lstStyle/>
          <a:p>
            <a:endParaRPr lang="en-IN"/>
          </a:p>
        </p:txBody>
      </p:sp>
      <p:sp>
        <p:nvSpPr>
          <p:cNvPr id="43" name="Shape 41"/>
          <p:cNvSpPr/>
          <p:nvPr/>
        </p:nvSpPr>
        <p:spPr>
          <a:xfrm>
            <a:off x="3200400" y="3291840"/>
            <a:ext cx="2011680" cy="0"/>
          </a:xfrm>
          <a:prstGeom prst="line">
            <a:avLst/>
          </a:prstGeom>
          <a:noFill/>
          <a:ln w="6350">
            <a:solidFill>
              <a:srgbClr val="F8FAFC">
                <a:alpha val="20000"/>
              </a:srgbClr>
            </a:solidFill>
            <a:prstDash val="solid"/>
          </a:ln>
        </p:spPr>
        <p:txBody>
          <a:bodyPr/>
          <a:lstStyle/>
          <a:p>
            <a:endParaRPr lang="en-IN"/>
          </a:p>
        </p:txBody>
      </p:sp>
      <p:sp>
        <p:nvSpPr>
          <p:cNvPr id="44" name="Shape 42"/>
          <p:cNvSpPr/>
          <p:nvPr/>
        </p:nvSpPr>
        <p:spPr>
          <a:xfrm>
            <a:off x="3200400" y="3291840"/>
            <a:ext cx="2011680" cy="822960"/>
          </a:xfrm>
          <a:prstGeom prst="line">
            <a:avLst/>
          </a:prstGeom>
          <a:noFill/>
          <a:ln w="6350">
            <a:solidFill>
              <a:srgbClr val="F8FAFC">
                <a:alpha val="20000"/>
              </a:srgbClr>
            </a:solidFill>
            <a:prstDash val="solid"/>
          </a:ln>
        </p:spPr>
        <p:txBody>
          <a:bodyPr/>
          <a:lstStyle/>
          <a:p>
            <a:endParaRPr lang="en-IN"/>
          </a:p>
        </p:txBody>
      </p:sp>
      <p:sp>
        <p:nvSpPr>
          <p:cNvPr id="45" name="Shape 43"/>
          <p:cNvSpPr/>
          <p:nvPr/>
        </p:nvSpPr>
        <p:spPr>
          <a:xfrm>
            <a:off x="3200400" y="3291840"/>
            <a:ext cx="2011680" cy="1645920"/>
          </a:xfrm>
          <a:prstGeom prst="line">
            <a:avLst/>
          </a:prstGeom>
          <a:noFill/>
          <a:ln w="6350">
            <a:solidFill>
              <a:srgbClr val="F8FAFC">
                <a:alpha val="20000"/>
              </a:srgbClr>
            </a:solidFill>
            <a:prstDash val="solid"/>
          </a:ln>
        </p:spPr>
        <p:txBody>
          <a:bodyPr/>
          <a:lstStyle/>
          <a:p>
            <a:endParaRPr lang="en-IN"/>
          </a:p>
        </p:txBody>
      </p:sp>
      <p:sp>
        <p:nvSpPr>
          <p:cNvPr id="46" name="Shape 44"/>
          <p:cNvSpPr/>
          <p:nvPr/>
        </p:nvSpPr>
        <p:spPr>
          <a:xfrm>
            <a:off x="3200400" y="3291840"/>
            <a:ext cx="2011680" cy="2194560"/>
          </a:xfrm>
          <a:prstGeom prst="line">
            <a:avLst/>
          </a:prstGeom>
          <a:noFill/>
          <a:ln w="6350">
            <a:solidFill>
              <a:srgbClr val="F8FAFC">
                <a:alpha val="20000"/>
              </a:srgbClr>
            </a:solidFill>
            <a:prstDash val="solid"/>
          </a:ln>
        </p:spPr>
        <p:txBody>
          <a:bodyPr/>
          <a:lstStyle/>
          <a:p>
            <a:endParaRPr lang="en-IN"/>
          </a:p>
        </p:txBody>
      </p:sp>
      <p:sp>
        <p:nvSpPr>
          <p:cNvPr id="47" name="Shape 45"/>
          <p:cNvSpPr/>
          <p:nvPr/>
        </p:nvSpPr>
        <p:spPr>
          <a:xfrm flipV="1">
            <a:off x="3200400" y="2468880"/>
            <a:ext cx="2011680" cy="1645920"/>
          </a:xfrm>
          <a:prstGeom prst="line">
            <a:avLst/>
          </a:prstGeom>
          <a:noFill/>
          <a:ln w="6350">
            <a:solidFill>
              <a:srgbClr val="F8FAFC">
                <a:alpha val="20000"/>
              </a:srgbClr>
            </a:solidFill>
            <a:prstDash val="solid"/>
          </a:ln>
        </p:spPr>
        <p:txBody>
          <a:bodyPr/>
          <a:lstStyle/>
          <a:p>
            <a:endParaRPr lang="en-IN"/>
          </a:p>
        </p:txBody>
      </p:sp>
      <p:sp>
        <p:nvSpPr>
          <p:cNvPr id="48" name="Shape 46"/>
          <p:cNvSpPr/>
          <p:nvPr/>
        </p:nvSpPr>
        <p:spPr>
          <a:xfrm flipV="1">
            <a:off x="3200400" y="3291840"/>
            <a:ext cx="2011680" cy="822960"/>
          </a:xfrm>
          <a:prstGeom prst="line">
            <a:avLst/>
          </a:prstGeom>
          <a:noFill/>
          <a:ln w="6350">
            <a:solidFill>
              <a:srgbClr val="F8FAFC">
                <a:alpha val="20000"/>
              </a:srgbClr>
            </a:solidFill>
            <a:prstDash val="solid"/>
          </a:ln>
        </p:spPr>
        <p:txBody>
          <a:bodyPr/>
          <a:lstStyle/>
          <a:p>
            <a:endParaRPr lang="en-IN"/>
          </a:p>
        </p:txBody>
      </p:sp>
      <p:sp>
        <p:nvSpPr>
          <p:cNvPr id="49" name="Shape 47"/>
          <p:cNvSpPr/>
          <p:nvPr/>
        </p:nvSpPr>
        <p:spPr>
          <a:xfrm>
            <a:off x="3200400" y="4114800"/>
            <a:ext cx="2011680" cy="0"/>
          </a:xfrm>
          <a:prstGeom prst="line">
            <a:avLst/>
          </a:prstGeom>
          <a:noFill/>
          <a:ln w="6350">
            <a:solidFill>
              <a:srgbClr val="F8FAFC">
                <a:alpha val="20000"/>
              </a:srgbClr>
            </a:solidFill>
            <a:prstDash val="solid"/>
          </a:ln>
        </p:spPr>
        <p:txBody>
          <a:bodyPr/>
          <a:lstStyle/>
          <a:p>
            <a:endParaRPr lang="en-IN"/>
          </a:p>
        </p:txBody>
      </p:sp>
      <p:sp>
        <p:nvSpPr>
          <p:cNvPr id="50" name="Shape 48"/>
          <p:cNvSpPr/>
          <p:nvPr/>
        </p:nvSpPr>
        <p:spPr>
          <a:xfrm>
            <a:off x="3200400" y="4114800"/>
            <a:ext cx="2011680" cy="822960"/>
          </a:xfrm>
          <a:prstGeom prst="line">
            <a:avLst/>
          </a:prstGeom>
          <a:noFill/>
          <a:ln w="6350">
            <a:solidFill>
              <a:srgbClr val="F8FAFC">
                <a:alpha val="20000"/>
              </a:srgbClr>
            </a:solidFill>
            <a:prstDash val="solid"/>
          </a:ln>
        </p:spPr>
        <p:txBody>
          <a:bodyPr/>
          <a:lstStyle/>
          <a:p>
            <a:endParaRPr lang="en-IN"/>
          </a:p>
        </p:txBody>
      </p:sp>
      <p:sp>
        <p:nvSpPr>
          <p:cNvPr id="51" name="Shape 49"/>
          <p:cNvSpPr/>
          <p:nvPr/>
        </p:nvSpPr>
        <p:spPr>
          <a:xfrm>
            <a:off x="3200400" y="4114800"/>
            <a:ext cx="2011680" cy="1371600"/>
          </a:xfrm>
          <a:prstGeom prst="line">
            <a:avLst/>
          </a:prstGeom>
          <a:noFill/>
          <a:ln w="6350">
            <a:solidFill>
              <a:srgbClr val="F8FAFC">
                <a:alpha val="20000"/>
              </a:srgbClr>
            </a:solidFill>
            <a:prstDash val="solid"/>
          </a:ln>
        </p:spPr>
        <p:txBody>
          <a:bodyPr/>
          <a:lstStyle/>
          <a:p>
            <a:endParaRPr lang="en-IN"/>
          </a:p>
        </p:txBody>
      </p:sp>
      <p:sp>
        <p:nvSpPr>
          <p:cNvPr id="52" name="Shape 50"/>
          <p:cNvSpPr/>
          <p:nvPr/>
        </p:nvSpPr>
        <p:spPr>
          <a:xfrm flipV="1">
            <a:off x="3200400" y="2468880"/>
            <a:ext cx="2011680" cy="2468880"/>
          </a:xfrm>
          <a:prstGeom prst="line">
            <a:avLst/>
          </a:prstGeom>
          <a:noFill/>
          <a:ln w="6350">
            <a:solidFill>
              <a:srgbClr val="F8FAFC">
                <a:alpha val="20000"/>
              </a:srgbClr>
            </a:solidFill>
            <a:prstDash val="solid"/>
          </a:ln>
        </p:spPr>
        <p:txBody>
          <a:bodyPr/>
          <a:lstStyle/>
          <a:p>
            <a:endParaRPr lang="en-IN"/>
          </a:p>
        </p:txBody>
      </p:sp>
      <p:sp>
        <p:nvSpPr>
          <p:cNvPr id="53" name="Shape 51"/>
          <p:cNvSpPr/>
          <p:nvPr/>
        </p:nvSpPr>
        <p:spPr>
          <a:xfrm flipV="1">
            <a:off x="3200400" y="3291840"/>
            <a:ext cx="2011680" cy="1645920"/>
          </a:xfrm>
          <a:prstGeom prst="line">
            <a:avLst/>
          </a:prstGeom>
          <a:noFill/>
          <a:ln w="6350">
            <a:solidFill>
              <a:srgbClr val="F8FAFC">
                <a:alpha val="20000"/>
              </a:srgbClr>
            </a:solidFill>
            <a:prstDash val="solid"/>
          </a:ln>
        </p:spPr>
        <p:txBody>
          <a:bodyPr/>
          <a:lstStyle/>
          <a:p>
            <a:endParaRPr lang="en-IN"/>
          </a:p>
        </p:txBody>
      </p:sp>
      <p:sp>
        <p:nvSpPr>
          <p:cNvPr id="54" name="Shape 52"/>
          <p:cNvSpPr/>
          <p:nvPr/>
        </p:nvSpPr>
        <p:spPr>
          <a:xfrm flipV="1">
            <a:off x="3200400" y="4114800"/>
            <a:ext cx="2011680" cy="822960"/>
          </a:xfrm>
          <a:prstGeom prst="line">
            <a:avLst/>
          </a:prstGeom>
          <a:noFill/>
          <a:ln w="6350">
            <a:solidFill>
              <a:srgbClr val="F8FAFC">
                <a:alpha val="20000"/>
              </a:srgbClr>
            </a:solidFill>
            <a:prstDash val="solid"/>
          </a:ln>
        </p:spPr>
        <p:txBody>
          <a:bodyPr/>
          <a:lstStyle/>
          <a:p>
            <a:endParaRPr lang="en-IN"/>
          </a:p>
        </p:txBody>
      </p:sp>
      <p:sp>
        <p:nvSpPr>
          <p:cNvPr id="55" name="Shape 53"/>
          <p:cNvSpPr/>
          <p:nvPr/>
        </p:nvSpPr>
        <p:spPr>
          <a:xfrm>
            <a:off x="3200400" y="4937760"/>
            <a:ext cx="2011680" cy="0"/>
          </a:xfrm>
          <a:prstGeom prst="line">
            <a:avLst/>
          </a:prstGeom>
          <a:noFill/>
          <a:ln w="6350">
            <a:solidFill>
              <a:srgbClr val="F8FAFC">
                <a:alpha val="20000"/>
              </a:srgbClr>
            </a:solidFill>
            <a:prstDash val="solid"/>
          </a:ln>
        </p:spPr>
        <p:txBody>
          <a:bodyPr/>
          <a:lstStyle/>
          <a:p>
            <a:endParaRPr lang="en-IN"/>
          </a:p>
        </p:txBody>
      </p:sp>
      <p:sp>
        <p:nvSpPr>
          <p:cNvPr id="56" name="Shape 54"/>
          <p:cNvSpPr/>
          <p:nvPr/>
        </p:nvSpPr>
        <p:spPr>
          <a:xfrm>
            <a:off x="3200400" y="4937760"/>
            <a:ext cx="2011680" cy="548640"/>
          </a:xfrm>
          <a:prstGeom prst="line">
            <a:avLst/>
          </a:prstGeom>
          <a:noFill/>
          <a:ln w="6350">
            <a:solidFill>
              <a:srgbClr val="F8FAFC">
                <a:alpha val="20000"/>
              </a:srgbClr>
            </a:solidFill>
            <a:prstDash val="solid"/>
          </a:ln>
        </p:spPr>
        <p:txBody>
          <a:bodyPr/>
          <a:lstStyle/>
          <a:p>
            <a:endParaRPr lang="en-IN"/>
          </a:p>
        </p:txBody>
      </p:sp>
      <p:sp>
        <p:nvSpPr>
          <p:cNvPr id="57" name="Shape 55"/>
          <p:cNvSpPr/>
          <p:nvPr/>
        </p:nvSpPr>
        <p:spPr>
          <a:xfrm flipV="1">
            <a:off x="3200400" y="2468880"/>
            <a:ext cx="2011680" cy="3017520"/>
          </a:xfrm>
          <a:prstGeom prst="line">
            <a:avLst/>
          </a:prstGeom>
          <a:noFill/>
          <a:ln w="6350">
            <a:solidFill>
              <a:srgbClr val="F8FAFC">
                <a:alpha val="20000"/>
              </a:srgbClr>
            </a:solidFill>
            <a:prstDash val="solid"/>
          </a:ln>
        </p:spPr>
        <p:txBody>
          <a:bodyPr/>
          <a:lstStyle/>
          <a:p>
            <a:endParaRPr lang="en-IN"/>
          </a:p>
        </p:txBody>
      </p:sp>
      <p:sp>
        <p:nvSpPr>
          <p:cNvPr id="58" name="Shape 56"/>
          <p:cNvSpPr/>
          <p:nvPr/>
        </p:nvSpPr>
        <p:spPr>
          <a:xfrm flipV="1">
            <a:off x="3200400" y="3291840"/>
            <a:ext cx="2011680" cy="2194560"/>
          </a:xfrm>
          <a:prstGeom prst="line">
            <a:avLst/>
          </a:prstGeom>
          <a:noFill/>
          <a:ln w="6350">
            <a:solidFill>
              <a:srgbClr val="F8FAFC">
                <a:alpha val="20000"/>
              </a:srgbClr>
            </a:solidFill>
            <a:prstDash val="solid"/>
          </a:ln>
        </p:spPr>
        <p:txBody>
          <a:bodyPr/>
          <a:lstStyle/>
          <a:p>
            <a:endParaRPr lang="en-IN"/>
          </a:p>
        </p:txBody>
      </p:sp>
      <p:sp>
        <p:nvSpPr>
          <p:cNvPr id="59" name="Shape 57"/>
          <p:cNvSpPr/>
          <p:nvPr/>
        </p:nvSpPr>
        <p:spPr>
          <a:xfrm flipV="1">
            <a:off x="3200400" y="4114800"/>
            <a:ext cx="2011680" cy="1371600"/>
          </a:xfrm>
          <a:prstGeom prst="line">
            <a:avLst/>
          </a:prstGeom>
          <a:noFill/>
          <a:ln w="6350">
            <a:solidFill>
              <a:srgbClr val="F8FAFC">
                <a:alpha val="20000"/>
              </a:srgbClr>
            </a:solidFill>
            <a:prstDash val="solid"/>
          </a:ln>
        </p:spPr>
        <p:txBody>
          <a:bodyPr/>
          <a:lstStyle/>
          <a:p>
            <a:endParaRPr lang="en-IN"/>
          </a:p>
        </p:txBody>
      </p:sp>
      <p:sp>
        <p:nvSpPr>
          <p:cNvPr id="60" name="Shape 58"/>
          <p:cNvSpPr/>
          <p:nvPr/>
        </p:nvSpPr>
        <p:spPr>
          <a:xfrm flipV="1">
            <a:off x="3200400" y="4937760"/>
            <a:ext cx="2011680" cy="548640"/>
          </a:xfrm>
          <a:prstGeom prst="line">
            <a:avLst/>
          </a:prstGeom>
          <a:noFill/>
          <a:ln w="6350">
            <a:solidFill>
              <a:srgbClr val="F8FAFC">
                <a:alpha val="20000"/>
              </a:srgbClr>
            </a:solidFill>
            <a:prstDash val="solid"/>
          </a:ln>
        </p:spPr>
        <p:txBody>
          <a:bodyPr/>
          <a:lstStyle/>
          <a:p>
            <a:endParaRPr lang="en-IN"/>
          </a:p>
        </p:txBody>
      </p:sp>
      <p:sp>
        <p:nvSpPr>
          <p:cNvPr id="61" name="Shape 59"/>
          <p:cNvSpPr/>
          <p:nvPr/>
        </p:nvSpPr>
        <p:spPr>
          <a:xfrm>
            <a:off x="3200400" y="5486400"/>
            <a:ext cx="2011680" cy="0"/>
          </a:xfrm>
          <a:prstGeom prst="line">
            <a:avLst/>
          </a:prstGeom>
          <a:noFill/>
          <a:ln w="6350">
            <a:solidFill>
              <a:srgbClr val="F8FAFC">
                <a:alpha val="20000"/>
              </a:srgbClr>
            </a:solidFill>
            <a:prstDash val="solid"/>
          </a:ln>
        </p:spPr>
        <p:txBody>
          <a:bodyPr/>
          <a:lstStyle/>
          <a:p>
            <a:endParaRPr lang="en-IN"/>
          </a:p>
        </p:txBody>
      </p:sp>
      <p:sp>
        <p:nvSpPr>
          <p:cNvPr id="62" name="Shape 60"/>
          <p:cNvSpPr/>
          <p:nvPr/>
        </p:nvSpPr>
        <p:spPr>
          <a:xfrm>
            <a:off x="5212080" y="2468880"/>
            <a:ext cx="1645920" cy="822960"/>
          </a:xfrm>
          <a:prstGeom prst="line">
            <a:avLst/>
          </a:prstGeom>
          <a:noFill/>
          <a:ln w="6350">
            <a:solidFill>
              <a:srgbClr val="F8FAFC">
                <a:alpha val="20000"/>
              </a:srgbClr>
            </a:solidFill>
            <a:prstDash val="solid"/>
          </a:ln>
        </p:spPr>
        <p:txBody>
          <a:bodyPr/>
          <a:lstStyle/>
          <a:p>
            <a:endParaRPr lang="en-IN"/>
          </a:p>
        </p:txBody>
      </p:sp>
      <p:sp>
        <p:nvSpPr>
          <p:cNvPr id="63" name="Shape 61"/>
          <p:cNvSpPr/>
          <p:nvPr/>
        </p:nvSpPr>
        <p:spPr>
          <a:xfrm>
            <a:off x="5212080" y="2468880"/>
            <a:ext cx="1645920" cy="1828800"/>
          </a:xfrm>
          <a:prstGeom prst="line">
            <a:avLst/>
          </a:prstGeom>
          <a:noFill/>
          <a:ln w="6350">
            <a:solidFill>
              <a:srgbClr val="F8FAFC">
                <a:alpha val="20000"/>
              </a:srgbClr>
            </a:solidFill>
            <a:prstDash val="solid"/>
          </a:ln>
        </p:spPr>
        <p:txBody>
          <a:bodyPr/>
          <a:lstStyle/>
          <a:p>
            <a:endParaRPr lang="en-IN"/>
          </a:p>
        </p:txBody>
      </p:sp>
      <p:sp>
        <p:nvSpPr>
          <p:cNvPr id="64" name="Shape 62"/>
          <p:cNvSpPr/>
          <p:nvPr/>
        </p:nvSpPr>
        <p:spPr>
          <a:xfrm>
            <a:off x="5212080" y="2468880"/>
            <a:ext cx="1645920" cy="2834640"/>
          </a:xfrm>
          <a:prstGeom prst="line">
            <a:avLst/>
          </a:prstGeom>
          <a:noFill/>
          <a:ln w="6350">
            <a:solidFill>
              <a:srgbClr val="F8FAFC">
                <a:alpha val="20000"/>
              </a:srgbClr>
            </a:solidFill>
            <a:prstDash val="solid"/>
          </a:ln>
        </p:spPr>
        <p:txBody>
          <a:bodyPr/>
          <a:lstStyle/>
          <a:p>
            <a:endParaRPr lang="en-IN"/>
          </a:p>
        </p:txBody>
      </p:sp>
      <p:sp>
        <p:nvSpPr>
          <p:cNvPr id="65" name="Shape 63"/>
          <p:cNvSpPr/>
          <p:nvPr/>
        </p:nvSpPr>
        <p:spPr>
          <a:xfrm>
            <a:off x="5212080" y="3291840"/>
            <a:ext cx="1645920" cy="0"/>
          </a:xfrm>
          <a:prstGeom prst="line">
            <a:avLst/>
          </a:prstGeom>
          <a:noFill/>
          <a:ln w="6350">
            <a:solidFill>
              <a:srgbClr val="F8FAFC">
                <a:alpha val="20000"/>
              </a:srgbClr>
            </a:solidFill>
            <a:prstDash val="solid"/>
          </a:ln>
        </p:spPr>
        <p:txBody>
          <a:bodyPr/>
          <a:lstStyle/>
          <a:p>
            <a:endParaRPr lang="en-IN"/>
          </a:p>
        </p:txBody>
      </p:sp>
      <p:sp>
        <p:nvSpPr>
          <p:cNvPr id="66" name="Shape 64"/>
          <p:cNvSpPr/>
          <p:nvPr/>
        </p:nvSpPr>
        <p:spPr>
          <a:xfrm>
            <a:off x="5212080" y="3291840"/>
            <a:ext cx="1645920" cy="1005840"/>
          </a:xfrm>
          <a:prstGeom prst="line">
            <a:avLst/>
          </a:prstGeom>
          <a:noFill/>
          <a:ln w="6350">
            <a:solidFill>
              <a:srgbClr val="F8FAFC">
                <a:alpha val="20000"/>
              </a:srgbClr>
            </a:solidFill>
            <a:prstDash val="solid"/>
          </a:ln>
        </p:spPr>
        <p:txBody>
          <a:bodyPr/>
          <a:lstStyle/>
          <a:p>
            <a:endParaRPr lang="en-IN"/>
          </a:p>
        </p:txBody>
      </p:sp>
      <p:sp>
        <p:nvSpPr>
          <p:cNvPr id="67" name="Shape 65"/>
          <p:cNvSpPr/>
          <p:nvPr/>
        </p:nvSpPr>
        <p:spPr>
          <a:xfrm>
            <a:off x="5212080" y="3291840"/>
            <a:ext cx="1645920" cy="2011680"/>
          </a:xfrm>
          <a:prstGeom prst="line">
            <a:avLst/>
          </a:prstGeom>
          <a:noFill/>
          <a:ln w="6350">
            <a:solidFill>
              <a:srgbClr val="F8FAFC">
                <a:alpha val="20000"/>
              </a:srgbClr>
            </a:solidFill>
            <a:prstDash val="solid"/>
          </a:ln>
        </p:spPr>
        <p:txBody>
          <a:bodyPr/>
          <a:lstStyle/>
          <a:p>
            <a:endParaRPr lang="en-IN"/>
          </a:p>
        </p:txBody>
      </p:sp>
      <p:sp>
        <p:nvSpPr>
          <p:cNvPr id="68" name="Shape 66"/>
          <p:cNvSpPr/>
          <p:nvPr/>
        </p:nvSpPr>
        <p:spPr>
          <a:xfrm flipV="1">
            <a:off x="5212080" y="3291840"/>
            <a:ext cx="1645920" cy="822960"/>
          </a:xfrm>
          <a:prstGeom prst="line">
            <a:avLst/>
          </a:prstGeom>
          <a:noFill/>
          <a:ln w="6350">
            <a:solidFill>
              <a:srgbClr val="F8FAFC">
                <a:alpha val="20000"/>
              </a:srgbClr>
            </a:solidFill>
            <a:prstDash val="solid"/>
          </a:ln>
        </p:spPr>
        <p:txBody>
          <a:bodyPr/>
          <a:lstStyle/>
          <a:p>
            <a:endParaRPr lang="en-IN"/>
          </a:p>
        </p:txBody>
      </p:sp>
      <p:sp>
        <p:nvSpPr>
          <p:cNvPr id="69" name="Shape 67"/>
          <p:cNvSpPr/>
          <p:nvPr/>
        </p:nvSpPr>
        <p:spPr>
          <a:xfrm>
            <a:off x="5212080" y="4114800"/>
            <a:ext cx="1645920" cy="182880"/>
          </a:xfrm>
          <a:prstGeom prst="line">
            <a:avLst/>
          </a:prstGeom>
          <a:noFill/>
          <a:ln w="6350">
            <a:solidFill>
              <a:srgbClr val="F8FAFC">
                <a:alpha val="20000"/>
              </a:srgbClr>
            </a:solidFill>
            <a:prstDash val="solid"/>
          </a:ln>
        </p:spPr>
        <p:txBody>
          <a:bodyPr/>
          <a:lstStyle/>
          <a:p>
            <a:endParaRPr lang="en-IN"/>
          </a:p>
        </p:txBody>
      </p:sp>
      <p:sp>
        <p:nvSpPr>
          <p:cNvPr id="70" name="Shape 68"/>
          <p:cNvSpPr/>
          <p:nvPr/>
        </p:nvSpPr>
        <p:spPr>
          <a:xfrm>
            <a:off x="5212080" y="4114800"/>
            <a:ext cx="1645920" cy="1188720"/>
          </a:xfrm>
          <a:prstGeom prst="line">
            <a:avLst/>
          </a:prstGeom>
          <a:noFill/>
          <a:ln w="6350">
            <a:solidFill>
              <a:srgbClr val="F8FAFC">
                <a:alpha val="20000"/>
              </a:srgbClr>
            </a:solidFill>
            <a:prstDash val="solid"/>
          </a:ln>
        </p:spPr>
        <p:txBody>
          <a:bodyPr/>
          <a:lstStyle/>
          <a:p>
            <a:endParaRPr lang="en-IN"/>
          </a:p>
        </p:txBody>
      </p:sp>
      <p:sp>
        <p:nvSpPr>
          <p:cNvPr id="71" name="Shape 69"/>
          <p:cNvSpPr/>
          <p:nvPr/>
        </p:nvSpPr>
        <p:spPr>
          <a:xfrm flipV="1">
            <a:off x="5212080" y="3291840"/>
            <a:ext cx="1645920" cy="1645920"/>
          </a:xfrm>
          <a:prstGeom prst="line">
            <a:avLst/>
          </a:prstGeom>
          <a:noFill/>
          <a:ln w="6350">
            <a:solidFill>
              <a:srgbClr val="F8FAFC">
                <a:alpha val="20000"/>
              </a:srgbClr>
            </a:solidFill>
            <a:prstDash val="solid"/>
          </a:ln>
        </p:spPr>
        <p:txBody>
          <a:bodyPr/>
          <a:lstStyle/>
          <a:p>
            <a:endParaRPr lang="en-IN"/>
          </a:p>
        </p:txBody>
      </p:sp>
      <p:sp>
        <p:nvSpPr>
          <p:cNvPr id="72" name="Shape 70"/>
          <p:cNvSpPr/>
          <p:nvPr/>
        </p:nvSpPr>
        <p:spPr>
          <a:xfrm flipV="1">
            <a:off x="5212080" y="4297680"/>
            <a:ext cx="1645920" cy="640080"/>
          </a:xfrm>
          <a:prstGeom prst="line">
            <a:avLst/>
          </a:prstGeom>
          <a:noFill/>
          <a:ln w="6350">
            <a:solidFill>
              <a:srgbClr val="F8FAFC">
                <a:alpha val="20000"/>
              </a:srgbClr>
            </a:solidFill>
            <a:prstDash val="solid"/>
          </a:ln>
        </p:spPr>
        <p:txBody>
          <a:bodyPr/>
          <a:lstStyle/>
          <a:p>
            <a:endParaRPr lang="en-IN"/>
          </a:p>
        </p:txBody>
      </p:sp>
      <p:sp>
        <p:nvSpPr>
          <p:cNvPr id="73" name="Shape 71"/>
          <p:cNvSpPr/>
          <p:nvPr/>
        </p:nvSpPr>
        <p:spPr>
          <a:xfrm>
            <a:off x="5212080" y="4937760"/>
            <a:ext cx="1645920" cy="365760"/>
          </a:xfrm>
          <a:prstGeom prst="line">
            <a:avLst/>
          </a:prstGeom>
          <a:noFill/>
          <a:ln w="6350">
            <a:solidFill>
              <a:srgbClr val="F8FAFC">
                <a:alpha val="20000"/>
              </a:srgbClr>
            </a:solidFill>
            <a:prstDash val="solid"/>
          </a:ln>
        </p:spPr>
        <p:txBody>
          <a:bodyPr/>
          <a:lstStyle/>
          <a:p>
            <a:endParaRPr lang="en-IN"/>
          </a:p>
        </p:txBody>
      </p:sp>
      <p:sp>
        <p:nvSpPr>
          <p:cNvPr id="74" name="Shape 72"/>
          <p:cNvSpPr/>
          <p:nvPr/>
        </p:nvSpPr>
        <p:spPr>
          <a:xfrm flipV="1">
            <a:off x="5212080" y="3291840"/>
            <a:ext cx="1645920" cy="2194560"/>
          </a:xfrm>
          <a:prstGeom prst="line">
            <a:avLst/>
          </a:prstGeom>
          <a:noFill/>
          <a:ln w="6350">
            <a:solidFill>
              <a:srgbClr val="F8FAFC">
                <a:alpha val="20000"/>
              </a:srgbClr>
            </a:solidFill>
            <a:prstDash val="solid"/>
          </a:ln>
        </p:spPr>
        <p:txBody>
          <a:bodyPr/>
          <a:lstStyle/>
          <a:p>
            <a:endParaRPr lang="en-IN"/>
          </a:p>
        </p:txBody>
      </p:sp>
      <p:sp>
        <p:nvSpPr>
          <p:cNvPr id="75" name="Shape 73"/>
          <p:cNvSpPr/>
          <p:nvPr/>
        </p:nvSpPr>
        <p:spPr>
          <a:xfrm flipV="1">
            <a:off x="5212080" y="4297680"/>
            <a:ext cx="1645920" cy="1188720"/>
          </a:xfrm>
          <a:prstGeom prst="line">
            <a:avLst/>
          </a:prstGeom>
          <a:noFill/>
          <a:ln w="6350">
            <a:solidFill>
              <a:srgbClr val="F8FAFC">
                <a:alpha val="20000"/>
              </a:srgbClr>
            </a:solidFill>
            <a:prstDash val="solid"/>
          </a:ln>
        </p:spPr>
        <p:txBody>
          <a:bodyPr/>
          <a:lstStyle/>
          <a:p>
            <a:endParaRPr lang="en-IN"/>
          </a:p>
        </p:txBody>
      </p:sp>
      <p:sp>
        <p:nvSpPr>
          <p:cNvPr id="76" name="Shape 74"/>
          <p:cNvSpPr/>
          <p:nvPr/>
        </p:nvSpPr>
        <p:spPr>
          <a:xfrm flipV="1">
            <a:off x="5212080" y="5303520"/>
            <a:ext cx="1645920" cy="182880"/>
          </a:xfrm>
          <a:prstGeom prst="line">
            <a:avLst/>
          </a:prstGeom>
          <a:noFill/>
          <a:ln w="6350">
            <a:solidFill>
              <a:srgbClr val="F8FAFC">
                <a:alpha val="20000"/>
              </a:srgbClr>
            </a:solidFill>
            <a:prstDash val="solid"/>
          </a:ln>
        </p:spPr>
        <p:txBody>
          <a:bodyPr/>
          <a:lstStyle/>
          <a:p>
            <a:endParaRPr lang="en-IN"/>
          </a:p>
        </p:txBody>
      </p:sp>
      <p:sp>
        <p:nvSpPr>
          <p:cNvPr id="77" name="Shape 75"/>
          <p:cNvSpPr/>
          <p:nvPr/>
        </p:nvSpPr>
        <p:spPr>
          <a:xfrm>
            <a:off x="1024128" y="2578608"/>
            <a:ext cx="329184" cy="329184"/>
          </a:xfrm>
          <a:prstGeom prst="ellipse">
            <a:avLst/>
          </a:prstGeom>
          <a:solidFill>
            <a:srgbClr val="22D3EE"/>
          </a:solidFill>
          <a:ln w="12700">
            <a:solidFill>
              <a:srgbClr val="22D3EE"/>
            </a:solidFill>
            <a:prstDash val="solid"/>
          </a:ln>
        </p:spPr>
        <p:txBody>
          <a:bodyPr/>
          <a:lstStyle/>
          <a:p>
            <a:endParaRPr lang="en-IN"/>
          </a:p>
        </p:txBody>
      </p:sp>
      <p:sp>
        <p:nvSpPr>
          <p:cNvPr id="78" name="Shape 76"/>
          <p:cNvSpPr/>
          <p:nvPr/>
        </p:nvSpPr>
        <p:spPr>
          <a:xfrm>
            <a:off x="1024128" y="3401568"/>
            <a:ext cx="329184" cy="329184"/>
          </a:xfrm>
          <a:prstGeom prst="ellipse">
            <a:avLst/>
          </a:prstGeom>
          <a:solidFill>
            <a:srgbClr val="22D3EE"/>
          </a:solidFill>
          <a:ln w="12700">
            <a:solidFill>
              <a:srgbClr val="22D3EE"/>
            </a:solidFill>
            <a:prstDash val="solid"/>
          </a:ln>
        </p:spPr>
        <p:txBody>
          <a:bodyPr/>
          <a:lstStyle/>
          <a:p>
            <a:endParaRPr lang="en-IN"/>
          </a:p>
        </p:txBody>
      </p:sp>
      <p:sp>
        <p:nvSpPr>
          <p:cNvPr id="79" name="Shape 77"/>
          <p:cNvSpPr/>
          <p:nvPr/>
        </p:nvSpPr>
        <p:spPr>
          <a:xfrm>
            <a:off x="1024128" y="4224528"/>
            <a:ext cx="329184" cy="329184"/>
          </a:xfrm>
          <a:prstGeom prst="ellipse">
            <a:avLst/>
          </a:prstGeom>
          <a:solidFill>
            <a:srgbClr val="22D3EE"/>
          </a:solidFill>
          <a:ln w="12700">
            <a:solidFill>
              <a:srgbClr val="22D3EE"/>
            </a:solidFill>
            <a:prstDash val="solid"/>
          </a:ln>
        </p:spPr>
        <p:txBody>
          <a:bodyPr/>
          <a:lstStyle/>
          <a:p>
            <a:endParaRPr lang="en-IN"/>
          </a:p>
        </p:txBody>
      </p:sp>
      <p:sp>
        <p:nvSpPr>
          <p:cNvPr id="80" name="Shape 78"/>
          <p:cNvSpPr/>
          <p:nvPr/>
        </p:nvSpPr>
        <p:spPr>
          <a:xfrm>
            <a:off x="1024128" y="5047488"/>
            <a:ext cx="329184" cy="329184"/>
          </a:xfrm>
          <a:prstGeom prst="ellipse">
            <a:avLst/>
          </a:prstGeom>
          <a:solidFill>
            <a:srgbClr val="22D3EE"/>
          </a:solidFill>
          <a:ln w="12700">
            <a:solidFill>
              <a:srgbClr val="22D3EE"/>
            </a:solidFill>
            <a:prstDash val="solid"/>
          </a:ln>
        </p:spPr>
        <p:txBody>
          <a:bodyPr/>
          <a:lstStyle/>
          <a:p>
            <a:endParaRPr lang="en-IN"/>
          </a:p>
        </p:txBody>
      </p:sp>
      <p:sp>
        <p:nvSpPr>
          <p:cNvPr id="81" name="Text 79"/>
          <p:cNvSpPr/>
          <p:nvPr/>
        </p:nvSpPr>
        <p:spPr>
          <a:xfrm>
            <a:off x="365760" y="2011680"/>
            <a:ext cx="1645920" cy="274320"/>
          </a:xfrm>
          <a:prstGeom prst="rect">
            <a:avLst/>
          </a:prstGeom>
          <a:noFill/>
          <a:ln/>
        </p:spPr>
        <p:txBody>
          <a:bodyPr wrap="square" lIns="0" tIns="0" rIns="0" bIns="0" rtlCol="0" anchor="ctr"/>
          <a:lstStyle/>
          <a:p>
            <a:pPr marL="0" indent="0" algn="ctr">
              <a:buNone/>
            </a:pPr>
            <a:r>
              <a:rPr lang="en-US" sz="1000" b="1" dirty="0">
                <a:solidFill>
                  <a:srgbClr val="94A3B8"/>
                </a:solidFill>
                <a:latin typeface="Calibri" pitchFamily="34" charset="0"/>
                <a:ea typeface="Calibri" pitchFamily="34" charset="-122"/>
                <a:cs typeface="Calibri" pitchFamily="34" charset="-120"/>
              </a:rPr>
              <a:t>Input layer</a:t>
            </a:r>
            <a:endParaRPr lang="en-US" sz="1000" dirty="0"/>
          </a:p>
        </p:txBody>
      </p:sp>
      <p:sp>
        <p:nvSpPr>
          <p:cNvPr id="82" name="Shape 80"/>
          <p:cNvSpPr/>
          <p:nvPr/>
        </p:nvSpPr>
        <p:spPr>
          <a:xfrm>
            <a:off x="3035808" y="2304288"/>
            <a:ext cx="329184" cy="329184"/>
          </a:xfrm>
          <a:prstGeom prst="ellipse">
            <a:avLst/>
          </a:prstGeom>
          <a:solidFill>
            <a:srgbClr val="E879F9"/>
          </a:solidFill>
          <a:ln w="12700">
            <a:solidFill>
              <a:srgbClr val="E879F9"/>
            </a:solidFill>
            <a:prstDash val="solid"/>
          </a:ln>
        </p:spPr>
        <p:txBody>
          <a:bodyPr/>
          <a:lstStyle/>
          <a:p>
            <a:endParaRPr lang="en-IN"/>
          </a:p>
        </p:txBody>
      </p:sp>
      <p:sp>
        <p:nvSpPr>
          <p:cNvPr id="83" name="Shape 81"/>
          <p:cNvSpPr/>
          <p:nvPr/>
        </p:nvSpPr>
        <p:spPr>
          <a:xfrm>
            <a:off x="3035808" y="3127248"/>
            <a:ext cx="329184" cy="329184"/>
          </a:xfrm>
          <a:prstGeom prst="ellipse">
            <a:avLst/>
          </a:prstGeom>
          <a:solidFill>
            <a:srgbClr val="E879F9"/>
          </a:solidFill>
          <a:ln w="12700">
            <a:solidFill>
              <a:srgbClr val="E879F9"/>
            </a:solidFill>
            <a:prstDash val="solid"/>
          </a:ln>
        </p:spPr>
        <p:txBody>
          <a:bodyPr/>
          <a:lstStyle/>
          <a:p>
            <a:endParaRPr lang="en-IN"/>
          </a:p>
        </p:txBody>
      </p:sp>
      <p:sp>
        <p:nvSpPr>
          <p:cNvPr id="84" name="Shape 82"/>
          <p:cNvSpPr/>
          <p:nvPr/>
        </p:nvSpPr>
        <p:spPr>
          <a:xfrm>
            <a:off x="3035808" y="3950208"/>
            <a:ext cx="329184" cy="329184"/>
          </a:xfrm>
          <a:prstGeom prst="ellipse">
            <a:avLst/>
          </a:prstGeom>
          <a:solidFill>
            <a:srgbClr val="E879F9"/>
          </a:solidFill>
          <a:ln w="12700">
            <a:solidFill>
              <a:srgbClr val="E879F9"/>
            </a:solidFill>
            <a:prstDash val="solid"/>
          </a:ln>
        </p:spPr>
        <p:txBody>
          <a:bodyPr/>
          <a:lstStyle/>
          <a:p>
            <a:endParaRPr lang="en-IN"/>
          </a:p>
        </p:txBody>
      </p:sp>
      <p:sp>
        <p:nvSpPr>
          <p:cNvPr id="85" name="Shape 83"/>
          <p:cNvSpPr/>
          <p:nvPr/>
        </p:nvSpPr>
        <p:spPr>
          <a:xfrm>
            <a:off x="3035808" y="4773168"/>
            <a:ext cx="329184" cy="329184"/>
          </a:xfrm>
          <a:prstGeom prst="ellipse">
            <a:avLst/>
          </a:prstGeom>
          <a:solidFill>
            <a:srgbClr val="E879F9"/>
          </a:solidFill>
          <a:ln w="12700">
            <a:solidFill>
              <a:srgbClr val="E879F9"/>
            </a:solidFill>
            <a:prstDash val="solid"/>
          </a:ln>
        </p:spPr>
        <p:txBody>
          <a:bodyPr/>
          <a:lstStyle/>
          <a:p>
            <a:endParaRPr lang="en-IN"/>
          </a:p>
        </p:txBody>
      </p:sp>
      <p:sp>
        <p:nvSpPr>
          <p:cNvPr id="86" name="Shape 84"/>
          <p:cNvSpPr/>
          <p:nvPr/>
        </p:nvSpPr>
        <p:spPr>
          <a:xfrm>
            <a:off x="3035808" y="5321808"/>
            <a:ext cx="329184" cy="329184"/>
          </a:xfrm>
          <a:prstGeom prst="ellipse">
            <a:avLst/>
          </a:prstGeom>
          <a:solidFill>
            <a:srgbClr val="E879F9"/>
          </a:solidFill>
          <a:ln w="12700">
            <a:solidFill>
              <a:srgbClr val="E879F9"/>
            </a:solidFill>
            <a:prstDash val="solid"/>
          </a:ln>
        </p:spPr>
        <p:txBody>
          <a:bodyPr/>
          <a:lstStyle/>
          <a:p>
            <a:endParaRPr lang="en-IN"/>
          </a:p>
        </p:txBody>
      </p:sp>
      <p:sp>
        <p:nvSpPr>
          <p:cNvPr id="87" name="Text 85"/>
          <p:cNvSpPr/>
          <p:nvPr/>
        </p:nvSpPr>
        <p:spPr>
          <a:xfrm>
            <a:off x="2377440" y="2011680"/>
            <a:ext cx="1645920" cy="274320"/>
          </a:xfrm>
          <a:prstGeom prst="rect">
            <a:avLst/>
          </a:prstGeom>
          <a:noFill/>
          <a:ln/>
        </p:spPr>
        <p:txBody>
          <a:bodyPr wrap="square" lIns="0" tIns="0" rIns="0" bIns="0" rtlCol="0" anchor="ctr"/>
          <a:lstStyle/>
          <a:p>
            <a:pPr marL="0" indent="0" algn="ctr">
              <a:buNone/>
            </a:pPr>
            <a:r>
              <a:rPr lang="en-US" sz="1000" b="1" dirty="0">
                <a:solidFill>
                  <a:srgbClr val="94A3B8"/>
                </a:solidFill>
                <a:latin typeface="Calibri" pitchFamily="34" charset="0"/>
                <a:ea typeface="Calibri" pitchFamily="34" charset="-122"/>
                <a:cs typeface="Calibri" pitchFamily="34" charset="-120"/>
              </a:rPr>
              <a:t>Hidden layer</a:t>
            </a:r>
            <a:endParaRPr lang="en-US" sz="1000" dirty="0"/>
          </a:p>
        </p:txBody>
      </p:sp>
      <p:sp>
        <p:nvSpPr>
          <p:cNvPr id="88" name="Shape 86"/>
          <p:cNvSpPr/>
          <p:nvPr/>
        </p:nvSpPr>
        <p:spPr>
          <a:xfrm>
            <a:off x="5047488" y="2304288"/>
            <a:ext cx="329184" cy="329184"/>
          </a:xfrm>
          <a:prstGeom prst="ellipse">
            <a:avLst/>
          </a:prstGeom>
          <a:solidFill>
            <a:srgbClr val="E879F9"/>
          </a:solidFill>
          <a:ln w="12700">
            <a:solidFill>
              <a:srgbClr val="E879F9"/>
            </a:solidFill>
            <a:prstDash val="solid"/>
          </a:ln>
        </p:spPr>
        <p:txBody>
          <a:bodyPr/>
          <a:lstStyle/>
          <a:p>
            <a:endParaRPr lang="en-IN"/>
          </a:p>
        </p:txBody>
      </p:sp>
      <p:sp>
        <p:nvSpPr>
          <p:cNvPr id="89" name="Shape 87"/>
          <p:cNvSpPr/>
          <p:nvPr/>
        </p:nvSpPr>
        <p:spPr>
          <a:xfrm>
            <a:off x="5047488" y="3127248"/>
            <a:ext cx="329184" cy="329184"/>
          </a:xfrm>
          <a:prstGeom prst="ellipse">
            <a:avLst/>
          </a:prstGeom>
          <a:solidFill>
            <a:srgbClr val="E879F9"/>
          </a:solidFill>
          <a:ln w="12700">
            <a:solidFill>
              <a:srgbClr val="E879F9"/>
            </a:solidFill>
            <a:prstDash val="solid"/>
          </a:ln>
        </p:spPr>
        <p:txBody>
          <a:bodyPr/>
          <a:lstStyle/>
          <a:p>
            <a:endParaRPr lang="en-IN"/>
          </a:p>
        </p:txBody>
      </p:sp>
      <p:sp>
        <p:nvSpPr>
          <p:cNvPr id="90" name="Shape 88"/>
          <p:cNvSpPr/>
          <p:nvPr/>
        </p:nvSpPr>
        <p:spPr>
          <a:xfrm>
            <a:off x="5047488" y="3950208"/>
            <a:ext cx="329184" cy="329184"/>
          </a:xfrm>
          <a:prstGeom prst="ellipse">
            <a:avLst/>
          </a:prstGeom>
          <a:solidFill>
            <a:srgbClr val="E879F9"/>
          </a:solidFill>
          <a:ln w="12700">
            <a:solidFill>
              <a:srgbClr val="E879F9"/>
            </a:solidFill>
            <a:prstDash val="solid"/>
          </a:ln>
        </p:spPr>
        <p:txBody>
          <a:bodyPr/>
          <a:lstStyle/>
          <a:p>
            <a:endParaRPr lang="en-IN"/>
          </a:p>
        </p:txBody>
      </p:sp>
      <p:sp>
        <p:nvSpPr>
          <p:cNvPr id="91" name="Shape 89"/>
          <p:cNvSpPr/>
          <p:nvPr/>
        </p:nvSpPr>
        <p:spPr>
          <a:xfrm>
            <a:off x="5047488" y="4773168"/>
            <a:ext cx="329184" cy="329184"/>
          </a:xfrm>
          <a:prstGeom prst="ellipse">
            <a:avLst/>
          </a:prstGeom>
          <a:solidFill>
            <a:srgbClr val="E879F9"/>
          </a:solidFill>
          <a:ln w="12700">
            <a:solidFill>
              <a:srgbClr val="E879F9"/>
            </a:solidFill>
            <a:prstDash val="solid"/>
          </a:ln>
        </p:spPr>
        <p:txBody>
          <a:bodyPr/>
          <a:lstStyle/>
          <a:p>
            <a:endParaRPr lang="en-IN"/>
          </a:p>
        </p:txBody>
      </p:sp>
      <p:sp>
        <p:nvSpPr>
          <p:cNvPr id="92" name="Shape 90"/>
          <p:cNvSpPr/>
          <p:nvPr/>
        </p:nvSpPr>
        <p:spPr>
          <a:xfrm>
            <a:off x="5047488" y="5321808"/>
            <a:ext cx="329184" cy="329184"/>
          </a:xfrm>
          <a:prstGeom prst="ellipse">
            <a:avLst/>
          </a:prstGeom>
          <a:solidFill>
            <a:srgbClr val="E879F9"/>
          </a:solidFill>
          <a:ln w="12700">
            <a:solidFill>
              <a:srgbClr val="E879F9"/>
            </a:solidFill>
            <a:prstDash val="solid"/>
          </a:ln>
        </p:spPr>
        <p:txBody>
          <a:bodyPr/>
          <a:lstStyle/>
          <a:p>
            <a:endParaRPr lang="en-IN"/>
          </a:p>
        </p:txBody>
      </p:sp>
      <p:sp>
        <p:nvSpPr>
          <p:cNvPr id="93" name="Text 91"/>
          <p:cNvSpPr/>
          <p:nvPr/>
        </p:nvSpPr>
        <p:spPr>
          <a:xfrm>
            <a:off x="4389120" y="2011680"/>
            <a:ext cx="1645920" cy="274320"/>
          </a:xfrm>
          <a:prstGeom prst="rect">
            <a:avLst/>
          </a:prstGeom>
          <a:noFill/>
          <a:ln/>
        </p:spPr>
        <p:txBody>
          <a:bodyPr wrap="square" lIns="0" tIns="0" rIns="0" bIns="0" rtlCol="0" anchor="ctr"/>
          <a:lstStyle/>
          <a:p>
            <a:pPr marL="0" indent="0" algn="ctr">
              <a:buNone/>
            </a:pPr>
            <a:r>
              <a:rPr lang="en-US" sz="1000" b="1" dirty="0">
                <a:solidFill>
                  <a:srgbClr val="94A3B8"/>
                </a:solidFill>
                <a:latin typeface="Calibri" pitchFamily="34" charset="0"/>
                <a:ea typeface="Calibri" pitchFamily="34" charset="-122"/>
                <a:cs typeface="Calibri" pitchFamily="34" charset="-120"/>
              </a:rPr>
              <a:t>Hidden layer</a:t>
            </a:r>
            <a:endParaRPr lang="en-US" sz="1000" dirty="0"/>
          </a:p>
        </p:txBody>
      </p:sp>
      <p:sp>
        <p:nvSpPr>
          <p:cNvPr id="94" name="Shape 92"/>
          <p:cNvSpPr/>
          <p:nvPr/>
        </p:nvSpPr>
        <p:spPr>
          <a:xfrm>
            <a:off x="6693408" y="3127248"/>
            <a:ext cx="329184" cy="329184"/>
          </a:xfrm>
          <a:prstGeom prst="ellipse">
            <a:avLst/>
          </a:prstGeom>
          <a:solidFill>
            <a:srgbClr val="22D3EE"/>
          </a:solidFill>
          <a:ln w="12700">
            <a:solidFill>
              <a:srgbClr val="22D3EE"/>
            </a:solidFill>
            <a:prstDash val="solid"/>
          </a:ln>
        </p:spPr>
        <p:txBody>
          <a:bodyPr/>
          <a:lstStyle/>
          <a:p>
            <a:endParaRPr lang="en-IN"/>
          </a:p>
        </p:txBody>
      </p:sp>
      <p:sp>
        <p:nvSpPr>
          <p:cNvPr id="95" name="Shape 93"/>
          <p:cNvSpPr/>
          <p:nvPr/>
        </p:nvSpPr>
        <p:spPr>
          <a:xfrm>
            <a:off x="6693408" y="4133088"/>
            <a:ext cx="329184" cy="329184"/>
          </a:xfrm>
          <a:prstGeom prst="ellipse">
            <a:avLst/>
          </a:prstGeom>
          <a:solidFill>
            <a:srgbClr val="22D3EE"/>
          </a:solidFill>
          <a:ln w="12700">
            <a:solidFill>
              <a:srgbClr val="22D3EE"/>
            </a:solidFill>
            <a:prstDash val="solid"/>
          </a:ln>
        </p:spPr>
        <p:txBody>
          <a:bodyPr/>
          <a:lstStyle/>
          <a:p>
            <a:endParaRPr lang="en-IN"/>
          </a:p>
        </p:txBody>
      </p:sp>
      <p:sp>
        <p:nvSpPr>
          <p:cNvPr id="96" name="Shape 94"/>
          <p:cNvSpPr/>
          <p:nvPr/>
        </p:nvSpPr>
        <p:spPr>
          <a:xfrm>
            <a:off x="6693408" y="5138928"/>
            <a:ext cx="329184" cy="329184"/>
          </a:xfrm>
          <a:prstGeom prst="ellipse">
            <a:avLst/>
          </a:prstGeom>
          <a:solidFill>
            <a:srgbClr val="22D3EE"/>
          </a:solidFill>
          <a:ln w="12700">
            <a:solidFill>
              <a:srgbClr val="22D3EE"/>
            </a:solidFill>
            <a:prstDash val="solid"/>
          </a:ln>
        </p:spPr>
        <p:txBody>
          <a:bodyPr/>
          <a:lstStyle/>
          <a:p>
            <a:endParaRPr lang="en-IN"/>
          </a:p>
        </p:txBody>
      </p:sp>
      <p:sp>
        <p:nvSpPr>
          <p:cNvPr id="97" name="Text 95"/>
          <p:cNvSpPr/>
          <p:nvPr/>
        </p:nvSpPr>
        <p:spPr>
          <a:xfrm>
            <a:off x="6035040" y="2011680"/>
            <a:ext cx="1645920" cy="274320"/>
          </a:xfrm>
          <a:prstGeom prst="rect">
            <a:avLst/>
          </a:prstGeom>
          <a:noFill/>
          <a:ln/>
        </p:spPr>
        <p:txBody>
          <a:bodyPr wrap="square" lIns="0" tIns="0" rIns="0" bIns="0" rtlCol="0" anchor="ctr"/>
          <a:lstStyle/>
          <a:p>
            <a:pPr marL="0" indent="0" algn="ctr">
              <a:buNone/>
            </a:pPr>
            <a:r>
              <a:rPr lang="en-US" sz="1000" b="1" dirty="0">
                <a:solidFill>
                  <a:srgbClr val="94A3B8"/>
                </a:solidFill>
                <a:latin typeface="Calibri" pitchFamily="34" charset="0"/>
                <a:ea typeface="Calibri" pitchFamily="34" charset="-122"/>
                <a:cs typeface="Calibri" pitchFamily="34" charset="-120"/>
              </a:rPr>
              <a:t>Output layer</a:t>
            </a:r>
            <a:endParaRPr lang="en-US" sz="1000" dirty="0"/>
          </a:p>
        </p:txBody>
      </p:sp>
      <p:sp>
        <p:nvSpPr>
          <p:cNvPr id="98" name="Shape 96"/>
          <p:cNvSpPr/>
          <p:nvPr/>
        </p:nvSpPr>
        <p:spPr>
          <a:xfrm>
            <a:off x="7680960" y="1874520"/>
            <a:ext cx="3931920" cy="420624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99" name="Shape 97"/>
          <p:cNvSpPr/>
          <p:nvPr/>
        </p:nvSpPr>
        <p:spPr>
          <a:xfrm>
            <a:off x="7863840" y="2176272"/>
            <a:ext cx="54864" cy="640080"/>
          </a:xfrm>
          <a:prstGeom prst="rect">
            <a:avLst/>
          </a:prstGeom>
          <a:solidFill>
            <a:srgbClr val="22D3EE"/>
          </a:solidFill>
          <a:ln w="12700">
            <a:solidFill>
              <a:srgbClr val="333333"/>
            </a:solidFill>
            <a:prstDash val="solid"/>
          </a:ln>
        </p:spPr>
        <p:txBody>
          <a:bodyPr/>
          <a:lstStyle/>
          <a:p>
            <a:endParaRPr lang="en-IN"/>
          </a:p>
        </p:txBody>
      </p:sp>
      <p:sp>
        <p:nvSpPr>
          <p:cNvPr id="100" name="Text 98"/>
          <p:cNvSpPr/>
          <p:nvPr/>
        </p:nvSpPr>
        <p:spPr>
          <a:xfrm>
            <a:off x="8046720" y="2103120"/>
            <a:ext cx="3383280" cy="274320"/>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Neuron</a:t>
            </a:r>
            <a:endParaRPr lang="en-US" sz="1300" dirty="0"/>
          </a:p>
        </p:txBody>
      </p:sp>
      <p:sp>
        <p:nvSpPr>
          <p:cNvPr id="101" name="Text 99"/>
          <p:cNvSpPr/>
          <p:nvPr/>
        </p:nvSpPr>
        <p:spPr>
          <a:xfrm>
            <a:off x="8046720" y="2377440"/>
            <a:ext cx="3383280" cy="64008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A unit that takes inputs, multiplies them by weights, adds a bias, and passes the result through an activation.</a:t>
            </a:r>
            <a:endParaRPr lang="en-US" sz="1050" dirty="0"/>
          </a:p>
        </p:txBody>
      </p:sp>
      <p:sp>
        <p:nvSpPr>
          <p:cNvPr id="102" name="Shape 100"/>
          <p:cNvSpPr/>
          <p:nvPr/>
        </p:nvSpPr>
        <p:spPr>
          <a:xfrm>
            <a:off x="7863840" y="3136392"/>
            <a:ext cx="54864" cy="640080"/>
          </a:xfrm>
          <a:prstGeom prst="rect">
            <a:avLst/>
          </a:prstGeom>
          <a:solidFill>
            <a:srgbClr val="E879F9"/>
          </a:solidFill>
          <a:ln w="12700">
            <a:solidFill>
              <a:srgbClr val="333333"/>
            </a:solidFill>
            <a:prstDash val="solid"/>
          </a:ln>
        </p:spPr>
        <p:txBody>
          <a:bodyPr/>
          <a:lstStyle/>
          <a:p>
            <a:endParaRPr lang="en-IN"/>
          </a:p>
        </p:txBody>
      </p:sp>
      <p:sp>
        <p:nvSpPr>
          <p:cNvPr id="103" name="Text 101"/>
          <p:cNvSpPr/>
          <p:nvPr/>
        </p:nvSpPr>
        <p:spPr>
          <a:xfrm>
            <a:off x="8046720" y="3063240"/>
            <a:ext cx="3383280" cy="274320"/>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Weights &amp; biases</a:t>
            </a:r>
            <a:endParaRPr lang="en-US" sz="1300" dirty="0"/>
          </a:p>
        </p:txBody>
      </p:sp>
      <p:sp>
        <p:nvSpPr>
          <p:cNvPr id="104" name="Text 102"/>
          <p:cNvSpPr/>
          <p:nvPr/>
        </p:nvSpPr>
        <p:spPr>
          <a:xfrm>
            <a:off x="8046720" y="3337560"/>
            <a:ext cx="3383280" cy="64008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The numbers the network learns. Training is just updating these values.</a:t>
            </a:r>
            <a:endParaRPr lang="en-US" sz="1050" dirty="0"/>
          </a:p>
        </p:txBody>
      </p:sp>
      <p:sp>
        <p:nvSpPr>
          <p:cNvPr id="105" name="Shape 103"/>
          <p:cNvSpPr/>
          <p:nvPr/>
        </p:nvSpPr>
        <p:spPr>
          <a:xfrm>
            <a:off x="7863840" y="4096512"/>
            <a:ext cx="54864" cy="640080"/>
          </a:xfrm>
          <a:prstGeom prst="rect">
            <a:avLst/>
          </a:prstGeom>
          <a:solidFill>
            <a:srgbClr val="22D3EE"/>
          </a:solidFill>
          <a:ln w="12700">
            <a:solidFill>
              <a:srgbClr val="333333"/>
            </a:solidFill>
            <a:prstDash val="solid"/>
          </a:ln>
        </p:spPr>
        <p:txBody>
          <a:bodyPr/>
          <a:lstStyle/>
          <a:p>
            <a:endParaRPr lang="en-IN"/>
          </a:p>
        </p:txBody>
      </p:sp>
      <p:sp>
        <p:nvSpPr>
          <p:cNvPr id="106" name="Text 104"/>
          <p:cNvSpPr/>
          <p:nvPr/>
        </p:nvSpPr>
        <p:spPr>
          <a:xfrm>
            <a:off x="8046720" y="4023360"/>
            <a:ext cx="3383280" cy="274320"/>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Activation function</a:t>
            </a:r>
            <a:endParaRPr lang="en-US" sz="1300" dirty="0"/>
          </a:p>
        </p:txBody>
      </p:sp>
      <p:sp>
        <p:nvSpPr>
          <p:cNvPr id="107" name="Text 105"/>
          <p:cNvSpPr/>
          <p:nvPr/>
        </p:nvSpPr>
        <p:spPr>
          <a:xfrm>
            <a:off x="8046720" y="4297680"/>
            <a:ext cx="3383280" cy="64008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Adds non-linearity. Common choices: ReLU, Sigmoid, Tanh, Softmax.</a:t>
            </a:r>
            <a:endParaRPr lang="en-US" sz="1050" dirty="0"/>
          </a:p>
        </p:txBody>
      </p:sp>
      <p:sp>
        <p:nvSpPr>
          <p:cNvPr id="108" name="Shape 106"/>
          <p:cNvSpPr/>
          <p:nvPr/>
        </p:nvSpPr>
        <p:spPr>
          <a:xfrm>
            <a:off x="7863840" y="5056632"/>
            <a:ext cx="54864" cy="640080"/>
          </a:xfrm>
          <a:prstGeom prst="rect">
            <a:avLst/>
          </a:prstGeom>
          <a:solidFill>
            <a:srgbClr val="E879F9"/>
          </a:solidFill>
          <a:ln w="12700">
            <a:solidFill>
              <a:srgbClr val="333333"/>
            </a:solidFill>
            <a:prstDash val="solid"/>
          </a:ln>
        </p:spPr>
        <p:txBody>
          <a:bodyPr/>
          <a:lstStyle/>
          <a:p>
            <a:endParaRPr lang="en-IN"/>
          </a:p>
        </p:txBody>
      </p:sp>
      <p:sp>
        <p:nvSpPr>
          <p:cNvPr id="109" name="Text 107"/>
          <p:cNvSpPr/>
          <p:nvPr/>
        </p:nvSpPr>
        <p:spPr>
          <a:xfrm>
            <a:off x="8046720" y="4983480"/>
            <a:ext cx="3383280" cy="274320"/>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Layer</a:t>
            </a:r>
            <a:endParaRPr lang="en-US" sz="1300" dirty="0"/>
          </a:p>
        </p:txBody>
      </p:sp>
      <p:sp>
        <p:nvSpPr>
          <p:cNvPr id="110" name="Text 108"/>
          <p:cNvSpPr/>
          <p:nvPr/>
        </p:nvSpPr>
        <p:spPr>
          <a:xfrm>
            <a:off x="8046720" y="5257800"/>
            <a:ext cx="3383280" cy="64008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A group of neurons that transforms the previous layer's output.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11247120" y="137160"/>
            <a:ext cx="365760" cy="182880"/>
          </a:xfrm>
          <a:prstGeom prst="line">
            <a:avLst/>
          </a:prstGeom>
          <a:noFill/>
          <a:ln w="9525">
            <a:solidFill>
              <a:srgbClr val="22D3EE">
                <a:alpha val="50000"/>
              </a:srgbClr>
            </a:solidFill>
            <a:prstDash val="solid"/>
          </a:ln>
        </p:spPr>
        <p:txBody>
          <a:bodyPr/>
          <a:lstStyle/>
          <a:p>
            <a:endParaRPr lang="en-IN"/>
          </a:p>
        </p:txBody>
      </p:sp>
      <p:sp>
        <p:nvSpPr>
          <p:cNvPr id="3" name="Shape 1"/>
          <p:cNvSpPr/>
          <p:nvPr/>
        </p:nvSpPr>
        <p:spPr>
          <a:xfrm>
            <a:off x="11247120" y="137160"/>
            <a:ext cx="228600" cy="411480"/>
          </a:xfrm>
          <a:prstGeom prst="line">
            <a:avLst/>
          </a:prstGeom>
          <a:noFill/>
          <a:ln w="9525">
            <a:solidFill>
              <a:srgbClr val="22D3EE">
                <a:alpha val="50000"/>
              </a:srgbClr>
            </a:solidFill>
            <a:prstDash val="solid"/>
          </a:ln>
        </p:spPr>
        <p:txBody>
          <a:bodyPr/>
          <a:lstStyle/>
          <a:p>
            <a:endParaRPr lang="en-IN"/>
          </a:p>
        </p:txBody>
      </p:sp>
      <p:sp>
        <p:nvSpPr>
          <p:cNvPr id="4" name="Shape 2"/>
          <p:cNvSpPr/>
          <p:nvPr/>
        </p:nvSpPr>
        <p:spPr>
          <a:xfrm>
            <a:off x="11612880" y="320040"/>
            <a:ext cx="228600" cy="182880"/>
          </a:xfrm>
          <a:prstGeom prst="line">
            <a:avLst/>
          </a:prstGeom>
          <a:noFill/>
          <a:ln w="9525">
            <a:solidFill>
              <a:srgbClr val="22D3EE">
                <a:alpha val="50000"/>
              </a:srgbClr>
            </a:solidFill>
            <a:prstDash val="solid"/>
          </a:ln>
        </p:spPr>
        <p:txBody>
          <a:bodyPr/>
          <a:lstStyle/>
          <a:p>
            <a:endParaRPr lang="en-IN"/>
          </a:p>
        </p:txBody>
      </p:sp>
      <p:sp>
        <p:nvSpPr>
          <p:cNvPr id="5" name="Shape 3"/>
          <p:cNvSpPr/>
          <p:nvPr/>
        </p:nvSpPr>
        <p:spPr>
          <a:xfrm flipV="1">
            <a:off x="11475720" y="502920"/>
            <a:ext cx="365760" cy="45720"/>
          </a:xfrm>
          <a:prstGeom prst="line">
            <a:avLst/>
          </a:prstGeom>
          <a:noFill/>
          <a:ln w="9525">
            <a:solidFill>
              <a:srgbClr val="22D3EE">
                <a:alpha val="50000"/>
              </a:srgbClr>
            </a:solidFill>
            <a:prstDash val="solid"/>
          </a:ln>
        </p:spPr>
        <p:txBody>
          <a:bodyPr/>
          <a:lstStyle/>
          <a:p>
            <a:endParaRPr lang="en-IN"/>
          </a:p>
        </p:txBody>
      </p:sp>
      <p:sp>
        <p:nvSpPr>
          <p:cNvPr id="6" name="Shape 4"/>
          <p:cNvSpPr/>
          <p:nvPr/>
        </p:nvSpPr>
        <p:spPr>
          <a:xfrm>
            <a:off x="11183112" y="73152"/>
            <a:ext cx="128016" cy="128016"/>
          </a:xfrm>
          <a:prstGeom prst="ellipse">
            <a:avLst/>
          </a:prstGeom>
          <a:solidFill>
            <a:srgbClr val="22D3EE"/>
          </a:solidFill>
          <a:ln w="12700">
            <a:solidFill>
              <a:srgbClr val="22D3EE"/>
            </a:solidFill>
            <a:prstDash val="solid"/>
          </a:ln>
        </p:spPr>
        <p:txBody>
          <a:bodyPr/>
          <a:lstStyle/>
          <a:p>
            <a:endParaRPr lang="en-IN"/>
          </a:p>
        </p:txBody>
      </p:sp>
      <p:sp>
        <p:nvSpPr>
          <p:cNvPr id="7" name="Shape 5"/>
          <p:cNvSpPr/>
          <p:nvPr/>
        </p:nvSpPr>
        <p:spPr>
          <a:xfrm>
            <a:off x="11548872" y="256032"/>
            <a:ext cx="128016" cy="128016"/>
          </a:xfrm>
          <a:prstGeom prst="ellipse">
            <a:avLst/>
          </a:prstGeom>
          <a:solidFill>
            <a:srgbClr val="E879F9"/>
          </a:solidFill>
          <a:ln w="12700">
            <a:solidFill>
              <a:srgbClr val="E879F9"/>
            </a:solidFill>
            <a:prstDash val="solid"/>
          </a:ln>
        </p:spPr>
        <p:txBody>
          <a:bodyPr/>
          <a:lstStyle/>
          <a:p>
            <a:endParaRPr lang="en-IN"/>
          </a:p>
        </p:txBody>
      </p:sp>
      <p:sp>
        <p:nvSpPr>
          <p:cNvPr id="8" name="Shape 6"/>
          <p:cNvSpPr/>
          <p:nvPr/>
        </p:nvSpPr>
        <p:spPr>
          <a:xfrm>
            <a:off x="11411712" y="484632"/>
            <a:ext cx="128016" cy="128016"/>
          </a:xfrm>
          <a:prstGeom prst="ellipse">
            <a:avLst/>
          </a:prstGeom>
          <a:solidFill>
            <a:srgbClr val="22D3EE"/>
          </a:solidFill>
          <a:ln w="12700">
            <a:solidFill>
              <a:srgbClr val="22D3EE"/>
            </a:solidFill>
            <a:prstDash val="solid"/>
          </a:ln>
        </p:spPr>
        <p:txBody>
          <a:bodyPr/>
          <a:lstStyle/>
          <a:p>
            <a:endParaRPr lang="en-IN"/>
          </a:p>
        </p:txBody>
      </p:sp>
      <p:sp>
        <p:nvSpPr>
          <p:cNvPr id="9" name="Shape 7"/>
          <p:cNvSpPr/>
          <p:nvPr/>
        </p:nvSpPr>
        <p:spPr>
          <a:xfrm>
            <a:off x="11777472" y="438912"/>
            <a:ext cx="128016" cy="128016"/>
          </a:xfrm>
          <a:prstGeom prst="ellipse">
            <a:avLst/>
          </a:prstGeom>
          <a:solidFill>
            <a:srgbClr val="E879F9"/>
          </a:solidFill>
          <a:ln w="12700">
            <a:solidFill>
              <a:srgbClr val="E879F9"/>
            </a:solidFill>
            <a:prstDash val="solid"/>
          </a:ln>
        </p:spPr>
        <p:txBody>
          <a:bodyPr/>
          <a:lstStyle/>
          <a:p>
            <a:endParaRPr lang="en-IN"/>
          </a:p>
        </p:txBody>
      </p:sp>
      <p:sp>
        <p:nvSpPr>
          <p:cNvPr id="10" name="Shape 8"/>
          <p:cNvSpPr/>
          <p:nvPr/>
        </p:nvSpPr>
        <p:spPr>
          <a:xfrm>
            <a:off x="0" y="6693408"/>
            <a:ext cx="12161520" cy="36576"/>
          </a:xfrm>
          <a:prstGeom prst="rect">
            <a:avLst/>
          </a:prstGeom>
          <a:solidFill>
            <a:srgbClr val="22D3EE"/>
          </a:solidFill>
          <a:ln w="12700">
            <a:solidFill>
              <a:srgbClr val="22D3EE"/>
            </a:solidFill>
            <a:prstDash val="solid"/>
          </a:ln>
        </p:spPr>
        <p:txBody>
          <a:bodyPr/>
          <a:lstStyle/>
          <a:p>
            <a:endParaRPr lang="en-IN"/>
          </a:p>
        </p:txBody>
      </p:sp>
      <p:sp>
        <p:nvSpPr>
          <p:cNvPr id="11" name="Text 9"/>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Deep Learning Onboarding  ·  Intern Training</a:t>
            </a:r>
            <a:endParaRPr lang="en-US" sz="1000" dirty="0"/>
          </a:p>
        </p:txBody>
      </p:sp>
      <p:sp>
        <p:nvSpPr>
          <p:cNvPr id="12" name="Text 10"/>
          <p:cNvSpPr/>
          <p:nvPr/>
        </p:nvSpPr>
        <p:spPr>
          <a:xfrm>
            <a:off x="10698480" y="6446520"/>
            <a:ext cx="914400" cy="27432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6 / 13</a:t>
            </a:r>
            <a:endParaRPr lang="en-US" sz="1000" dirty="0"/>
          </a:p>
        </p:txBody>
      </p:sp>
      <p:sp>
        <p:nvSpPr>
          <p:cNvPr id="13" name="Text 11"/>
          <p:cNvSpPr/>
          <p:nvPr/>
        </p:nvSpPr>
        <p:spPr>
          <a:xfrm>
            <a:off x="548640" y="411480"/>
            <a:ext cx="9144000" cy="320040"/>
          </a:xfrm>
          <a:prstGeom prst="rect">
            <a:avLst/>
          </a:prstGeom>
          <a:noFill/>
          <a:ln/>
        </p:spPr>
        <p:txBody>
          <a:bodyPr wrap="square" lIns="0" tIns="0" rIns="0" bIns="0" rtlCol="0" anchor="ctr"/>
          <a:lstStyle/>
          <a:p>
            <a:pPr marL="0" indent="0">
              <a:buNone/>
            </a:pPr>
            <a:r>
              <a:rPr lang="en-US" sz="1100" b="1" kern="0" spc="400" dirty="0">
                <a:solidFill>
                  <a:srgbClr val="22D3EE"/>
                </a:solidFill>
                <a:latin typeface="Calibri" pitchFamily="34" charset="0"/>
                <a:ea typeface="Calibri" pitchFamily="34" charset="-122"/>
                <a:cs typeface="Calibri" pitchFamily="34" charset="-120"/>
              </a:rPr>
              <a:t>MODULE 2</a:t>
            </a:r>
            <a:endParaRPr lang="en-US" sz="1100" dirty="0"/>
          </a:p>
        </p:txBody>
      </p:sp>
      <p:sp>
        <p:nvSpPr>
          <p:cNvPr id="14" name="Text 12"/>
          <p:cNvSpPr/>
          <p:nvPr/>
        </p:nvSpPr>
        <p:spPr>
          <a:xfrm>
            <a:off x="548640" y="713232"/>
            <a:ext cx="10515600" cy="77724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How neural networks learn</a:t>
            </a:r>
            <a:endParaRPr lang="en-US" sz="3200" dirty="0"/>
          </a:p>
        </p:txBody>
      </p:sp>
      <p:sp>
        <p:nvSpPr>
          <p:cNvPr id="15" name="Shape 13"/>
          <p:cNvSpPr/>
          <p:nvPr/>
        </p:nvSpPr>
        <p:spPr>
          <a:xfrm>
            <a:off x="548640" y="1481328"/>
            <a:ext cx="548640" cy="54864"/>
          </a:xfrm>
          <a:prstGeom prst="rect">
            <a:avLst/>
          </a:prstGeom>
          <a:solidFill>
            <a:srgbClr val="E879F9"/>
          </a:solidFill>
          <a:ln w="12700">
            <a:solidFill>
              <a:srgbClr val="E879F9"/>
            </a:solidFill>
            <a:prstDash val="solid"/>
          </a:ln>
        </p:spPr>
        <p:txBody>
          <a:bodyPr/>
          <a:lstStyle/>
          <a:p>
            <a:endParaRPr lang="en-IN"/>
          </a:p>
        </p:txBody>
      </p:sp>
      <p:sp>
        <p:nvSpPr>
          <p:cNvPr id="16" name="Shape 14"/>
          <p:cNvSpPr/>
          <p:nvPr/>
        </p:nvSpPr>
        <p:spPr>
          <a:xfrm>
            <a:off x="548640" y="2011680"/>
            <a:ext cx="2697480" cy="292608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17" name="Shape 15"/>
          <p:cNvSpPr/>
          <p:nvPr/>
        </p:nvSpPr>
        <p:spPr>
          <a:xfrm>
            <a:off x="868680" y="2331720"/>
            <a:ext cx="640080" cy="640080"/>
          </a:xfrm>
          <a:prstGeom prst="ellipse">
            <a:avLst/>
          </a:prstGeom>
          <a:solidFill>
            <a:srgbClr val="22D3EE"/>
          </a:solidFill>
          <a:ln w="12700">
            <a:solidFill>
              <a:srgbClr val="333333"/>
            </a:solidFill>
            <a:prstDash val="solid"/>
          </a:ln>
        </p:spPr>
        <p:txBody>
          <a:bodyPr/>
          <a:lstStyle/>
          <a:p>
            <a:endParaRPr lang="en-IN"/>
          </a:p>
        </p:txBody>
      </p:sp>
      <p:sp>
        <p:nvSpPr>
          <p:cNvPr id="18" name="Text 16"/>
          <p:cNvSpPr/>
          <p:nvPr/>
        </p:nvSpPr>
        <p:spPr>
          <a:xfrm>
            <a:off x="868680" y="2377440"/>
            <a:ext cx="640080" cy="548640"/>
          </a:xfrm>
          <a:prstGeom prst="rect">
            <a:avLst/>
          </a:prstGeom>
          <a:noFill/>
          <a:ln/>
        </p:spPr>
        <p:txBody>
          <a:bodyPr wrap="square" lIns="0" tIns="0" rIns="0" bIns="0" rtlCol="0" anchor="ctr"/>
          <a:lstStyle/>
          <a:p>
            <a:pPr marL="0" indent="0" algn="ctr">
              <a:buNone/>
            </a:pPr>
            <a:r>
              <a:rPr lang="en-US" sz="2000" b="1" dirty="0">
                <a:solidFill>
                  <a:srgbClr val="0B1020"/>
                </a:solidFill>
                <a:latin typeface="Calibri" pitchFamily="34" charset="0"/>
                <a:ea typeface="Calibri" pitchFamily="34" charset="-122"/>
                <a:cs typeface="Calibri" pitchFamily="34" charset="-120"/>
              </a:rPr>
              <a:t>1</a:t>
            </a:r>
            <a:endParaRPr lang="en-US" sz="2000" dirty="0"/>
          </a:p>
        </p:txBody>
      </p:sp>
      <p:sp>
        <p:nvSpPr>
          <p:cNvPr id="19" name="Text 17"/>
          <p:cNvSpPr/>
          <p:nvPr/>
        </p:nvSpPr>
        <p:spPr>
          <a:xfrm>
            <a:off x="822960" y="3108960"/>
            <a:ext cx="2148840" cy="457200"/>
          </a:xfrm>
          <a:prstGeom prst="rect">
            <a:avLst/>
          </a:prstGeom>
          <a:noFill/>
          <a:ln/>
        </p:spPr>
        <p:txBody>
          <a:bodyPr wrap="square" lIns="0" tIns="0" rIns="0" bIns="0" rtlCol="0" anchor="ctr"/>
          <a:lstStyle/>
          <a:p>
            <a:pPr marL="0" indent="0">
              <a:buNone/>
            </a:pPr>
            <a:r>
              <a:rPr lang="en-US" sz="1700" b="1" dirty="0">
                <a:solidFill>
                  <a:srgbClr val="F8FAFC"/>
                </a:solidFill>
                <a:latin typeface="Calibri" pitchFamily="34" charset="0"/>
                <a:ea typeface="Calibri" pitchFamily="34" charset="-122"/>
                <a:cs typeface="Calibri" pitchFamily="34" charset="-120"/>
              </a:rPr>
              <a:t>Forward pass</a:t>
            </a:r>
            <a:endParaRPr lang="en-US" sz="1700" dirty="0"/>
          </a:p>
        </p:txBody>
      </p:sp>
      <p:sp>
        <p:nvSpPr>
          <p:cNvPr id="20" name="Text 18"/>
          <p:cNvSpPr/>
          <p:nvPr/>
        </p:nvSpPr>
        <p:spPr>
          <a:xfrm>
            <a:off x="822960" y="3611880"/>
            <a:ext cx="2148840" cy="118872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Feed inputs through the network and get a prediction.</a:t>
            </a:r>
            <a:endParaRPr lang="en-US" sz="1200" dirty="0"/>
          </a:p>
        </p:txBody>
      </p:sp>
      <p:sp>
        <p:nvSpPr>
          <p:cNvPr id="21" name="Shape 19"/>
          <p:cNvSpPr/>
          <p:nvPr/>
        </p:nvSpPr>
        <p:spPr>
          <a:xfrm>
            <a:off x="3246120" y="3474720"/>
            <a:ext cx="164592" cy="0"/>
          </a:xfrm>
          <a:prstGeom prst="line">
            <a:avLst/>
          </a:prstGeom>
          <a:noFill/>
          <a:ln w="19050">
            <a:solidFill>
              <a:srgbClr val="22D3EE"/>
            </a:solidFill>
            <a:prstDash val="solid"/>
            <a:tailEnd type="triangle"/>
          </a:ln>
        </p:spPr>
        <p:txBody>
          <a:bodyPr/>
          <a:lstStyle/>
          <a:p>
            <a:endParaRPr lang="en-IN"/>
          </a:p>
        </p:txBody>
      </p:sp>
      <p:sp>
        <p:nvSpPr>
          <p:cNvPr id="22" name="Shape 20"/>
          <p:cNvSpPr/>
          <p:nvPr/>
        </p:nvSpPr>
        <p:spPr>
          <a:xfrm>
            <a:off x="3410712" y="2011680"/>
            <a:ext cx="2697480" cy="292608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23" name="Shape 21"/>
          <p:cNvSpPr/>
          <p:nvPr/>
        </p:nvSpPr>
        <p:spPr>
          <a:xfrm>
            <a:off x="3730752" y="2331720"/>
            <a:ext cx="640080" cy="640080"/>
          </a:xfrm>
          <a:prstGeom prst="ellipse">
            <a:avLst/>
          </a:prstGeom>
          <a:solidFill>
            <a:srgbClr val="E879F9"/>
          </a:solidFill>
          <a:ln w="12700">
            <a:solidFill>
              <a:srgbClr val="333333"/>
            </a:solidFill>
            <a:prstDash val="solid"/>
          </a:ln>
        </p:spPr>
        <p:txBody>
          <a:bodyPr/>
          <a:lstStyle/>
          <a:p>
            <a:endParaRPr lang="en-IN"/>
          </a:p>
        </p:txBody>
      </p:sp>
      <p:sp>
        <p:nvSpPr>
          <p:cNvPr id="24" name="Text 22"/>
          <p:cNvSpPr/>
          <p:nvPr/>
        </p:nvSpPr>
        <p:spPr>
          <a:xfrm>
            <a:off x="3730752" y="2377440"/>
            <a:ext cx="640080" cy="548640"/>
          </a:xfrm>
          <a:prstGeom prst="rect">
            <a:avLst/>
          </a:prstGeom>
          <a:noFill/>
          <a:ln/>
        </p:spPr>
        <p:txBody>
          <a:bodyPr wrap="square" lIns="0" tIns="0" rIns="0" bIns="0" rtlCol="0" anchor="ctr"/>
          <a:lstStyle/>
          <a:p>
            <a:pPr marL="0" indent="0" algn="ctr">
              <a:buNone/>
            </a:pPr>
            <a:r>
              <a:rPr lang="en-US" sz="2000" b="1" dirty="0">
                <a:solidFill>
                  <a:srgbClr val="0B1020"/>
                </a:solidFill>
                <a:latin typeface="Calibri" pitchFamily="34" charset="0"/>
                <a:ea typeface="Calibri" pitchFamily="34" charset="-122"/>
                <a:cs typeface="Calibri" pitchFamily="34" charset="-120"/>
              </a:rPr>
              <a:t>2</a:t>
            </a:r>
            <a:endParaRPr lang="en-US" sz="2000" dirty="0"/>
          </a:p>
        </p:txBody>
      </p:sp>
      <p:sp>
        <p:nvSpPr>
          <p:cNvPr id="25" name="Text 23"/>
          <p:cNvSpPr/>
          <p:nvPr/>
        </p:nvSpPr>
        <p:spPr>
          <a:xfrm>
            <a:off x="3685032" y="3108960"/>
            <a:ext cx="2148840" cy="457200"/>
          </a:xfrm>
          <a:prstGeom prst="rect">
            <a:avLst/>
          </a:prstGeom>
          <a:noFill/>
          <a:ln/>
        </p:spPr>
        <p:txBody>
          <a:bodyPr wrap="square" lIns="0" tIns="0" rIns="0" bIns="0" rtlCol="0" anchor="ctr"/>
          <a:lstStyle/>
          <a:p>
            <a:pPr marL="0" indent="0">
              <a:buNone/>
            </a:pPr>
            <a:r>
              <a:rPr lang="en-US" sz="1700" b="1" dirty="0">
                <a:solidFill>
                  <a:srgbClr val="F8FAFC"/>
                </a:solidFill>
                <a:latin typeface="Calibri" pitchFamily="34" charset="0"/>
                <a:ea typeface="Calibri" pitchFamily="34" charset="-122"/>
                <a:cs typeface="Calibri" pitchFamily="34" charset="-120"/>
              </a:rPr>
              <a:t>Loss</a:t>
            </a:r>
            <a:endParaRPr lang="en-US" sz="1700" dirty="0"/>
          </a:p>
        </p:txBody>
      </p:sp>
      <p:sp>
        <p:nvSpPr>
          <p:cNvPr id="26" name="Text 24"/>
          <p:cNvSpPr/>
          <p:nvPr/>
        </p:nvSpPr>
        <p:spPr>
          <a:xfrm>
            <a:off x="3685032" y="3611880"/>
            <a:ext cx="2148840" cy="118872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Compare prediction to the true label using a loss function (e.g., cross-entropy).</a:t>
            </a:r>
            <a:endParaRPr lang="en-US" sz="1200" dirty="0"/>
          </a:p>
        </p:txBody>
      </p:sp>
      <p:sp>
        <p:nvSpPr>
          <p:cNvPr id="27" name="Shape 25"/>
          <p:cNvSpPr/>
          <p:nvPr/>
        </p:nvSpPr>
        <p:spPr>
          <a:xfrm>
            <a:off x="6108192" y="3474720"/>
            <a:ext cx="164592" cy="0"/>
          </a:xfrm>
          <a:prstGeom prst="line">
            <a:avLst/>
          </a:prstGeom>
          <a:noFill/>
          <a:ln w="19050">
            <a:solidFill>
              <a:srgbClr val="22D3EE"/>
            </a:solidFill>
            <a:prstDash val="solid"/>
            <a:tailEnd type="triangle"/>
          </a:ln>
        </p:spPr>
        <p:txBody>
          <a:bodyPr/>
          <a:lstStyle/>
          <a:p>
            <a:endParaRPr lang="en-IN"/>
          </a:p>
        </p:txBody>
      </p:sp>
      <p:sp>
        <p:nvSpPr>
          <p:cNvPr id="28" name="Shape 26"/>
          <p:cNvSpPr/>
          <p:nvPr/>
        </p:nvSpPr>
        <p:spPr>
          <a:xfrm>
            <a:off x="6272784" y="2011680"/>
            <a:ext cx="2697480" cy="292608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29" name="Shape 27"/>
          <p:cNvSpPr/>
          <p:nvPr/>
        </p:nvSpPr>
        <p:spPr>
          <a:xfrm>
            <a:off x="6592824" y="2331720"/>
            <a:ext cx="640080" cy="640080"/>
          </a:xfrm>
          <a:prstGeom prst="ellipse">
            <a:avLst/>
          </a:prstGeom>
          <a:solidFill>
            <a:srgbClr val="22D3EE"/>
          </a:solidFill>
          <a:ln w="12700">
            <a:solidFill>
              <a:srgbClr val="333333"/>
            </a:solidFill>
            <a:prstDash val="solid"/>
          </a:ln>
        </p:spPr>
        <p:txBody>
          <a:bodyPr/>
          <a:lstStyle/>
          <a:p>
            <a:endParaRPr lang="en-IN"/>
          </a:p>
        </p:txBody>
      </p:sp>
      <p:sp>
        <p:nvSpPr>
          <p:cNvPr id="30" name="Text 28"/>
          <p:cNvSpPr/>
          <p:nvPr/>
        </p:nvSpPr>
        <p:spPr>
          <a:xfrm>
            <a:off x="6592824" y="2377440"/>
            <a:ext cx="640080" cy="548640"/>
          </a:xfrm>
          <a:prstGeom prst="rect">
            <a:avLst/>
          </a:prstGeom>
          <a:noFill/>
          <a:ln/>
        </p:spPr>
        <p:txBody>
          <a:bodyPr wrap="square" lIns="0" tIns="0" rIns="0" bIns="0" rtlCol="0" anchor="ctr"/>
          <a:lstStyle/>
          <a:p>
            <a:pPr marL="0" indent="0" algn="ctr">
              <a:buNone/>
            </a:pPr>
            <a:r>
              <a:rPr lang="en-US" sz="2000" b="1" dirty="0">
                <a:solidFill>
                  <a:srgbClr val="0B1020"/>
                </a:solidFill>
                <a:latin typeface="Calibri" pitchFamily="34" charset="0"/>
                <a:ea typeface="Calibri" pitchFamily="34" charset="-122"/>
                <a:cs typeface="Calibri" pitchFamily="34" charset="-120"/>
              </a:rPr>
              <a:t>3</a:t>
            </a:r>
            <a:endParaRPr lang="en-US" sz="2000" dirty="0"/>
          </a:p>
        </p:txBody>
      </p:sp>
      <p:sp>
        <p:nvSpPr>
          <p:cNvPr id="31" name="Text 29"/>
          <p:cNvSpPr/>
          <p:nvPr/>
        </p:nvSpPr>
        <p:spPr>
          <a:xfrm>
            <a:off x="6547104" y="3108960"/>
            <a:ext cx="2148840" cy="457200"/>
          </a:xfrm>
          <a:prstGeom prst="rect">
            <a:avLst/>
          </a:prstGeom>
          <a:noFill/>
          <a:ln/>
        </p:spPr>
        <p:txBody>
          <a:bodyPr wrap="square" lIns="0" tIns="0" rIns="0" bIns="0" rtlCol="0" anchor="ctr"/>
          <a:lstStyle/>
          <a:p>
            <a:pPr marL="0" indent="0">
              <a:buNone/>
            </a:pPr>
            <a:r>
              <a:rPr lang="en-US" sz="1700" b="1" dirty="0">
                <a:solidFill>
                  <a:srgbClr val="F8FAFC"/>
                </a:solidFill>
                <a:latin typeface="Calibri" pitchFamily="34" charset="0"/>
                <a:ea typeface="Calibri" pitchFamily="34" charset="-122"/>
                <a:cs typeface="Calibri" pitchFamily="34" charset="-120"/>
              </a:rPr>
              <a:t>Backprop</a:t>
            </a:r>
            <a:endParaRPr lang="en-US" sz="1700" dirty="0"/>
          </a:p>
        </p:txBody>
      </p:sp>
      <p:sp>
        <p:nvSpPr>
          <p:cNvPr id="32" name="Text 30"/>
          <p:cNvSpPr/>
          <p:nvPr/>
        </p:nvSpPr>
        <p:spPr>
          <a:xfrm>
            <a:off x="6547104" y="3611880"/>
            <a:ext cx="2148840" cy="118872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Compute the gradient of the loss with respect to every weight.</a:t>
            </a:r>
            <a:endParaRPr lang="en-US" sz="1200" dirty="0"/>
          </a:p>
        </p:txBody>
      </p:sp>
      <p:sp>
        <p:nvSpPr>
          <p:cNvPr id="33" name="Shape 31"/>
          <p:cNvSpPr/>
          <p:nvPr/>
        </p:nvSpPr>
        <p:spPr>
          <a:xfrm>
            <a:off x="8970264" y="3474720"/>
            <a:ext cx="164592" cy="0"/>
          </a:xfrm>
          <a:prstGeom prst="line">
            <a:avLst/>
          </a:prstGeom>
          <a:noFill/>
          <a:ln w="19050">
            <a:solidFill>
              <a:srgbClr val="22D3EE"/>
            </a:solidFill>
            <a:prstDash val="solid"/>
            <a:tailEnd type="triangle"/>
          </a:ln>
        </p:spPr>
        <p:txBody>
          <a:bodyPr/>
          <a:lstStyle/>
          <a:p>
            <a:endParaRPr lang="en-IN"/>
          </a:p>
        </p:txBody>
      </p:sp>
      <p:sp>
        <p:nvSpPr>
          <p:cNvPr id="34" name="Shape 32"/>
          <p:cNvSpPr/>
          <p:nvPr/>
        </p:nvSpPr>
        <p:spPr>
          <a:xfrm>
            <a:off x="9134856" y="2011680"/>
            <a:ext cx="2697480" cy="292608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35" name="Shape 33"/>
          <p:cNvSpPr/>
          <p:nvPr/>
        </p:nvSpPr>
        <p:spPr>
          <a:xfrm>
            <a:off x="9454896" y="2331720"/>
            <a:ext cx="640080" cy="640080"/>
          </a:xfrm>
          <a:prstGeom prst="ellipse">
            <a:avLst/>
          </a:prstGeom>
          <a:solidFill>
            <a:srgbClr val="E879F9"/>
          </a:solidFill>
          <a:ln w="12700">
            <a:solidFill>
              <a:srgbClr val="333333"/>
            </a:solidFill>
            <a:prstDash val="solid"/>
          </a:ln>
        </p:spPr>
        <p:txBody>
          <a:bodyPr/>
          <a:lstStyle/>
          <a:p>
            <a:endParaRPr lang="en-IN"/>
          </a:p>
        </p:txBody>
      </p:sp>
      <p:sp>
        <p:nvSpPr>
          <p:cNvPr id="36" name="Text 34"/>
          <p:cNvSpPr/>
          <p:nvPr/>
        </p:nvSpPr>
        <p:spPr>
          <a:xfrm>
            <a:off x="9454896" y="2377440"/>
            <a:ext cx="640080" cy="548640"/>
          </a:xfrm>
          <a:prstGeom prst="rect">
            <a:avLst/>
          </a:prstGeom>
          <a:noFill/>
          <a:ln/>
        </p:spPr>
        <p:txBody>
          <a:bodyPr wrap="square" lIns="0" tIns="0" rIns="0" bIns="0" rtlCol="0" anchor="ctr"/>
          <a:lstStyle/>
          <a:p>
            <a:pPr marL="0" indent="0" algn="ctr">
              <a:buNone/>
            </a:pPr>
            <a:r>
              <a:rPr lang="en-US" sz="2000" b="1" dirty="0">
                <a:solidFill>
                  <a:srgbClr val="0B1020"/>
                </a:solidFill>
                <a:latin typeface="Calibri" pitchFamily="34" charset="0"/>
                <a:ea typeface="Calibri" pitchFamily="34" charset="-122"/>
                <a:cs typeface="Calibri" pitchFamily="34" charset="-120"/>
              </a:rPr>
              <a:t>4</a:t>
            </a:r>
            <a:endParaRPr lang="en-US" sz="2000" dirty="0"/>
          </a:p>
        </p:txBody>
      </p:sp>
      <p:sp>
        <p:nvSpPr>
          <p:cNvPr id="37" name="Text 35"/>
          <p:cNvSpPr/>
          <p:nvPr/>
        </p:nvSpPr>
        <p:spPr>
          <a:xfrm>
            <a:off x="9409176" y="3108960"/>
            <a:ext cx="2148840" cy="457200"/>
          </a:xfrm>
          <a:prstGeom prst="rect">
            <a:avLst/>
          </a:prstGeom>
          <a:noFill/>
          <a:ln/>
        </p:spPr>
        <p:txBody>
          <a:bodyPr wrap="square" lIns="0" tIns="0" rIns="0" bIns="0" rtlCol="0" anchor="ctr"/>
          <a:lstStyle/>
          <a:p>
            <a:pPr marL="0" indent="0">
              <a:buNone/>
            </a:pPr>
            <a:r>
              <a:rPr lang="en-US" sz="1700" b="1" dirty="0">
                <a:solidFill>
                  <a:srgbClr val="F8FAFC"/>
                </a:solidFill>
                <a:latin typeface="Calibri" pitchFamily="34" charset="0"/>
                <a:ea typeface="Calibri" pitchFamily="34" charset="-122"/>
                <a:cs typeface="Calibri" pitchFamily="34" charset="-120"/>
              </a:rPr>
              <a:t>Update</a:t>
            </a:r>
            <a:endParaRPr lang="en-US" sz="1700" dirty="0"/>
          </a:p>
        </p:txBody>
      </p:sp>
      <p:sp>
        <p:nvSpPr>
          <p:cNvPr id="38" name="Text 36"/>
          <p:cNvSpPr/>
          <p:nvPr/>
        </p:nvSpPr>
        <p:spPr>
          <a:xfrm>
            <a:off x="9409176" y="3611880"/>
            <a:ext cx="2148840" cy="118872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Nudge each weight in the direction that reduces the loss (gradient descent).</a:t>
            </a:r>
            <a:endParaRPr lang="en-US" sz="1200" dirty="0"/>
          </a:p>
        </p:txBody>
      </p:sp>
      <p:sp>
        <p:nvSpPr>
          <p:cNvPr id="39" name="Shape 37"/>
          <p:cNvSpPr/>
          <p:nvPr/>
        </p:nvSpPr>
        <p:spPr>
          <a:xfrm>
            <a:off x="548640" y="5303520"/>
            <a:ext cx="11064240" cy="914400"/>
          </a:xfrm>
          <a:prstGeom prst="rect">
            <a:avLst/>
          </a:prstGeom>
          <a:solidFill>
            <a:srgbClr val="1B2547"/>
          </a:solidFill>
          <a:ln w="12700">
            <a:solidFill>
              <a:srgbClr val="22D3EE"/>
            </a:solidFill>
            <a:prstDash val="solid"/>
          </a:ln>
        </p:spPr>
        <p:txBody>
          <a:bodyPr/>
          <a:lstStyle/>
          <a:p>
            <a:endParaRPr lang="en-IN"/>
          </a:p>
        </p:txBody>
      </p:sp>
      <p:sp>
        <p:nvSpPr>
          <p:cNvPr id="40" name="Text 38"/>
          <p:cNvSpPr/>
          <p:nvPr/>
        </p:nvSpPr>
        <p:spPr>
          <a:xfrm>
            <a:off x="822960" y="5486400"/>
            <a:ext cx="10515600" cy="548640"/>
          </a:xfrm>
          <a:prstGeom prst="rect">
            <a:avLst/>
          </a:prstGeom>
          <a:noFill/>
          <a:ln/>
        </p:spPr>
        <p:txBody>
          <a:bodyPr wrap="square" lIns="0" tIns="0" rIns="0" bIns="0" rtlCol="0" anchor="ctr"/>
          <a:lstStyle/>
          <a:p>
            <a:pPr marL="0" indent="0">
              <a:buNone/>
            </a:pPr>
            <a:r>
              <a:rPr lang="en-US" sz="1400" i="1" dirty="0">
                <a:solidFill>
                  <a:srgbClr val="F8FAFC"/>
                </a:solidFill>
                <a:latin typeface="Calibri" pitchFamily="34" charset="0"/>
                <a:ea typeface="Calibri" pitchFamily="34" charset="-122"/>
                <a:cs typeface="Calibri" pitchFamily="34" charset="-120"/>
              </a:rPr>
              <a:t>Repeat for millions of examples → the network gradually learns weights that make accurate predictions.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11247120" y="137160"/>
            <a:ext cx="365760" cy="182880"/>
          </a:xfrm>
          <a:prstGeom prst="line">
            <a:avLst/>
          </a:prstGeom>
          <a:noFill/>
          <a:ln w="9525">
            <a:solidFill>
              <a:srgbClr val="22D3EE">
                <a:alpha val="50000"/>
              </a:srgbClr>
            </a:solidFill>
            <a:prstDash val="solid"/>
          </a:ln>
        </p:spPr>
        <p:txBody>
          <a:bodyPr/>
          <a:lstStyle/>
          <a:p>
            <a:endParaRPr lang="en-IN"/>
          </a:p>
        </p:txBody>
      </p:sp>
      <p:sp>
        <p:nvSpPr>
          <p:cNvPr id="3" name="Shape 1"/>
          <p:cNvSpPr/>
          <p:nvPr/>
        </p:nvSpPr>
        <p:spPr>
          <a:xfrm>
            <a:off x="11247120" y="137160"/>
            <a:ext cx="228600" cy="411480"/>
          </a:xfrm>
          <a:prstGeom prst="line">
            <a:avLst/>
          </a:prstGeom>
          <a:noFill/>
          <a:ln w="9525">
            <a:solidFill>
              <a:srgbClr val="22D3EE">
                <a:alpha val="50000"/>
              </a:srgbClr>
            </a:solidFill>
            <a:prstDash val="solid"/>
          </a:ln>
        </p:spPr>
        <p:txBody>
          <a:bodyPr/>
          <a:lstStyle/>
          <a:p>
            <a:endParaRPr lang="en-IN"/>
          </a:p>
        </p:txBody>
      </p:sp>
      <p:sp>
        <p:nvSpPr>
          <p:cNvPr id="4" name="Shape 2"/>
          <p:cNvSpPr/>
          <p:nvPr/>
        </p:nvSpPr>
        <p:spPr>
          <a:xfrm>
            <a:off x="11612880" y="320040"/>
            <a:ext cx="228600" cy="182880"/>
          </a:xfrm>
          <a:prstGeom prst="line">
            <a:avLst/>
          </a:prstGeom>
          <a:noFill/>
          <a:ln w="9525">
            <a:solidFill>
              <a:srgbClr val="22D3EE">
                <a:alpha val="50000"/>
              </a:srgbClr>
            </a:solidFill>
            <a:prstDash val="solid"/>
          </a:ln>
        </p:spPr>
        <p:txBody>
          <a:bodyPr/>
          <a:lstStyle/>
          <a:p>
            <a:endParaRPr lang="en-IN"/>
          </a:p>
        </p:txBody>
      </p:sp>
      <p:sp>
        <p:nvSpPr>
          <p:cNvPr id="5" name="Shape 3"/>
          <p:cNvSpPr/>
          <p:nvPr/>
        </p:nvSpPr>
        <p:spPr>
          <a:xfrm flipV="1">
            <a:off x="11475720" y="502920"/>
            <a:ext cx="365760" cy="45720"/>
          </a:xfrm>
          <a:prstGeom prst="line">
            <a:avLst/>
          </a:prstGeom>
          <a:noFill/>
          <a:ln w="9525">
            <a:solidFill>
              <a:srgbClr val="22D3EE">
                <a:alpha val="50000"/>
              </a:srgbClr>
            </a:solidFill>
            <a:prstDash val="solid"/>
          </a:ln>
        </p:spPr>
        <p:txBody>
          <a:bodyPr/>
          <a:lstStyle/>
          <a:p>
            <a:endParaRPr lang="en-IN"/>
          </a:p>
        </p:txBody>
      </p:sp>
      <p:sp>
        <p:nvSpPr>
          <p:cNvPr id="6" name="Shape 4"/>
          <p:cNvSpPr/>
          <p:nvPr/>
        </p:nvSpPr>
        <p:spPr>
          <a:xfrm>
            <a:off x="11183112" y="73152"/>
            <a:ext cx="128016" cy="128016"/>
          </a:xfrm>
          <a:prstGeom prst="ellipse">
            <a:avLst/>
          </a:prstGeom>
          <a:solidFill>
            <a:srgbClr val="22D3EE"/>
          </a:solidFill>
          <a:ln w="12700">
            <a:solidFill>
              <a:srgbClr val="22D3EE"/>
            </a:solidFill>
            <a:prstDash val="solid"/>
          </a:ln>
        </p:spPr>
        <p:txBody>
          <a:bodyPr/>
          <a:lstStyle/>
          <a:p>
            <a:endParaRPr lang="en-IN"/>
          </a:p>
        </p:txBody>
      </p:sp>
      <p:sp>
        <p:nvSpPr>
          <p:cNvPr id="7" name="Shape 5"/>
          <p:cNvSpPr/>
          <p:nvPr/>
        </p:nvSpPr>
        <p:spPr>
          <a:xfrm>
            <a:off x="11548872" y="256032"/>
            <a:ext cx="128016" cy="128016"/>
          </a:xfrm>
          <a:prstGeom prst="ellipse">
            <a:avLst/>
          </a:prstGeom>
          <a:solidFill>
            <a:srgbClr val="E879F9"/>
          </a:solidFill>
          <a:ln w="12700">
            <a:solidFill>
              <a:srgbClr val="E879F9"/>
            </a:solidFill>
            <a:prstDash val="solid"/>
          </a:ln>
        </p:spPr>
        <p:txBody>
          <a:bodyPr/>
          <a:lstStyle/>
          <a:p>
            <a:endParaRPr lang="en-IN"/>
          </a:p>
        </p:txBody>
      </p:sp>
      <p:sp>
        <p:nvSpPr>
          <p:cNvPr id="8" name="Shape 6"/>
          <p:cNvSpPr/>
          <p:nvPr/>
        </p:nvSpPr>
        <p:spPr>
          <a:xfrm>
            <a:off x="11411712" y="484632"/>
            <a:ext cx="128016" cy="128016"/>
          </a:xfrm>
          <a:prstGeom prst="ellipse">
            <a:avLst/>
          </a:prstGeom>
          <a:solidFill>
            <a:srgbClr val="22D3EE"/>
          </a:solidFill>
          <a:ln w="12700">
            <a:solidFill>
              <a:srgbClr val="22D3EE"/>
            </a:solidFill>
            <a:prstDash val="solid"/>
          </a:ln>
        </p:spPr>
        <p:txBody>
          <a:bodyPr/>
          <a:lstStyle/>
          <a:p>
            <a:endParaRPr lang="en-IN"/>
          </a:p>
        </p:txBody>
      </p:sp>
      <p:sp>
        <p:nvSpPr>
          <p:cNvPr id="9" name="Shape 7"/>
          <p:cNvSpPr/>
          <p:nvPr/>
        </p:nvSpPr>
        <p:spPr>
          <a:xfrm>
            <a:off x="11777472" y="438912"/>
            <a:ext cx="128016" cy="128016"/>
          </a:xfrm>
          <a:prstGeom prst="ellipse">
            <a:avLst/>
          </a:prstGeom>
          <a:solidFill>
            <a:srgbClr val="E879F9"/>
          </a:solidFill>
          <a:ln w="12700">
            <a:solidFill>
              <a:srgbClr val="E879F9"/>
            </a:solidFill>
            <a:prstDash val="solid"/>
          </a:ln>
        </p:spPr>
        <p:txBody>
          <a:bodyPr/>
          <a:lstStyle/>
          <a:p>
            <a:endParaRPr lang="en-IN"/>
          </a:p>
        </p:txBody>
      </p:sp>
      <p:sp>
        <p:nvSpPr>
          <p:cNvPr id="10" name="Shape 8"/>
          <p:cNvSpPr/>
          <p:nvPr/>
        </p:nvSpPr>
        <p:spPr>
          <a:xfrm>
            <a:off x="0" y="6693408"/>
            <a:ext cx="12161520" cy="36576"/>
          </a:xfrm>
          <a:prstGeom prst="rect">
            <a:avLst/>
          </a:prstGeom>
          <a:solidFill>
            <a:srgbClr val="22D3EE"/>
          </a:solidFill>
          <a:ln w="12700">
            <a:solidFill>
              <a:srgbClr val="22D3EE"/>
            </a:solidFill>
            <a:prstDash val="solid"/>
          </a:ln>
        </p:spPr>
        <p:txBody>
          <a:bodyPr/>
          <a:lstStyle/>
          <a:p>
            <a:endParaRPr lang="en-IN"/>
          </a:p>
        </p:txBody>
      </p:sp>
      <p:sp>
        <p:nvSpPr>
          <p:cNvPr id="11" name="Text 9"/>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Deep Learning Onboarding  ·  Intern Training</a:t>
            </a:r>
            <a:endParaRPr lang="en-US" sz="1000" dirty="0"/>
          </a:p>
        </p:txBody>
      </p:sp>
      <p:sp>
        <p:nvSpPr>
          <p:cNvPr id="12" name="Text 10"/>
          <p:cNvSpPr/>
          <p:nvPr/>
        </p:nvSpPr>
        <p:spPr>
          <a:xfrm>
            <a:off x="10698480" y="6446520"/>
            <a:ext cx="914400" cy="27432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7 / 13</a:t>
            </a:r>
            <a:endParaRPr lang="en-US" sz="1000" dirty="0"/>
          </a:p>
        </p:txBody>
      </p:sp>
      <p:sp>
        <p:nvSpPr>
          <p:cNvPr id="13" name="Text 11"/>
          <p:cNvSpPr/>
          <p:nvPr/>
        </p:nvSpPr>
        <p:spPr>
          <a:xfrm>
            <a:off x="548640" y="411480"/>
            <a:ext cx="9144000" cy="320040"/>
          </a:xfrm>
          <a:prstGeom prst="rect">
            <a:avLst/>
          </a:prstGeom>
          <a:noFill/>
          <a:ln/>
        </p:spPr>
        <p:txBody>
          <a:bodyPr wrap="square" lIns="0" tIns="0" rIns="0" bIns="0" rtlCol="0" anchor="ctr"/>
          <a:lstStyle/>
          <a:p>
            <a:pPr marL="0" indent="0">
              <a:buNone/>
            </a:pPr>
            <a:r>
              <a:rPr lang="en-US" sz="1100" b="1" kern="0" spc="400" dirty="0">
                <a:solidFill>
                  <a:srgbClr val="22D3EE"/>
                </a:solidFill>
                <a:latin typeface="Calibri" pitchFamily="34" charset="0"/>
                <a:ea typeface="Calibri" pitchFamily="34" charset="-122"/>
                <a:cs typeface="Calibri" pitchFamily="34" charset="-120"/>
              </a:rPr>
              <a:t>MODULE 2</a:t>
            </a:r>
            <a:endParaRPr lang="en-US" sz="1100" dirty="0"/>
          </a:p>
        </p:txBody>
      </p:sp>
      <p:sp>
        <p:nvSpPr>
          <p:cNvPr id="14" name="Text 12"/>
          <p:cNvSpPr/>
          <p:nvPr/>
        </p:nvSpPr>
        <p:spPr>
          <a:xfrm>
            <a:off x="548640" y="713232"/>
            <a:ext cx="10515600" cy="77724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Common architectures — a quick tour</a:t>
            </a:r>
            <a:endParaRPr lang="en-US" sz="3200" dirty="0"/>
          </a:p>
        </p:txBody>
      </p:sp>
      <p:sp>
        <p:nvSpPr>
          <p:cNvPr id="15" name="Shape 13"/>
          <p:cNvSpPr/>
          <p:nvPr/>
        </p:nvSpPr>
        <p:spPr>
          <a:xfrm>
            <a:off x="548640" y="1481328"/>
            <a:ext cx="548640" cy="54864"/>
          </a:xfrm>
          <a:prstGeom prst="rect">
            <a:avLst/>
          </a:prstGeom>
          <a:solidFill>
            <a:srgbClr val="E879F9"/>
          </a:solidFill>
          <a:ln w="12700">
            <a:solidFill>
              <a:srgbClr val="E879F9"/>
            </a:solidFill>
            <a:prstDash val="solid"/>
          </a:ln>
        </p:spPr>
        <p:txBody>
          <a:bodyPr/>
          <a:lstStyle/>
          <a:p>
            <a:endParaRPr lang="en-IN"/>
          </a:p>
        </p:txBody>
      </p:sp>
      <p:sp>
        <p:nvSpPr>
          <p:cNvPr id="16" name="Shape 14"/>
          <p:cNvSpPr/>
          <p:nvPr/>
        </p:nvSpPr>
        <p:spPr>
          <a:xfrm>
            <a:off x="548640" y="1874520"/>
            <a:ext cx="2697480" cy="411480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17" name="Shape 15"/>
          <p:cNvSpPr/>
          <p:nvPr/>
        </p:nvSpPr>
        <p:spPr>
          <a:xfrm>
            <a:off x="548640" y="1874520"/>
            <a:ext cx="73152" cy="4114800"/>
          </a:xfrm>
          <a:prstGeom prst="rect">
            <a:avLst/>
          </a:prstGeom>
          <a:solidFill>
            <a:srgbClr val="22D3EE"/>
          </a:solidFill>
          <a:ln w="12700">
            <a:solidFill>
              <a:srgbClr val="333333"/>
            </a:solidFill>
            <a:prstDash val="solid"/>
          </a:ln>
        </p:spPr>
        <p:txBody>
          <a:bodyPr/>
          <a:lstStyle/>
          <a:p>
            <a:endParaRPr lang="en-IN"/>
          </a:p>
        </p:txBody>
      </p:sp>
      <p:sp>
        <p:nvSpPr>
          <p:cNvPr id="18" name="Text 16"/>
          <p:cNvSpPr/>
          <p:nvPr/>
        </p:nvSpPr>
        <p:spPr>
          <a:xfrm>
            <a:off x="822960" y="2148840"/>
            <a:ext cx="2240280" cy="502920"/>
          </a:xfrm>
          <a:prstGeom prst="rect">
            <a:avLst/>
          </a:prstGeom>
          <a:noFill/>
          <a:ln/>
        </p:spPr>
        <p:txBody>
          <a:bodyPr wrap="square" lIns="0" tIns="0" rIns="0" bIns="0" rtlCol="0" anchor="ctr"/>
          <a:lstStyle/>
          <a:p>
            <a:pPr marL="0" indent="0">
              <a:buNone/>
            </a:pPr>
            <a:r>
              <a:rPr lang="en-US" sz="2400" b="1" dirty="0">
                <a:solidFill>
                  <a:srgbClr val="22D3EE"/>
                </a:solidFill>
                <a:latin typeface="Calibri" pitchFamily="34" charset="0"/>
                <a:ea typeface="Calibri" pitchFamily="34" charset="-122"/>
                <a:cs typeface="Calibri" pitchFamily="34" charset="-120"/>
              </a:rPr>
              <a:t>MLP</a:t>
            </a:r>
            <a:endParaRPr lang="en-US" sz="2400" dirty="0"/>
          </a:p>
        </p:txBody>
      </p:sp>
      <p:sp>
        <p:nvSpPr>
          <p:cNvPr id="19" name="Text 17"/>
          <p:cNvSpPr/>
          <p:nvPr/>
        </p:nvSpPr>
        <p:spPr>
          <a:xfrm>
            <a:off x="822960" y="2743200"/>
            <a:ext cx="2240280" cy="36576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Multi-Layer Perceptron</a:t>
            </a:r>
            <a:endParaRPr lang="en-US" sz="1200" dirty="0"/>
          </a:p>
        </p:txBody>
      </p:sp>
      <p:sp>
        <p:nvSpPr>
          <p:cNvPr id="20" name="Shape 18"/>
          <p:cNvSpPr/>
          <p:nvPr/>
        </p:nvSpPr>
        <p:spPr>
          <a:xfrm>
            <a:off x="822960" y="3154680"/>
            <a:ext cx="365760" cy="27432"/>
          </a:xfrm>
          <a:prstGeom prst="rect">
            <a:avLst/>
          </a:prstGeom>
          <a:solidFill>
            <a:srgbClr val="94A3B8"/>
          </a:solidFill>
          <a:ln w="12700">
            <a:solidFill>
              <a:srgbClr val="333333"/>
            </a:solidFill>
            <a:prstDash val="solid"/>
          </a:ln>
        </p:spPr>
        <p:txBody>
          <a:bodyPr/>
          <a:lstStyle/>
          <a:p>
            <a:endParaRPr lang="en-IN"/>
          </a:p>
        </p:txBody>
      </p:sp>
      <p:sp>
        <p:nvSpPr>
          <p:cNvPr id="21" name="Text 19"/>
          <p:cNvSpPr/>
          <p:nvPr/>
        </p:nvSpPr>
        <p:spPr>
          <a:xfrm>
            <a:off x="822960" y="3337560"/>
            <a:ext cx="2240280" cy="246888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Fully connected layers stacked together. Great baseline for tabular and small problems.</a:t>
            </a:r>
            <a:endParaRPr lang="en-US" sz="1200" dirty="0"/>
          </a:p>
        </p:txBody>
      </p:sp>
      <p:sp>
        <p:nvSpPr>
          <p:cNvPr id="22" name="Shape 20"/>
          <p:cNvSpPr/>
          <p:nvPr/>
        </p:nvSpPr>
        <p:spPr>
          <a:xfrm>
            <a:off x="3383280" y="1874520"/>
            <a:ext cx="2697480" cy="411480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23" name="Shape 21"/>
          <p:cNvSpPr/>
          <p:nvPr/>
        </p:nvSpPr>
        <p:spPr>
          <a:xfrm>
            <a:off x="3383280" y="1874520"/>
            <a:ext cx="73152" cy="4114800"/>
          </a:xfrm>
          <a:prstGeom prst="rect">
            <a:avLst/>
          </a:prstGeom>
          <a:solidFill>
            <a:srgbClr val="E879F9"/>
          </a:solidFill>
          <a:ln w="12700">
            <a:solidFill>
              <a:srgbClr val="333333"/>
            </a:solidFill>
            <a:prstDash val="solid"/>
          </a:ln>
        </p:spPr>
        <p:txBody>
          <a:bodyPr/>
          <a:lstStyle/>
          <a:p>
            <a:endParaRPr lang="en-IN"/>
          </a:p>
        </p:txBody>
      </p:sp>
      <p:sp>
        <p:nvSpPr>
          <p:cNvPr id="24" name="Text 22"/>
          <p:cNvSpPr/>
          <p:nvPr/>
        </p:nvSpPr>
        <p:spPr>
          <a:xfrm>
            <a:off x="3657600" y="2148840"/>
            <a:ext cx="2240280" cy="502920"/>
          </a:xfrm>
          <a:prstGeom prst="rect">
            <a:avLst/>
          </a:prstGeom>
          <a:noFill/>
          <a:ln/>
        </p:spPr>
        <p:txBody>
          <a:bodyPr wrap="square" lIns="0" tIns="0" rIns="0" bIns="0" rtlCol="0" anchor="ctr"/>
          <a:lstStyle/>
          <a:p>
            <a:pPr marL="0" indent="0">
              <a:buNone/>
            </a:pPr>
            <a:r>
              <a:rPr lang="en-US" sz="2400" b="1" dirty="0">
                <a:solidFill>
                  <a:srgbClr val="E879F9"/>
                </a:solidFill>
                <a:latin typeface="Calibri" pitchFamily="34" charset="0"/>
                <a:ea typeface="Calibri" pitchFamily="34" charset="-122"/>
                <a:cs typeface="Calibri" pitchFamily="34" charset="-120"/>
              </a:rPr>
              <a:t>CNN</a:t>
            </a:r>
            <a:endParaRPr lang="en-US" sz="2400" dirty="0"/>
          </a:p>
        </p:txBody>
      </p:sp>
      <p:sp>
        <p:nvSpPr>
          <p:cNvPr id="25" name="Text 23"/>
          <p:cNvSpPr/>
          <p:nvPr/>
        </p:nvSpPr>
        <p:spPr>
          <a:xfrm>
            <a:off x="3657600" y="2743200"/>
            <a:ext cx="2240280" cy="36576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Convolutional Net</a:t>
            </a:r>
            <a:endParaRPr lang="en-US" sz="1200" dirty="0"/>
          </a:p>
        </p:txBody>
      </p:sp>
      <p:sp>
        <p:nvSpPr>
          <p:cNvPr id="26" name="Shape 24"/>
          <p:cNvSpPr/>
          <p:nvPr/>
        </p:nvSpPr>
        <p:spPr>
          <a:xfrm>
            <a:off x="3657600" y="3154680"/>
            <a:ext cx="365760" cy="27432"/>
          </a:xfrm>
          <a:prstGeom prst="rect">
            <a:avLst/>
          </a:prstGeom>
          <a:solidFill>
            <a:srgbClr val="94A3B8"/>
          </a:solidFill>
          <a:ln w="12700">
            <a:solidFill>
              <a:srgbClr val="333333"/>
            </a:solidFill>
            <a:prstDash val="solid"/>
          </a:ln>
        </p:spPr>
        <p:txBody>
          <a:bodyPr/>
          <a:lstStyle/>
          <a:p>
            <a:endParaRPr lang="en-IN"/>
          </a:p>
        </p:txBody>
      </p:sp>
      <p:sp>
        <p:nvSpPr>
          <p:cNvPr id="27" name="Text 25"/>
          <p:cNvSpPr/>
          <p:nvPr/>
        </p:nvSpPr>
        <p:spPr>
          <a:xfrm>
            <a:off x="3657600" y="3337560"/>
            <a:ext cx="2240280" cy="246888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Slides small filters across an image. Powers most computer vision: classification, detection, segmentation.</a:t>
            </a:r>
            <a:endParaRPr lang="en-US" sz="1200" dirty="0"/>
          </a:p>
        </p:txBody>
      </p:sp>
      <p:sp>
        <p:nvSpPr>
          <p:cNvPr id="28" name="Shape 26"/>
          <p:cNvSpPr/>
          <p:nvPr/>
        </p:nvSpPr>
        <p:spPr>
          <a:xfrm>
            <a:off x="6217920" y="1874520"/>
            <a:ext cx="2697480" cy="411480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29" name="Shape 27"/>
          <p:cNvSpPr/>
          <p:nvPr/>
        </p:nvSpPr>
        <p:spPr>
          <a:xfrm>
            <a:off x="6217920" y="1874520"/>
            <a:ext cx="73152" cy="4114800"/>
          </a:xfrm>
          <a:prstGeom prst="rect">
            <a:avLst/>
          </a:prstGeom>
          <a:solidFill>
            <a:srgbClr val="22D3EE"/>
          </a:solidFill>
          <a:ln w="12700">
            <a:solidFill>
              <a:srgbClr val="333333"/>
            </a:solidFill>
            <a:prstDash val="solid"/>
          </a:ln>
        </p:spPr>
        <p:txBody>
          <a:bodyPr/>
          <a:lstStyle/>
          <a:p>
            <a:endParaRPr lang="en-IN"/>
          </a:p>
        </p:txBody>
      </p:sp>
      <p:sp>
        <p:nvSpPr>
          <p:cNvPr id="30" name="Text 28"/>
          <p:cNvSpPr/>
          <p:nvPr/>
        </p:nvSpPr>
        <p:spPr>
          <a:xfrm>
            <a:off x="6492240" y="2148840"/>
            <a:ext cx="2240280" cy="502920"/>
          </a:xfrm>
          <a:prstGeom prst="rect">
            <a:avLst/>
          </a:prstGeom>
          <a:noFill/>
          <a:ln/>
        </p:spPr>
        <p:txBody>
          <a:bodyPr wrap="square" lIns="0" tIns="0" rIns="0" bIns="0" rtlCol="0" anchor="ctr"/>
          <a:lstStyle/>
          <a:p>
            <a:pPr marL="0" indent="0">
              <a:buNone/>
            </a:pPr>
            <a:r>
              <a:rPr lang="en-US" sz="2400" b="1" dirty="0">
                <a:solidFill>
                  <a:srgbClr val="22D3EE"/>
                </a:solidFill>
                <a:latin typeface="Calibri" pitchFamily="34" charset="0"/>
                <a:ea typeface="Calibri" pitchFamily="34" charset="-122"/>
                <a:cs typeface="Calibri" pitchFamily="34" charset="-120"/>
              </a:rPr>
              <a:t>RNN / LSTM</a:t>
            </a:r>
            <a:endParaRPr lang="en-US" sz="2400" dirty="0"/>
          </a:p>
        </p:txBody>
      </p:sp>
      <p:sp>
        <p:nvSpPr>
          <p:cNvPr id="31" name="Text 29"/>
          <p:cNvSpPr/>
          <p:nvPr/>
        </p:nvSpPr>
        <p:spPr>
          <a:xfrm>
            <a:off x="6492240" y="2743200"/>
            <a:ext cx="2240280" cy="36576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Recurrent Net</a:t>
            </a:r>
            <a:endParaRPr lang="en-US" sz="1200" dirty="0"/>
          </a:p>
        </p:txBody>
      </p:sp>
      <p:sp>
        <p:nvSpPr>
          <p:cNvPr id="32" name="Shape 30"/>
          <p:cNvSpPr/>
          <p:nvPr/>
        </p:nvSpPr>
        <p:spPr>
          <a:xfrm>
            <a:off x="6492240" y="3154680"/>
            <a:ext cx="365760" cy="27432"/>
          </a:xfrm>
          <a:prstGeom prst="rect">
            <a:avLst/>
          </a:prstGeom>
          <a:solidFill>
            <a:srgbClr val="94A3B8"/>
          </a:solidFill>
          <a:ln w="12700">
            <a:solidFill>
              <a:srgbClr val="333333"/>
            </a:solidFill>
            <a:prstDash val="solid"/>
          </a:ln>
        </p:spPr>
        <p:txBody>
          <a:bodyPr/>
          <a:lstStyle/>
          <a:p>
            <a:endParaRPr lang="en-IN"/>
          </a:p>
        </p:txBody>
      </p:sp>
      <p:sp>
        <p:nvSpPr>
          <p:cNvPr id="33" name="Text 31"/>
          <p:cNvSpPr/>
          <p:nvPr/>
        </p:nvSpPr>
        <p:spPr>
          <a:xfrm>
            <a:off x="6492240" y="3337560"/>
            <a:ext cx="2240280" cy="246888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Processes sequences step by step. Was the workhorse for text and time-series before transformers.</a:t>
            </a:r>
            <a:endParaRPr lang="en-US" sz="1200" dirty="0"/>
          </a:p>
        </p:txBody>
      </p:sp>
      <p:sp>
        <p:nvSpPr>
          <p:cNvPr id="34" name="Shape 32"/>
          <p:cNvSpPr/>
          <p:nvPr/>
        </p:nvSpPr>
        <p:spPr>
          <a:xfrm>
            <a:off x="9052560" y="1874520"/>
            <a:ext cx="2697480" cy="411480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35" name="Shape 33"/>
          <p:cNvSpPr/>
          <p:nvPr/>
        </p:nvSpPr>
        <p:spPr>
          <a:xfrm>
            <a:off x="9052560" y="1874520"/>
            <a:ext cx="73152" cy="4114800"/>
          </a:xfrm>
          <a:prstGeom prst="rect">
            <a:avLst/>
          </a:prstGeom>
          <a:solidFill>
            <a:srgbClr val="E879F9"/>
          </a:solidFill>
          <a:ln w="12700">
            <a:solidFill>
              <a:srgbClr val="333333"/>
            </a:solidFill>
            <a:prstDash val="solid"/>
          </a:ln>
        </p:spPr>
        <p:txBody>
          <a:bodyPr/>
          <a:lstStyle/>
          <a:p>
            <a:endParaRPr lang="en-IN"/>
          </a:p>
        </p:txBody>
      </p:sp>
      <p:sp>
        <p:nvSpPr>
          <p:cNvPr id="36" name="Text 34"/>
          <p:cNvSpPr/>
          <p:nvPr/>
        </p:nvSpPr>
        <p:spPr>
          <a:xfrm>
            <a:off x="9326880" y="2148840"/>
            <a:ext cx="2240280" cy="502920"/>
          </a:xfrm>
          <a:prstGeom prst="rect">
            <a:avLst/>
          </a:prstGeom>
          <a:noFill/>
          <a:ln/>
        </p:spPr>
        <p:txBody>
          <a:bodyPr wrap="square" lIns="0" tIns="0" rIns="0" bIns="0" rtlCol="0" anchor="ctr"/>
          <a:lstStyle/>
          <a:p>
            <a:pPr marL="0" indent="0">
              <a:buNone/>
            </a:pPr>
            <a:r>
              <a:rPr lang="en-US" sz="2400" b="1" dirty="0">
                <a:solidFill>
                  <a:srgbClr val="E879F9"/>
                </a:solidFill>
                <a:latin typeface="Calibri" pitchFamily="34" charset="0"/>
                <a:ea typeface="Calibri" pitchFamily="34" charset="-122"/>
                <a:cs typeface="Calibri" pitchFamily="34" charset="-120"/>
              </a:rPr>
              <a:t>Transformer</a:t>
            </a:r>
            <a:endParaRPr lang="en-US" sz="2400" dirty="0"/>
          </a:p>
        </p:txBody>
      </p:sp>
      <p:sp>
        <p:nvSpPr>
          <p:cNvPr id="37" name="Text 35"/>
          <p:cNvSpPr/>
          <p:nvPr/>
        </p:nvSpPr>
        <p:spPr>
          <a:xfrm>
            <a:off x="9326880" y="2743200"/>
            <a:ext cx="2240280" cy="36576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Attention-based</a:t>
            </a:r>
            <a:endParaRPr lang="en-US" sz="1200" dirty="0"/>
          </a:p>
        </p:txBody>
      </p:sp>
      <p:sp>
        <p:nvSpPr>
          <p:cNvPr id="38" name="Shape 36"/>
          <p:cNvSpPr/>
          <p:nvPr/>
        </p:nvSpPr>
        <p:spPr>
          <a:xfrm>
            <a:off x="9326880" y="3154680"/>
            <a:ext cx="365760" cy="27432"/>
          </a:xfrm>
          <a:prstGeom prst="rect">
            <a:avLst/>
          </a:prstGeom>
          <a:solidFill>
            <a:srgbClr val="94A3B8"/>
          </a:solidFill>
          <a:ln w="12700">
            <a:solidFill>
              <a:srgbClr val="333333"/>
            </a:solidFill>
            <a:prstDash val="solid"/>
          </a:ln>
        </p:spPr>
        <p:txBody>
          <a:bodyPr/>
          <a:lstStyle/>
          <a:p>
            <a:endParaRPr lang="en-IN"/>
          </a:p>
        </p:txBody>
      </p:sp>
      <p:sp>
        <p:nvSpPr>
          <p:cNvPr id="39" name="Text 37"/>
          <p:cNvSpPr/>
          <p:nvPr/>
        </p:nvSpPr>
        <p:spPr>
          <a:xfrm>
            <a:off x="9326880" y="3337560"/>
            <a:ext cx="2240280" cy="246888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Looks at all positions at once via self-attention. Powers modern LLMs and many vision models.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11247120" y="137160"/>
            <a:ext cx="365760" cy="182880"/>
          </a:xfrm>
          <a:prstGeom prst="line">
            <a:avLst/>
          </a:prstGeom>
          <a:noFill/>
          <a:ln w="9525">
            <a:solidFill>
              <a:srgbClr val="22D3EE">
                <a:alpha val="50000"/>
              </a:srgbClr>
            </a:solidFill>
            <a:prstDash val="solid"/>
          </a:ln>
        </p:spPr>
        <p:txBody>
          <a:bodyPr/>
          <a:lstStyle/>
          <a:p>
            <a:endParaRPr lang="en-IN"/>
          </a:p>
        </p:txBody>
      </p:sp>
      <p:sp>
        <p:nvSpPr>
          <p:cNvPr id="3" name="Shape 1"/>
          <p:cNvSpPr/>
          <p:nvPr/>
        </p:nvSpPr>
        <p:spPr>
          <a:xfrm>
            <a:off x="11247120" y="137160"/>
            <a:ext cx="228600" cy="411480"/>
          </a:xfrm>
          <a:prstGeom prst="line">
            <a:avLst/>
          </a:prstGeom>
          <a:noFill/>
          <a:ln w="9525">
            <a:solidFill>
              <a:srgbClr val="22D3EE">
                <a:alpha val="50000"/>
              </a:srgbClr>
            </a:solidFill>
            <a:prstDash val="solid"/>
          </a:ln>
        </p:spPr>
        <p:txBody>
          <a:bodyPr/>
          <a:lstStyle/>
          <a:p>
            <a:endParaRPr lang="en-IN"/>
          </a:p>
        </p:txBody>
      </p:sp>
      <p:sp>
        <p:nvSpPr>
          <p:cNvPr id="4" name="Shape 2"/>
          <p:cNvSpPr/>
          <p:nvPr/>
        </p:nvSpPr>
        <p:spPr>
          <a:xfrm>
            <a:off x="11612880" y="320040"/>
            <a:ext cx="228600" cy="182880"/>
          </a:xfrm>
          <a:prstGeom prst="line">
            <a:avLst/>
          </a:prstGeom>
          <a:noFill/>
          <a:ln w="9525">
            <a:solidFill>
              <a:srgbClr val="22D3EE">
                <a:alpha val="50000"/>
              </a:srgbClr>
            </a:solidFill>
            <a:prstDash val="solid"/>
          </a:ln>
        </p:spPr>
        <p:txBody>
          <a:bodyPr/>
          <a:lstStyle/>
          <a:p>
            <a:endParaRPr lang="en-IN"/>
          </a:p>
        </p:txBody>
      </p:sp>
      <p:sp>
        <p:nvSpPr>
          <p:cNvPr id="5" name="Shape 3"/>
          <p:cNvSpPr/>
          <p:nvPr/>
        </p:nvSpPr>
        <p:spPr>
          <a:xfrm flipV="1">
            <a:off x="11475720" y="502920"/>
            <a:ext cx="365760" cy="45720"/>
          </a:xfrm>
          <a:prstGeom prst="line">
            <a:avLst/>
          </a:prstGeom>
          <a:noFill/>
          <a:ln w="9525">
            <a:solidFill>
              <a:srgbClr val="22D3EE">
                <a:alpha val="50000"/>
              </a:srgbClr>
            </a:solidFill>
            <a:prstDash val="solid"/>
          </a:ln>
        </p:spPr>
        <p:txBody>
          <a:bodyPr/>
          <a:lstStyle/>
          <a:p>
            <a:endParaRPr lang="en-IN"/>
          </a:p>
        </p:txBody>
      </p:sp>
      <p:sp>
        <p:nvSpPr>
          <p:cNvPr id="6" name="Shape 4"/>
          <p:cNvSpPr/>
          <p:nvPr/>
        </p:nvSpPr>
        <p:spPr>
          <a:xfrm>
            <a:off x="11183112" y="73152"/>
            <a:ext cx="128016" cy="128016"/>
          </a:xfrm>
          <a:prstGeom prst="ellipse">
            <a:avLst/>
          </a:prstGeom>
          <a:solidFill>
            <a:srgbClr val="22D3EE"/>
          </a:solidFill>
          <a:ln w="12700">
            <a:solidFill>
              <a:srgbClr val="22D3EE"/>
            </a:solidFill>
            <a:prstDash val="solid"/>
          </a:ln>
        </p:spPr>
        <p:txBody>
          <a:bodyPr/>
          <a:lstStyle/>
          <a:p>
            <a:endParaRPr lang="en-IN"/>
          </a:p>
        </p:txBody>
      </p:sp>
      <p:sp>
        <p:nvSpPr>
          <p:cNvPr id="7" name="Shape 5"/>
          <p:cNvSpPr/>
          <p:nvPr/>
        </p:nvSpPr>
        <p:spPr>
          <a:xfrm>
            <a:off x="11548872" y="256032"/>
            <a:ext cx="128016" cy="128016"/>
          </a:xfrm>
          <a:prstGeom prst="ellipse">
            <a:avLst/>
          </a:prstGeom>
          <a:solidFill>
            <a:srgbClr val="E879F9"/>
          </a:solidFill>
          <a:ln w="12700">
            <a:solidFill>
              <a:srgbClr val="E879F9"/>
            </a:solidFill>
            <a:prstDash val="solid"/>
          </a:ln>
        </p:spPr>
        <p:txBody>
          <a:bodyPr/>
          <a:lstStyle/>
          <a:p>
            <a:endParaRPr lang="en-IN"/>
          </a:p>
        </p:txBody>
      </p:sp>
      <p:sp>
        <p:nvSpPr>
          <p:cNvPr id="8" name="Shape 6"/>
          <p:cNvSpPr/>
          <p:nvPr/>
        </p:nvSpPr>
        <p:spPr>
          <a:xfrm>
            <a:off x="11411712" y="484632"/>
            <a:ext cx="128016" cy="128016"/>
          </a:xfrm>
          <a:prstGeom prst="ellipse">
            <a:avLst/>
          </a:prstGeom>
          <a:solidFill>
            <a:srgbClr val="22D3EE"/>
          </a:solidFill>
          <a:ln w="12700">
            <a:solidFill>
              <a:srgbClr val="22D3EE"/>
            </a:solidFill>
            <a:prstDash val="solid"/>
          </a:ln>
        </p:spPr>
        <p:txBody>
          <a:bodyPr/>
          <a:lstStyle/>
          <a:p>
            <a:endParaRPr lang="en-IN"/>
          </a:p>
        </p:txBody>
      </p:sp>
      <p:sp>
        <p:nvSpPr>
          <p:cNvPr id="9" name="Shape 7"/>
          <p:cNvSpPr/>
          <p:nvPr/>
        </p:nvSpPr>
        <p:spPr>
          <a:xfrm>
            <a:off x="11777472" y="438912"/>
            <a:ext cx="128016" cy="128016"/>
          </a:xfrm>
          <a:prstGeom prst="ellipse">
            <a:avLst/>
          </a:prstGeom>
          <a:solidFill>
            <a:srgbClr val="E879F9"/>
          </a:solidFill>
          <a:ln w="12700">
            <a:solidFill>
              <a:srgbClr val="E879F9"/>
            </a:solidFill>
            <a:prstDash val="solid"/>
          </a:ln>
        </p:spPr>
        <p:txBody>
          <a:bodyPr/>
          <a:lstStyle/>
          <a:p>
            <a:endParaRPr lang="en-IN"/>
          </a:p>
        </p:txBody>
      </p:sp>
      <p:sp>
        <p:nvSpPr>
          <p:cNvPr id="10" name="Shape 8"/>
          <p:cNvSpPr/>
          <p:nvPr/>
        </p:nvSpPr>
        <p:spPr>
          <a:xfrm>
            <a:off x="0" y="6693408"/>
            <a:ext cx="12161520" cy="36576"/>
          </a:xfrm>
          <a:prstGeom prst="rect">
            <a:avLst/>
          </a:prstGeom>
          <a:solidFill>
            <a:srgbClr val="22D3EE"/>
          </a:solidFill>
          <a:ln w="12700">
            <a:solidFill>
              <a:srgbClr val="22D3EE"/>
            </a:solidFill>
            <a:prstDash val="solid"/>
          </a:ln>
        </p:spPr>
        <p:txBody>
          <a:bodyPr/>
          <a:lstStyle/>
          <a:p>
            <a:endParaRPr lang="en-IN"/>
          </a:p>
        </p:txBody>
      </p:sp>
      <p:sp>
        <p:nvSpPr>
          <p:cNvPr id="11" name="Text 9"/>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Deep Learning Onboarding  ·  Intern Training</a:t>
            </a:r>
            <a:endParaRPr lang="en-US" sz="1000" dirty="0"/>
          </a:p>
        </p:txBody>
      </p:sp>
      <p:sp>
        <p:nvSpPr>
          <p:cNvPr id="12" name="Text 10"/>
          <p:cNvSpPr/>
          <p:nvPr/>
        </p:nvSpPr>
        <p:spPr>
          <a:xfrm>
            <a:off x="10698480" y="6446520"/>
            <a:ext cx="914400" cy="27432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8 / 13</a:t>
            </a:r>
            <a:endParaRPr lang="en-US" sz="1000" dirty="0"/>
          </a:p>
        </p:txBody>
      </p:sp>
      <p:sp>
        <p:nvSpPr>
          <p:cNvPr id="13" name="Text 11"/>
          <p:cNvSpPr/>
          <p:nvPr/>
        </p:nvSpPr>
        <p:spPr>
          <a:xfrm>
            <a:off x="548640" y="411480"/>
            <a:ext cx="9144000" cy="320040"/>
          </a:xfrm>
          <a:prstGeom prst="rect">
            <a:avLst/>
          </a:prstGeom>
          <a:noFill/>
          <a:ln/>
        </p:spPr>
        <p:txBody>
          <a:bodyPr wrap="square" lIns="0" tIns="0" rIns="0" bIns="0" rtlCol="0" anchor="ctr"/>
          <a:lstStyle/>
          <a:p>
            <a:pPr marL="0" indent="0">
              <a:buNone/>
            </a:pPr>
            <a:r>
              <a:rPr lang="en-US" sz="1100" b="1" kern="0" spc="400" dirty="0">
                <a:solidFill>
                  <a:srgbClr val="22D3EE"/>
                </a:solidFill>
                <a:latin typeface="Calibri" pitchFamily="34" charset="0"/>
                <a:ea typeface="Calibri" pitchFamily="34" charset="-122"/>
                <a:cs typeface="Calibri" pitchFamily="34" charset="-120"/>
              </a:rPr>
              <a:t>MODULE 3</a:t>
            </a:r>
            <a:endParaRPr lang="en-US" sz="1100" dirty="0"/>
          </a:p>
        </p:txBody>
      </p:sp>
      <p:sp>
        <p:nvSpPr>
          <p:cNvPr id="14" name="Text 12"/>
          <p:cNvSpPr/>
          <p:nvPr/>
        </p:nvSpPr>
        <p:spPr>
          <a:xfrm>
            <a:off x="548640" y="713232"/>
            <a:ext cx="10515600" cy="77724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Meet PyTorch</a:t>
            </a:r>
            <a:endParaRPr lang="en-US" sz="3200" dirty="0"/>
          </a:p>
        </p:txBody>
      </p:sp>
      <p:sp>
        <p:nvSpPr>
          <p:cNvPr id="15" name="Shape 13"/>
          <p:cNvSpPr/>
          <p:nvPr/>
        </p:nvSpPr>
        <p:spPr>
          <a:xfrm>
            <a:off x="548640" y="1481328"/>
            <a:ext cx="548640" cy="54864"/>
          </a:xfrm>
          <a:prstGeom prst="rect">
            <a:avLst/>
          </a:prstGeom>
          <a:solidFill>
            <a:srgbClr val="E879F9"/>
          </a:solidFill>
          <a:ln w="12700">
            <a:solidFill>
              <a:srgbClr val="E879F9"/>
            </a:solidFill>
            <a:prstDash val="solid"/>
          </a:ln>
        </p:spPr>
        <p:txBody>
          <a:bodyPr/>
          <a:lstStyle/>
          <a:p>
            <a:endParaRPr lang="en-IN"/>
          </a:p>
        </p:txBody>
      </p:sp>
      <p:sp>
        <p:nvSpPr>
          <p:cNvPr id="16" name="Shape 14"/>
          <p:cNvSpPr/>
          <p:nvPr/>
        </p:nvSpPr>
        <p:spPr>
          <a:xfrm>
            <a:off x="548640" y="1874520"/>
            <a:ext cx="5669280" cy="420624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17" name="Text 15"/>
          <p:cNvSpPr/>
          <p:nvPr/>
        </p:nvSpPr>
        <p:spPr>
          <a:xfrm>
            <a:off x="777240" y="2011680"/>
            <a:ext cx="5029200" cy="365760"/>
          </a:xfrm>
          <a:prstGeom prst="rect">
            <a:avLst/>
          </a:prstGeom>
          <a:noFill/>
          <a:ln/>
        </p:spPr>
        <p:txBody>
          <a:bodyPr wrap="square" lIns="0" tIns="0" rIns="0" bIns="0" rtlCol="0" anchor="ctr"/>
          <a:lstStyle/>
          <a:p>
            <a:pPr marL="0" indent="0">
              <a:buNone/>
            </a:pPr>
            <a:r>
              <a:rPr lang="en-US" sz="1300" b="1" kern="0" spc="300" dirty="0">
                <a:solidFill>
                  <a:srgbClr val="22D3EE"/>
                </a:solidFill>
                <a:latin typeface="Calibri" pitchFamily="34" charset="0"/>
                <a:ea typeface="Calibri" pitchFamily="34" charset="-122"/>
                <a:cs typeface="Calibri" pitchFamily="34" charset="-120"/>
              </a:rPr>
              <a:t>What it is</a:t>
            </a:r>
            <a:endParaRPr lang="en-US" sz="1300" dirty="0"/>
          </a:p>
        </p:txBody>
      </p:sp>
      <p:sp>
        <p:nvSpPr>
          <p:cNvPr id="18" name="Text 16"/>
          <p:cNvSpPr/>
          <p:nvPr/>
        </p:nvSpPr>
        <p:spPr>
          <a:xfrm>
            <a:off x="777240" y="2377440"/>
            <a:ext cx="5212080" cy="1280160"/>
          </a:xfrm>
          <a:prstGeom prst="rect">
            <a:avLst/>
          </a:prstGeom>
          <a:noFill/>
          <a:ln/>
        </p:spPr>
        <p:txBody>
          <a:bodyPr wrap="square" lIns="0" tIns="0" rIns="0" bIns="0" rtlCol="0" anchor="ctr"/>
          <a:lstStyle/>
          <a:p>
            <a:pPr marL="0" indent="0">
              <a:buNone/>
            </a:pPr>
            <a:r>
              <a:rPr lang="en-US" sz="1500" dirty="0">
                <a:solidFill>
                  <a:srgbClr val="F8FAFC"/>
                </a:solidFill>
                <a:latin typeface="Calibri" pitchFamily="34" charset="0"/>
                <a:ea typeface="Calibri" pitchFamily="34" charset="-122"/>
                <a:cs typeface="Calibri" pitchFamily="34" charset="-120"/>
              </a:rPr>
              <a:t>An open-source deep learning framework from Meta AI. It feels like NumPy with GPUs, autograd, and a clean neural-network API.</a:t>
            </a:r>
            <a:endParaRPr lang="en-US" sz="1500" dirty="0"/>
          </a:p>
        </p:txBody>
      </p:sp>
      <p:sp>
        <p:nvSpPr>
          <p:cNvPr id="19" name="Text 17"/>
          <p:cNvSpPr/>
          <p:nvPr/>
        </p:nvSpPr>
        <p:spPr>
          <a:xfrm>
            <a:off x="777240" y="3840480"/>
            <a:ext cx="5029200" cy="365760"/>
          </a:xfrm>
          <a:prstGeom prst="rect">
            <a:avLst/>
          </a:prstGeom>
          <a:noFill/>
          <a:ln/>
        </p:spPr>
        <p:txBody>
          <a:bodyPr wrap="square" lIns="0" tIns="0" rIns="0" bIns="0" rtlCol="0" anchor="ctr"/>
          <a:lstStyle/>
          <a:p>
            <a:pPr marL="0" indent="0">
              <a:buNone/>
            </a:pPr>
            <a:r>
              <a:rPr lang="en-US" sz="1300" b="1" kern="0" spc="300" dirty="0">
                <a:solidFill>
                  <a:srgbClr val="E879F9"/>
                </a:solidFill>
                <a:latin typeface="Calibri" pitchFamily="34" charset="0"/>
                <a:ea typeface="Calibri" pitchFamily="34" charset="-122"/>
                <a:cs typeface="Calibri" pitchFamily="34" charset="-120"/>
              </a:rPr>
              <a:t>Why interns love it</a:t>
            </a:r>
            <a:endParaRPr lang="en-US" sz="1300" dirty="0"/>
          </a:p>
        </p:txBody>
      </p:sp>
      <p:sp>
        <p:nvSpPr>
          <p:cNvPr id="20" name="Text 18"/>
          <p:cNvSpPr/>
          <p:nvPr/>
        </p:nvSpPr>
        <p:spPr>
          <a:xfrm>
            <a:off x="777240" y="4251960"/>
            <a:ext cx="5212080" cy="182880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94A3B8"/>
                </a:solidFill>
                <a:latin typeface="Calibri" pitchFamily="34" charset="0"/>
                <a:ea typeface="Calibri" pitchFamily="34" charset="-122"/>
                <a:cs typeface="Calibri" pitchFamily="34" charset="-120"/>
              </a:rPr>
              <a:t>Pythonic — you write normal Python with normal control flow.</a:t>
            </a:r>
            <a:endParaRPr lang="en-US" sz="1300" dirty="0"/>
          </a:p>
          <a:p>
            <a:pPr marL="342900" indent="-342900">
              <a:spcAft>
                <a:spcPts val="400"/>
              </a:spcAft>
              <a:buSzPct val="100000"/>
              <a:buChar char="●"/>
            </a:pPr>
            <a:r>
              <a:rPr lang="en-US" sz="1300" dirty="0">
                <a:solidFill>
                  <a:srgbClr val="94A3B8"/>
                </a:solidFill>
                <a:latin typeface="Calibri" pitchFamily="34" charset="0"/>
                <a:ea typeface="Calibri" pitchFamily="34" charset="-122"/>
                <a:cs typeface="Calibri" pitchFamily="34" charset="-120"/>
              </a:rPr>
              <a:t>Eager execution — print, debug, and inspect tensors anywhere.</a:t>
            </a:r>
            <a:endParaRPr lang="en-US" sz="1300" dirty="0"/>
          </a:p>
          <a:p>
            <a:pPr marL="342900" indent="-342900">
              <a:spcAft>
                <a:spcPts val="400"/>
              </a:spcAft>
              <a:buSzPct val="100000"/>
              <a:buChar char="●"/>
            </a:pPr>
            <a:r>
              <a:rPr lang="en-US" sz="1300" dirty="0">
                <a:solidFill>
                  <a:srgbClr val="94A3B8"/>
                </a:solidFill>
                <a:latin typeface="Calibri" pitchFamily="34" charset="0"/>
                <a:ea typeface="Calibri" pitchFamily="34" charset="-122"/>
                <a:cs typeface="Calibri" pitchFamily="34" charset="-120"/>
              </a:rPr>
              <a:t>Huge ecosystem — TorchVision, TorchText, Hugging Face, Lightning.</a:t>
            </a:r>
            <a:endParaRPr lang="en-US" sz="1300" dirty="0"/>
          </a:p>
          <a:p>
            <a:pPr marL="342900" indent="-342900">
              <a:spcAft>
                <a:spcPts val="400"/>
              </a:spcAft>
              <a:buSzPct val="100000"/>
              <a:buChar char="●"/>
            </a:pPr>
            <a:r>
              <a:rPr lang="en-US" sz="1300" dirty="0">
                <a:solidFill>
                  <a:srgbClr val="94A3B8"/>
                </a:solidFill>
                <a:latin typeface="Calibri" pitchFamily="34" charset="0"/>
                <a:ea typeface="Calibri" pitchFamily="34" charset="-122"/>
                <a:cs typeface="Calibri" pitchFamily="34" charset="-120"/>
              </a:rPr>
              <a:t>Used by most research labs, so tutorials and papers fit naturally.</a:t>
            </a:r>
            <a:endParaRPr lang="en-US" sz="1300" dirty="0"/>
          </a:p>
        </p:txBody>
      </p:sp>
      <p:sp>
        <p:nvSpPr>
          <p:cNvPr id="21" name="Shape 19"/>
          <p:cNvSpPr/>
          <p:nvPr/>
        </p:nvSpPr>
        <p:spPr>
          <a:xfrm>
            <a:off x="6400800" y="1874520"/>
            <a:ext cx="5212080" cy="4206240"/>
          </a:xfrm>
          <a:prstGeom prst="rect">
            <a:avLst/>
          </a:prstGeom>
          <a:solidFill>
            <a:srgbClr val="0A0F1F"/>
          </a:solidFill>
          <a:ln w="12700">
            <a:solidFill>
              <a:srgbClr val="22D3EE"/>
            </a:solidFill>
            <a:prstDash val="solid"/>
          </a:ln>
          <a:effectLst>
            <a:outerShdw blurRad="228600" dist="50800" dir="5400000" algn="bl" rotWithShape="0">
              <a:srgbClr val="000000">
                <a:alpha val="45000"/>
              </a:srgbClr>
            </a:outerShdw>
          </a:effectLst>
        </p:spPr>
        <p:txBody>
          <a:bodyPr/>
          <a:lstStyle/>
          <a:p>
            <a:endParaRPr lang="en-IN"/>
          </a:p>
        </p:txBody>
      </p:sp>
      <p:sp>
        <p:nvSpPr>
          <p:cNvPr id="22" name="Shape 20"/>
          <p:cNvSpPr/>
          <p:nvPr/>
        </p:nvSpPr>
        <p:spPr>
          <a:xfrm>
            <a:off x="6583680" y="2011680"/>
            <a:ext cx="137160" cy="137160"/>
          </a:xfrm>
          <a:prstGeom prst="ellipse">
            <a:avLst/>
          </a:prstGeom>
          <a:solidFill>
            <a:srgbClr val="FF6B6B"/>
          </a:solidFill>
          <a:ln w="12700">
            <a:solidFill>
              <a:srgbClr val="333333"/>
            </a:solidFill>
            <a:prstDash val="solid"/>
          </a:ln>
        </p:spPr>
        <p:txBody>
          <a:bodyPr/>
          <a:lstStyle/>
          <a:p>
            <a:endParaRPr lang="en-IN"/>
          </a:p>
        </p:txBody>
      </p:sp>
      <p:sp>
        <p:nvSpPr>
          <p:cNvPr id="23" name="Shape 21"/>
          <p:cNvSpPr/>
          <p:nvPr/>
        </p:nvSpPr>
        <p:spPr>
          <a:xfrm>
            <a:off x="6812280" y="2011680"/>
            <a:ext cx="137160" cy="137160"/>
          </a:xfrm>
          <a:prstGeom prst="ellipse">
            <a:avLst/>
          </a:prstGeom>
          <a:solidFill>
            <a:srgbClr val="FFD166"/>
          </a:solidFill>
          <a:ln w="12700">
            <a:solidFill>
              <a:srgbClr val="333333"/>
            </a:solidFill>
            <a:prstDash val="solid"/>
          </a:ln>
        </p:spPr>
        <p:txBody>
          <a:bodyPr/>
          <a:lstStyle/>
          <a:p>
            <a:endParaRPr lang="en-IN"/>
          </a:p>
        </p:txBody>
      </p:sp>
      <p:sp>
        <p:nvSpPr>
          <p:cNvPr id="24" name="Shape 22"/>
          <p:cNvSpPr/>
          <p:nvPr/>
        </p:nvSpPr>
        <p:spPr>
          <a:xfrm>
            <a:off x="7040880" y="2011680"/>
            <a:ext cx="137160" cy="137160"/>
          </a:xfrm>
          <a:prstGeom prst="ellipse">
            <a:avLst/>
          </a:prstGeom>
          <a:solidFill>
            <a:srgbClr val="06D6A0"/>
          </a:solidFill>
          <a:ln w="12700">
            <a:solidFill>
              <a:srgbClr val="333333"/>
            </a:solidFill>
            <a:prstDash val="solid"/>
          </a:ln>
        </p:spPr>
        <p:txBody>
          <a:bodyPr/>
          <a:lstStyle/>
          <a:p>
            <a:endParaRPr lang="en-IN"/>
          </a:p>
        </p:txBody>
      </p:sp>
      <p:sp>
        <p:nvSpPr>
          <p:cNvPr id="25" name="Text 23"/>
          <p:cNvSpPr/>
          <p:nvPr/>
        </p:nvSpPr>
        <p:spPr>
          <a:xfrm>
            <a:off x="7315200" y="1947672"/>
            <a:ext cx="4114800" cy="228600"/>
          </a:xfrm>
          <a:prstGeom prst="rect">
            <a:avLst/>
          </a:prstGeom>
          <a:noFill/>
          <a:ln/>
        </p:spPr>
        <p:txBody>
          <a:bodyPr wrap="square" lIns="0" tIns="0" rIns="0" bIns="0" rtlCol="0" anchor="ctr"/>
          <a:lstStyle/>
          <a:p>
            <a:pPr marL="0" indent="0">
              <a:buNone/>
            </a:pPr>
            <a:r>
              <a:rPr lang="en-US" sz="1000" dirty="0">
                <a:solidFill>
                  <a:srgbClr val="94A3B8"/>
                </a:solidFill>
                <a:latin typeface="Courier New" pitchFamily="34" charset="0"/>
                <a:ea typeface="Courier New" pitchFamily="34" charset="-122"/>
                <a:cs typeface="Courier New" pitchFamily="34" charset="-120"/>
              </a:rPr>
              <a:t>hello_pytorch.py</a:t>
            </a:r>
            <a:endParaRPr lang="en-US" sz="1000" dirty="0"/>
          </a:p>
        </p:txBody>
      </p:sp>
      <p:sp>
        <p:nvSpPr>
          <p:cNvPr id="26" name="Text 24"/>
          <p:cNvSpPr/>
          <p:nvPr/>
        </p:nvSpPr>
        <p:spPr>
          <a:xfrm>
            <a:off x="6583680" y="2331720"/>
            <a:ext cx="4937760" cy="3657600"/>
          </a:xfrm>
          <a:prstGeom prst="rect">
            <a:avLst/>
          </a:prstGeom>
          <a:noFill/>
          <a:ln/>
        </p:spPr>
        <p:txBody>
          <a:bodyPr wrap="square" lIns="0" tIns="0" rIns="0" bIns="0" rtlCol="0" anchor="ctr"/>
          <a:lstStyle/>
          <a:p>
            <a:pPr marL="0" indent="0">
              <a:buNone/>
            </a:pPr>
            <a:r>
              <a:rPr lang="en-US" sz="1200" dirty="0">
                <a:solidFill>
                  <a:srgbClr val="E879F9"/>
                </a:solidFill>
                <a:latin typeface="Courier New" pitchFamily="34" charset="0"/>
                <a:ea typeface="Courier New" pitchFamily="34" charset="-122"/>
                <a:cs typeface="Courier New" pitchFamily="34" charset="-120"/>
              </a:rPr>
              <a:t>import </a:t>
            </a:r>
            <a:r>
              <a:rPr lang="en-US" sz="1200" dirty="0">
                <a:solidFill>
                  <a:srgbClr val="E2E8F0"/>
                </a:solidFill>
                <a:latin typeface="Courier New" pitchFamily="34" charset="0"/>
                <a:ea typeface="Courier New" pitchFamily="34" charset="-122"/>
                <a:cs typeface="Courier New" pitchFamily="34" charset="-120"/>
              </a:rPr>
              <a:t>torch</a:t>
            </a:r>
            <a:endParaRPr lang="en-US" sz="1200" dirty="0"/>
          </a:p>
          <a:p>
            <a:pPr marL="0" indent="0">
              <a:buNone/>
            </a:pPr>
            <a:endParaRPr lang="en-US" sz="1200" dirty="0"/>
          </a:p>
          <a:p>
            <a:pPr marL="0" indent="0">
              <a:buNone/>
            </a:pPr>
            <a:r>
              <a:rPr lang="en-US" sz="1200" dirty="0">
                <a:solidFill>
                  <a:srgbClr val="E2E8F0"/>
                </a:solidFill>
                <a:latin typeface="Courier New" pitchFamily="34" charset="0"/>
                <a:ea typeface="Courier New" pitchFamily="34" charset="-122"/>
                <a:cs typeface="Courier New" pitchFamily="34" charset="-120"/>
              </a:rPr>
              <a:t>x = torch.tensor([[</a:t>
            </a:r>
            <a:r>
              <a:rPr lang="en-US" sz="1200" dirty="0">
                <a:solidFill>
                  <a:srgbClr val="22D3EE"/>
                </a:solidFill>
                <a:latin typeface="Courier New" pitchFamily="34" charset="0"/>
                <a:ea typeface="Courier New" pitchFamily="34" charset="-122"/>
                <a:cs typeface="Courier New" pitchFamily="34" charset="-120"/>
              </a:rPr>
              <a:t>1.0</a:t>
            </a:r>
            <a:r>
              <a:rPr lang="en-US" sz="1200" dirty="0">
                <a:solidFill>
                  <a:srgbClr val="E2E8F0"/>
                </a:solidFill>
                <a:latin typeface="Courier New" pitchFamily="34" charset="0"/>
                <a:ea typeface="Courier New" pitchFamily="34" charset="-122"/>
                <a:cs typeface="Courier New" pitchFamily="34" charset="-120"/>
              </a:rPr>
              <a:t>, </a:t>
            </a:r>
            <a:r>
              <a:rPr lang="en-US" sz="1200" dirty="0">
                <a:solidFill>
                  <a:srgbClr val="22D3EE"/>
                </a:solidFill>
                <a:latin typeface="Courier New" pitchFamily="34" charset="0"/>
                <a:ea typeface="Courier New" pitchFamily="34" charset="-122"/>
                <a:cs typeface="Courier New" pitchFamily="34" charset="-120"/>
              </a:rPr>
              <a:t>2.0</a:t>
            </a:r>
            <a:r>
              <a:rPr lang="en-US" sz="1200" dirty="0">
                <a:solidFill>
                  <a:srgbClr val="E2E8F0"/>
                </a:solidFill>
                <a:latin typeface="Courier New" pitchFamily="34" charset="0"/>
                <a:ea typeface="Courier New" pitchFamily="34" charset="-122"/>
                <a:cs typeface="Courier New" pitchFamily="34" charset="-120"/>
              </a:rPr>
              <a:t>], [</a:t>
            </a:r>
            <a:r>
              <a:rPr lang="en-US" sz="1200" dirty="0">
                <a:solidFill>
                  <a:srgbClr val="22D3EE"/>
                </a:solidFill>
                <a:latin typeface="Courier New" pitchFamily="34" charset="0"/>
                <a:ea typeface="Courier New" pitchFamily="34" charset="-122"/>
                <a:cs typeface="Courier New" pitchFamily="34" charset="-120"/>
              </a:rPr>
              <a:t>3.0</a:t>
            </a:r>
            <a:r>
              <a:rPr lang="en-US" sz="1200" dirty="0">
                <a:solidFill>
                  <a:srgbClr val="E2E8F0"/>
                </a:solidFill>
                <a:latin typeface="Courier New" pitchFamily="34" charset="0"/>
                <a:ea typeface="Courier New" pitchFamily="34" charset="-122"/>
                <a:cs typeface="Courier New" pitchFamily="34" charset="-120"/>
              </a:rPr>
              <a:t>, </a:t>
            </a:r>
            <a:r>
              <a:rPr lang="en-US" sz="1200" dirty="0">
                <a:solidFill>
                  <a:srgbClr val="22D3EE"/>
                </a:solidFill>
                <a:latin typeface="Courier New" pitchFamily="34" charset="0"/>
                <a:ea typeface="Courier New" pitchFamily="34" charset="-122"/>
                <a:cs typeface="Courier New" pitchFamily="34" charset="-120"/>
              </a:rPr>
              <a:t>4.0</a:t>
            </a:r>
            <a:r>
              <a:rPr lang="en-US" sz="1200" dirty="0">
                <a:solidFill>
                  <a:srgbClr val="E2E8F0"/>
                </a:solidFill>
                <a:latin typeface="Courier New" pitchFamily="34" charset="0"/>
                <a:ea typeface="Courier New" pitchFamily="34" charset="-122"/>
                <a:cs typeface="Courier New" pitchFamily="34" charset="-120"/>
              </a:rPr>
              <a:t>]])</a:t>
            </a:r>
            <a:endParaRPr lang="en-US" sz="1200" dirty="0"/>
          </a:p>
          <a:p>
            <a:pPr marL="0" indent="0">
              <a:buNone/>
            </a:pPr>
            <a:r>
              <a:rPr lang="en-US" sz="1200" dirty="0">
                <a:solidFill>
                  <a:srgbClr val="E2E8F0"/>
                </a:solidFill>
                <a:latin typeface="Courier New" pitchFamily="34" charset="0"/>
                <a:ea typeface="Courier New" pitchFamily="34" charset="-122"/>
                <a:cs typeface="Courier New" pitchFamily="34" charset="-120"/>
              </a:rPr>
              <a:t>w = torch.randn(</a:t>
            </a:r>
            <a:r>
              <a:rPr lang="en-US" sz="1200" dirty="0">
                <a:solidFill>
                  <a:srgbClr val="22D3EE"/>
                </a:solidFill>
                <a:latin typeface="Courier New" pitchFamily="34" charset="0"/>
                <a:ea typeface="Courier New" pitchFamily="34" charset="-122"/>
                <a:cs typeface="Courier New" pitchFamily="34" charset="-120"/>
              </a:rPr>
              <a:t>2</a:t>
            </a:r>
            <a:r>
              <a:rPr lang="en-US" sz="1200" dirty="0">
                <a:solidFill>
                  <a:srgbClr val="E2E8F0"/>
                </a:solidFill>
                <a:latin typeface="Courier New" pitchFamily="34" charset="0"/>
                <a:ea typeface="Courier New" pitchFamily="34" charset="-122"/>
                <a:cs typeface="Courier New" pitchFamily="34" charset="-120"/>
              </a:rPr>
              <a:t>, </a:t>
            </a:r>
            <a:r>
              <a:rPr lang="en-US" sz="1200" dirty="0">
                <a:solidFill>
                  <a:srgbClr val="22D3EE"/>
                </a:solidFill>
                <a:latin typeface="Courier New" pitchFamily="34" charset="0"/>
                <a:ea typeface="Courier New" pitchFamily="34" charset="-122"/>
                <a:cs typeface="Courier New" pitchFamily="34" charset="-120"/>
              </a:rPr>
              <a:t>3</a:t>
            </a:r>
            <a:r>
              <a:rPr lang="en-US" sz="1200" dirty="0">
                <a:solidFill>
                  <a:srgbClr val="E2E8F0"/>
                </a:solidFill>
                <a:latin typeface="Courier New" pitchFamily="34" charset="0"/>
                <a:ea typeface="Courier New" pitchFamily="34" charset="-122"/>
                <a:cs typeface="Courier New" pitchFamily="34" charset="-120"/>
              </a:rPr>
              <a:t>, requires_grad=</a:t>
            </a:r>
            <a:r>
              <a:rPr lang="en-US" sz="1200" dirty="0">
                <a:solidFill>
                  <a:srgbClr val="E879F9"/>
                </a:solidFill>
                <a:latin typeface="Courier New" pitchFamily="34" charset="0"/>
                <a:ea typeface="Courier New" pitchFamily="34" charset="-122"/>
                <a:cs typeface="Courier New" pitchFamily="34" charset="-120"/>
              </a:rPr>
              <a:t>True</a:t>
            </a:r>
            <a:r>
              <a:rPr lang="en-US" sz="1200" dirty="0">
                <a:solidFill>
                  <a:srgbClr val="E2E8F0"/>
                </a:solidFill>
                <a:latin typeface="Courier New" pitchFamily="34" charset="0"/>
                <a:ea typeface="Courier New" pitchFamily="34" charset="-122"/>
                <a:cs typeface="Courier New" pitchFamily="34" charset="-120"/>
              </a:rPr>
              <a:t>)</a:t>
            </a:r>
            <a:endParaRPr lang="en-US" sz="1200" dirty="0"/>
          </a:p>
          <a:p>
            <a:pPr marL="0" indent="0">
              <a:buNone/>
            </a:pPr>
            <a:endParaRPr lang="en-US" sz="1200" dirty="0"/>
          </a:p>
          <a:p>
            <a:pPr marL="0" indent="0">
              <a:buNone/>
            </a:pPr>
            <a:r>
              <a:rPr lang="en-US" sz="1200" dirty="0">
                <a:solidFill>
                  <a:srgbClr val="E2E8F0"/>
                </a:solidFill>
                <a:latin typeface="Courier New" pitchFamily="34" charset="0"/>
                <a:ea typeface="Courier New" pitchFamily="34" charset="-122"/>
                <a:cs typeface="Courier New" pitchFamily="34" charset="-120"/>
              </a:rPr>
              <a:t>y = x @ w               </a:t>
            </a:r>
            <a:r>
              <a:rPr lang="en-US" sz="1200" dirty="0">
                <a:solidFill>
                  <a:srgbClr val="34D399"/>
                </a:solidFill>
                <a:latin typeface="Courier New" pitchFamily="34" charset="0"/>
                <a:ea typeface="Courier New" pitchFamily="34" charset="-122"/>
                <a:cs typeface="Courier New" pitchFamily="34" charset="-120"/>
              </a:rPr>
              <a:t># matrix multiply</a:t>
            </a:r>
            <a:endParaRPr lang="en-US" sz="1200" dirty="0"/>
          </a:p>
          <a:p>
            <a:pPr marL="0" indent="0">
              <a:buNone/>
            </a:pPr>
            <a:r>
              <a:rPr lang="en-US" sz="1200" dirty="0">
                <a:solidFill>
                  <a:srgbClr val="E2E8F0"/>
                </a:solidFill>
                <a:latin typeface="Courier New" pitchFamily="34" charset="0"/>
                <a:ea typeface="Courier New" pitchFamily="34" charset="-122"/>
                <a:cs typeface="Courier New" pitchFamily="34" charset="-120"/>
              </a:rPr>
              <a:t>loss = y.sum()          </a:t>
            </a:r>
            <a:r>
              <a:rPr lang="en-US" sz="1200" dirty="0">
                <a:solidFill>
                  <a:srgbClr val="34D399"/>
                </a:solidFill>
                <a:latin typeface="Courier New" pitchFamily="34" charset="0"/>
                <a:ea typeface="Courier New" pitchFamily="34" charset="-122"/>
                <a:cs typeface="Courier New" pitchFamily="34" charset="-120"/>
              </a:rPr>
              <a:t># fake loss</a:t>
            </a:r>
            <a:endParaRPr lang="en-US" sz="1200" dirty="0"/>
          </a:p>
          <a:p>
            <a:pPr marL="0" indent="0">
              <a:buNone/>
            </a:pPr>
            <a:r>
              <a:rPr lang="en-US" sz="1200" dirty="0">
                <a:solidFill>
                  <a:srgbClr val="E2E8F0"/>
                </a:solidFill>
                <a:latin typeface="Courier New" pitchFamily="34" charset="0"/>
                <a:ea typeface="Courier New" pitchFamily="34" charset="-122"/>
                <a:cs typeface="Courier New" pitchFamily="34" charset="-120"/>
              </a:rPr>
              <a:t>loss.backward()         </a:t>
            </a:r>
            <a:r>
              <a:rPr lang="en-US" sz="1200" dirty="0">
                <a:solidFill>
                  <a:srgbClr val="34D399"/>
                </a:solidFill>
                <a:latin typeface="Courier New" pitchFamily="34" charset="0"/>
                <a:ea typeface="Courier New" pitchFamily="34" charset="-122"/>
                <a:cs typeface="Courier New" pitchFamily="34" charset="-120"/>
              </a:rPr>
              <a:t># autograd!</a:t>
            </a:r>
            <a:endParaRPr lang="en-US" sz="1200" dirty="0"/>
          </a:p>
          <a:p>
            <a:pPr marL="0" indent="0">
              <a:buNone/>
            </a:pPr>
            <a:endParaRPr lang="en-US" sz="1200" dirty="0"/>
          </a:p>
          <a:p>
            <a:pPr marL="0" indent="0">
              <a:buNone/>
            </a:pPr>
            <a:r>
              <a:rPr lang="en-US" sz="1200" dirty="0">
                <a:solidFill>
                  <a:srgbClr val="E879F9"/>
                </a:solidFill>
                <a:latin typeface="Courier New" pitchFamily="34" charset="0"/>
                <a:ea typeface="Courier New" pitchFamily="34" charset="-122"/>
                <a:cs typeface="Courier New" pitchFamily="34" charset="-120"/>
              </a:rPr>
              <a:t>print</a:t>
            </a:r>
            <a:r>
              <a:rPr lang="en-US" sz="1200" dirty="0">
                <a:solidFill>
                  <a:srgbClr val="E2E8F0"/>
                </a:solidFill>
                <a:latin typeface="Courier New" pitchFamily="34" charset="0"/>
                <a:ea typeface="Courier New" pitchFamily="34" charset="-122"/>
                <a:cs typeface="Courier New" pitchFamily="34" charset="-120"/>
              </a:rPr>
              <a:t>(w.grad)              </a:t>
            </a:r>
            <a:r>
              <a:rPr lang="en-US" sz="1200" dirty="0">
                <a:solidFill>
                  <a:srgbClr val="34D399"/>
                </a:solidFill>
                <a:latin typeface="Courier New" pitchFamily="34" charset="0"/>
                <a:ea typeface="Courier New" pitchFamily="34" charset="-122"/>
                <a:cs typeface="Courier New" pitchFamily="34" charset="-120"/>
              </a:rPr>
              <a:t># gradients filled in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11247120" y="137160"/>
            <a:ext cx="365760" cy="182880"/>
          </a:xfrm>
          <a:prstGeom prst="line">
            <a:avLst/>
          </a:prstGeom>
          <a:noFill/>
          <a:ln w="9525">
            <a:solidFill>
              <a:srgbClr val="22D3EE">
                <a:alpha val="50000"/>
              </a:srgbClr>
            </a:solidFill>
            <a:prstDash val="solid"/>
          </a:ln>
        </p:spPr>
        <p:txBody>
          <a:bodyPr/>
          <a:lstStyle/>
          <a:p>
            <a:endParaRPr lang="en-IN"/>
          </a:p>
        </p:txBody>
      </p:sp>
      <p:sp>
        <p:nvSpPr>
          <p:cNvPr id="3" name="Shape 1"/>
          <p:cNvSpPr/>
          <p:nvPr/>
        </p:nvSpPr>
        <p:spPr>
          <a:xfrm>
            <a:off x="11247120" y="137160"/>
            <a:ext cx="228600" cy="411480"/>
          </a:xfrm>
          <a:prstGeom prst="line">
            <a:avLst/>
          </a:prstGeom>
          <a:noFill/>
          <a:ln w="9525">
            <a:solidFill>
              <a:srgbClr val="22D3EE">
                <a:alpha val="50000"/>
              </a:srgbClr>
            </a:solidFill>
            <a:prstDash val="solid"/>
          </a:ln>
        </p:spPr>
        <p:txBody>
          <a:bodyPr/>
          <a:lstStyle/>
          <a:p>
            <a:endParaRPr lang="en-IN"/>
          </a:p>
        </p:txBody>
      </p:sp>
      <p:sp>
        <p:nvSpPr>
          <p:cNvPr id="4" name="Shape 2"/>
          <p:cNvSpPr/>
          <p:nvPr/>
        </p:nvSpPr>
        <p:spPr>
          <a:xfrm>
            <a:off x="11612880" y="320040"/>
            <a:ext cx="228600" cy="182880"/>
          </a:xfrm>
          <a:prstGeom prst="line">
            <a:avLst/>
          </a:prstGeom>
          <a:noFill/>
          <a:ln w="9525">
            <a:solidFill>
              <a:srgbClr val="22D3EE">
                <a:alpha val="50000"/>
              </a:srgbClr>
            </a:solidFill>
            <a:prstDash val="solid"/>
          </a:ln>
        </p:spPr>
        <p:txBody>
          <a:bodyPr/>
          <a:lstStyle/>
          <a:p>
            <a:endParaRPr lang="en-IN"/>
          </a:p>
        </p:txBody>
      </p:sp>
      <p:sp>
        <p:nvSpPr>
          <p:cNvPr id="5" name="Shape 3"/>
          <p:cNvSpPr/>
          <p:nvPr/>
        </p:nvSpPr>
        <p:spPr>
          <a:xfrm flipV="1">
            <a:off x="11475720" y="502920"/>
            <a:ext cx="365760" cy="45720"/>
          </a:xfrm>
          <a:prstGeom prst="line">
            <a:avLst/>
          </a:prstGeom>
          <a:noFill/>
          <a:ln w="9525">
            <a:solidFill>
              <a:srgbClr val="22D3EE">
                <a:alpha val="50000"/>
              </a:srgbClr>
            </a:solidFill>
            <a:prstDash val="solid"/>
          </a:ln>
        </p:spPr>
        <p:txBody>
          <a:bodyPr/>
          <a:lstStyle/>
          <a:p>
            <a:endParaRPr lang="en-IN"/>
          </a:p>
        </p:txBody>
      </p:sp>
      <p:sp>
        <p:nvSpPr>
          <p:cNvPr id="6" name="Shape 4"/>
          <p:cNvSpPr/>
          <p:nvPr/>
        </p:nvSpPr>
        <p:spPr>
          <a:xfrm>
            <a:off x="11183112" y="73152"/>
            <a:ext cx="128016" cy="128016"/>
          </a:xfrm>
          <a:prstGeom prst="ellipse">
            <a:avLst/>
          </a:prstGeom>
          <a:solidFill>
            <a:srgbClr val="22D3EE"/>
          </a:solidFill>
          <a:ln w="12700">
            <a:solidFill>
              <a:srgbClr val="22D3EE"/>
            </a:solidFill>
            <a:prstDash val="solid"/>
          </a:ln>
        </p:spPr>
        <p:txBody>
          <a:bodyPr/>
          <a:lstStyle/>
          <a:p>
            <a:endParaRPr lang="en-IN"/>
          </a:p>
        </p:txBody>
      </p:sp>
      <p:sp>
        <p:nvSpPr>
          <p:cNvPr id="7" name="Shape 5"/>
          <p:cNvSpPr/>
          <p:nvPr/>
        </p:nvSpPr>
        <p:spPr>
          <a:xfrm>
            <a:off x="11548872" y="256032"/>
            <a:ext cx="128016" cy="128016"/>
          </a:xfrm>
          <a:prstGeom prst="ellipse">
            <a:avLst/>
          </a:prstGeom>
          <a:solidFill>
            <a:srgbClr val="E879F9"/>
          </a:solidFill>
          <a:ln w="12700">
            <a:solidFill>
              <a:srgbClr val="E879F9"/>
            </a:solidFill>
            <a:prstDash val="solid"/>
          </a:ln>
        </p:spPr>
        <p:txBody>
          <a:bodyPr/>
          <a:lstStyle/>
          <a:p>
            <a:endParaRPr lang="en-IN"/>
          </a:p>
        </p:txBody>
      </p:sp>
      <p:sp>
        <p:nvSpPr>
          <p:cNvPr id="8" name="Shape 6"/>
          <p:cNvSpPr/>
          <p:nvPr/>
        </p:nvSpPr>
        <p:spPr>
          <a:xfrm>
            <a:off x="11411712" y="484632"/>
            <a:ext cx="128016" cy="128016"/>
          </a:xfrm>
          <a:prstGeom prst="ellipse">
            <a:avLst/>
          </a:prstGeom>
          <a:solidFill>
            <a:srgbClr val="22D3EE"/>
          </a:solidFill>
          <a:ln w="12700">
            <a:solidFill>
              <a:srgbClr val="22D3EE"/>
            </a:solidFill>
            <a:prstDash val="solid"/>
          </a:ln>
        </p:spPr>
        <p:txBody>
          <a:bodyPr/>
          <a:lstStyle/>
          <a:p>
            <a:endParaRPr lang="en-IN"/>
          </a:p>
        </p:txBody>
      </p:sp>
      <p:sp>
        <p:nvSpPr>
          <p:cNvPr id="9" name="Shape 7"/>
          <p:cNvSpPr/>
          <p:nvPr/>
        </p:nvSpPr>
        <p:spPr>
          <a:xfrm>
            <a:off x="11777472" y="438912"/>
            <a:ext cx="128016" cy="128016"/>
          </a:xfrm>
          <a:prstGeom prst="ellipse">
            <a:avLst/>
          </a:prstGeom>
          <a:solidFill>
            <a:srgbClr val="E879F9"/>
          </a:solidFill>
          <a:ln w="12700">
            <a:solidFill>
              <a:srgbClr val="E879F9"/>
            </a:solidFill>
            <a:prstDash val="solid"/>
          </a:ln>
        </p:spPr>
        <p:txBody>
          <a:bodyPr/>
          <a:lstStyle/>
          <a:p>
            <a:endParaRPr lang="en-IN"/>
          </a:p>
        </p:txBody>
      </p:sp>
      <p:sp>
        <p:nvSpPr>
          <p:cNvPr id="10" name="Shape 8"/>
          <p:cNvSpPr/>
          <p:nvPr/>
        </p:nvSpPr>
        <p:spPr>
          <a:xfrm>
            <a:off x="0" y="6693408"/>
            <a:ext cx="12161520" cy="36576"/>
          </a:xfrm>
          <a:prstGeom prst="rect">
            <a:avLst/>
          </a:prstGeom>
          <a:solidFill>
            <a:srgbClr val="22D3EE"/>
          </a:solidFill>
          <a:ln w="12700">
            <a:solidFill>
              <a:srgbClr val="22D3EE"/>
            </a:solidFill>
            <a:prstDash val="solid"/>
          </a:ln>
        </p:spPr>
        <p:txBody>
          <a:bodyPr/>
          <a:lstStyle/>
          <a:p>
            <a:endParaRPr lang="en-IN"/>
          </a:p>
        </p:txBody>
      </p:sp>
      <p:sp>
        <p:nvSpPr>
          <p:cNvPr id="11" name="Text 9"/>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Deep Learning Onboarding  ·  Intern Training</a:t>
            </a:r>
            <a:endParaRPr lang="en-US" sz="1000" dirty="0"/>
          </a:p>
        </p:txBody>
      </p:sp>
      <p:sp>
        <p:nvSpPr>
          <p:cNvPr id="12" name="Text 10"/>
          <p:cNvSpPr/>
          <p:nvPr/>
        </p:nvSpPr>
        <p:spPr>
          <a:xfrm>
            <a:off x="10698480" y="6446520"/>
            <a:ext cx="914400" cy="27432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9 / 13</a:t>
            </a:r>
            <a:endParaRPr lang="en-US" sz="1000" dirty="0"/>
          </a:p>
        </p:txBody>
      </p:sp>
      <p:sp>
        <p:nvSpPr>
          <p:cNvPr id="13" name="Text 11"/>
          <p:cNvSpPr/>
          <p:nvPr/>
        </p:nvSpPr>
        <p:spPr>
          <a:xfrm>
            <a:off x="548640" y="411480"/>
            <a:ext cx="9144000" cy="320040"/>
          </a:xfrm>
          <a:prstGeom prst="rect">
            <a:avLst/>
          </a:prstGeom>
          <a:noFill/>
          <a:ln/>
        </p:spPr>
        <p:txBody>
          <a:bodyPr wrap="square" lIns="0" tIns="0" rIns="0" bIns="0" rtlCol="0" anchor="ctr"/>
          <a:lstStyle/>
          <a:p>
            <a:pPr marL="0" indent="0">
              <a:buNone/>
            </a:pPr>
            <a:r>
              <a:rPr lang="en-US" sz="1100" b="1" kern="0" spc="400" dirty="0">
                <a:solidFill>
                  <a:srgbClr val="22D3EE"/>
                </a:solidFill>
                <a:latin typeface="Calibri" pitchFamily="34" charset="0"/>
                <a:ea typeface="Calibri" pitchFamily="34" charset="-122"/>
                <a:cs typeface="Calibri" pitchFamily="34" charset="-120"/>
              </a:rPr>
              <a:t>MODULE 3</a:t>
            </a:r>
            <a:endParaRPr lang="en-US" sz="1100" dirty="0"/>
          </a:p>
        </p:txBody>
      </p:sp>
      <p:sp>
        <p:nvSpPr>
          <p:cNvPr id="14" name="Text 12"/>
          <p:cNvSpPr/>
          <p:nvPr/>
        </p:nvSpPr>
        <p:spPr>
          <a:xfrm>
            <a:off x="548640" y="713232"/>
            <a:ext cx="10515600" cy="77724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The four building blocks you'll use every day</a:t>
            </a:r>
            <a:endParaRPr lang="en-US" sz="3200" dirty="0"/>
          </a:p>
        </p:txBody>
      </p:sp>
      <p:sp>
        <p:nvSpPr>
          <p:cNvPr id="15" name="Shape 13"/>
          <p:cNvSpPr/>
          <p:nvPr/>
        </p:nvSpPr>
        <p:spPr>
          <a:xfrm>
            <a:off x="548640" y="1481328"/>
            <a:ext cx="548640" cy="54864"/>
          </a:xfrm>
          <a:prstGeom prst="rect">
            <a:avLst/>
          </a:prstGeom>
          <a:solidFill>
            <a:srgbClr val="E879F9"/>
          </a:solidFill>
          <a:ln w="12700">
            <a:solidFill>
              <a:srgbClr val="E879F9"/>
            </a:solidFill>
            <a:prstDash val="solid"/>
          </a:ln>
        </p:spPr>
        <p:txBody>
          <a:bodyPr/>
          <a:lstStyle/>
          <a:p>
            <a:endParaRPr lang="en-IN"/>
          </a:p>
        </p:txBody>
      </p:sp>
      <p:sp>
        <p:nvSpPr>
          <p:cNvPr id="16" name="Shape 14"/>
          <p:cNvSpPr/>
          <p:nvPr/>
        </p:nvSpPr>
        <p:spPr>
          <a:xfrm>
            <a:off x="548640" y="1874520"/>
            <a:ext cx="2697480" cy="393192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17" name="Text 15"/>
          <p:cNvSpPr/>
          <p:nvPr/>
        </p:nvSpPr>
        <p:spPr>
          <a:xfrm>
            <a:off x="777240" y="2057400"/>
            <a:ext cx="1371600" cy="640080"/>
          </a:xfrm>
          <a:prstGeom prst="rect">
            <a:avLst/>
          </a:prstGeom>
          <a:noFill/>
          <a:ln/>
        </p:spPr>
        <p:txBody>
          <a:bodyPr wrap="square" lIns="0" tIns="0" rIns="0" bIns="0" rtlCol="0" anchor="ctr"/>
          <a:lstStyle/>
          <a:p>
            <a:pPr marL="0" indent="0">
              <a:buNone/>
            </a:pPr>
            <a:r>
              <a:rPr lang="en-US" sz="2800" b="1" dirty="0">
                <a:solidFill>
                  <a:srgbClr val="22D3EE"/>
                </a:solidFill>
                <a:latin typeface="Calibri" pitchFamily="34" charset="0"/>
                <a:ea typeface="Calibri" pitchFamily="34" charset="-122"/>
                <a:cs typeface="Calibri" pitchFamily="34" charset="-120"/>
              </a:rPr>
              <a:t>01</a:t>
            </a:r>
            <a:endParaRPr lang="en-US" sz="2800" dirty="0"/>
          </a:p>
        </p:txBody>
      </p:sp>
      <p:sp>
        <p:nvSpPr>
          <p:cNvPr id="18" name="Text 16"/>
          <p:cNvSpPr/>
          <p:nvPr/>
        </p:nvSpPr>
        <p:spPr>
          <a:xfrm>
            <a:off x="777240" y="2880360"/>
            <a:ext cx="2240280" cy="457200"/>
          </a:xfrm>
          <a:prstGeom prst="rect">
            <a:avLst/>
          </a:prstGeom>
          <a:noFill/>
          <a:ln/>
        </p:spPr>
        <p:txBody>
          <a:bodyPr wrap="square" lIns="0" tIns="0" rIns="0" bIns="0" rtlCol="0" anchor="ctr"/>
          <a:lstStyle/>
          <a:p>
            <a:pPr marL="0" indent="0">
              <a:buNone/>
            </a:pPr>
            <a:r>
              <a:rPr lang="en-US" sz="1600" b="1" dirty="0">
                <a:solidFill>
                  <a:srgbClr val="F8FAFC"/>
                </a:solidFill>
                <a:latin typeface="Courier New" pitchFamily="34" charset="0"/>
                <a:ea typeface="Courier New" pitchFamily="34" charset="-122"/>
                <a:cs typeface="Courier New" pitchFamily="34" charset="-120"/>
              </a:rPr>
              <a:t>torch.Tensor</a:t>
            </a:r>
            <a:endParaRPr lang="en-US" sz="1600" dirty="0"/>
          </a:p>
        </p:txBody>
      </p:sp>
      <p:sp>
        <p:nvSpPr>
          <p:cNvPr id="19" name="Shape 17"/>
          <p:cNvSpPr/>
          <p:nvPr/>
        </p:nvSpPr>
        <p:spPr>
          <a:xfrm>
            <a:off x="777240" y="3429000"/>
            <a:ext cx="365760" cy="27432"/>
          </a:xfrm>
          <a:prstGeom prst="rect">
            <a:avLst/>
          </a:prstGeom>
          <a:solidFill>
            <a:srgbClr val="22D3EE"/>
          </a:solidFill>
          <a:ln w="12700">
            <a:solidFill>
              <a:srgbClr val="333333"/>
            </a:solidFill>
            <a:prstDash val="solid"/>
          </a:ln>
        </p:spPr>
        <p:txBody>
          <a:bodyPr/>
          <a:lstStyle/>
          <a:p>
            <a:endParaRPr lang="en-IN"/>
          </a:p>
        </p:txBody>
      </p:sp>
      <p:sp>
        <p:nvSpPr>
          <p:cNvPr id="20" name="Text 18"/>
          <p:cNvSpPr/>
          <p:nvPr/>
        </p:nvSpPr>
        <p:spPr>
          <a:xfrm>
            <a:off x="777240" y="3611880"/>
            <a:ext cx="2240280" cy="210312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Multi-dimensional arrays that live on CPU or GPU. The fundamental data structure.</a:t>
            </a:r>
            <a:endParaRPr lang="en-US" sz="1300" dirty="0"/>
          </a:p>
        </p:txBody>
      </p:sp>
      <p:sp>
        <p:nvSpPr>
          <p:cNvPr id="21" name="Shape 19"/>
          <p:cNvSpPr/>
          <p:nvPr/>
        </p:nvSpPr>
        <p:spPr>
          <a:xfrm>
            <a:off x="3383280" y="1874520"/>
            <a:ext cx="2697480" cy="393192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22" name="Text 20"/>
          <p:cNvSpPr/>
          <p:nvPr/>
        </p:nvSpPr>
        <p:spPr>
          <a:xfrm>
            <a:off x="3611880" y="2057400"/>
            <a:ext cx="1371600" cy="640080"/>
          </a:xfrm>
          <a:prstGeom prst="rect">
            <a:avLst/>
          </a:prstGeom>
          <a:noFill/>
          <a:ln/>
        </p:spPr>
        <p:txBody>
          <a:bodyPr wrap="square" lIns="0" tIns="0" rIns="0" bIns="0" rtlCol="0" anchor="ctr"/>
          <a:lstStyle/>
          <a:p>
            <a:pPr marL="0" indent="0">
              <a:buNone/>
            </a:pPr>
            <a:r>
              <a:rPr lang="en-US" sz="2800" b="1" dirty="0">
                <a:solidFill>
                  <a:srgbClr val="E879F9"/>
                </a:solidFill>
                <a:latin typeface="Calibri" pitchFamily="34" charset="0"/>
                <a:ea typeface="Calibri" pitchFamily="34" charset="-122"/>
                <a:cs typeface="Calibri" pitchFamily="34" charset="-120"/>
              </a:rPr>
              <a:t>02</a:t>
            </a:r>
            <a:endParaRPr lang="en-US" sz="2800" dirty="0"/>
          </a:p>
        </p:txBody>
      </p:sp>
      <p:sp>
        <p:nvSpPr>
          <p:cNvPr id="23" name="Text 21"/>
          <p:cNvSpPr/>
          <p:nvPr/>
        </p:nvSpPr>
        <p:spPr>
          <a:xfrm>
            <a:off x="3611880" y="2880360"/>
            <a:ext cx="2240280" cy="457200"/>
          </a:xfrm>
          <a:prstGeom prst="rect">
            <a:avLst/>
          </a:prstGeom>
          <a:noFill/>
          <a:ln/>
        </p:spPr>
        <p:txBody>
          <a:bodyPr wrap="square" lIns="0" tIns="0" rIns="0" bIns="0" rtlCol="0" anchor="ctr"/>
          <a:lstStyle/>
          <a:p>
            <a:pPr marL="0" indent="0">
              <a:buNone/>
            </a:pPr>
            <a:r>
              <a:rPr lang="en-US" sz="1600" b="1" dirty="0">
                <a:solidFill>
                  <a:srgbClr val="F8FAFC"/>
                </a:solidFill>
                <a:latin typeface="Courier New" pitchFamily="34" charset="0"/>
                <a:ea typeface="Courier New" pitchFamily="34" charset="-122"/>
                <a:cs typeface="Courier New" pitchFamily="34" charset="-120"/>
              </a:rPr>
              <a:t>autograd</a:t>
            </a:r>
            <a:endParaRPr lang="en-US" sz="1600" dirty="0"/>
          </a:p>
        </p:txBody>
      </p:sp>
      <p:sp>
        <p:nvSpPr>
          <p:cNvPr id="24" name="Shape 22"/>
          <p:cNvSpPr/>
          <p:nvPr/>
        </p:nvSpPr>
        <p:spPr>
          <a:xfrm>
            <a:off x="3611880" y="3429000"/>
            <a:ext cx="365760" cy="27432"/>
          </a:xfrm>
          <a:prstGeom prst="rect">
            <a:avLst/>
          </a:prstGeom>
          <a:solidFill>
            <a:srgbClr val="E879F9"/>
          </a:solidFill>
          <a:ln w="12700">
            <a:solidFill>
              <a:srgbClr val="333333"/>
            </a:solidFill>
            <a:prstDash val="solid"/>
          </a:ln>
        </p:spPr>
        <p:txBody>
          <a:bodyPr/>
          <a:lstStyle/>
          <a:p>
            <a:endParaRPr lang="en-IN"/>
          </a:p>
        </p:txBody>
      </p:sp>
      <p:sp>
        <p:nvSpPr>
          <p:cNvPr id="25" name="Text 23"/>
          <p:cNvSpPr/>
          <p:nvPr/>
        </p:nvSpPr>
        <p:spPr>
          <a:xfrm>
            <a:off x="3611880" y="3611880"/>
            <a:ext cx="2240280" cy="210312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Automatic differentiation. Tracks operations and computes gradients with one call to .backward().</a:t>
            </a:r>
            <a:endParaRPr lang="en-US" sz="1300" dirty="0"/>
          </a:p>
        </p:txBody>
      </p:sp>
      <p:sp>
        <p:nvSpPr>
          <p:cNvPr id="26" name="Shape 24"/>
          <p:cNvSpPr/>
          <p:nvPr/>
        </p:nvSpPr>
        <p:spPr>
          <a:xfrm>
            <a:off x="6217920" y="1874520"/>
            <a:ext cx="2697480" cy="393192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27" name="Text 25"/>
          <p:cNvSpPr/>
          <p:nvPr/>
        </p:nvSpPr>
        <p:spPr>
          <a:xfrm>
            <a:off x="6446520" y="2057400"/>
            <a:ext cx="1371600" cy="640080"/>
          </a:xfrm>
          <a:prstGeom prst="rect">
            <a:avLst/>
          </a:prstGeom>
          <a:noFill/>
          <a:ln/>
        </p:spPr>
        <p:txBody>
          <a:bodyPr wrap="square" lIns="0" tIns="0" rIns="0" bIns="0" rtlCol="0" anchor="ctr"/>
          <a:lstStyle/>
          <a:p>
            <a:pPr marL="0" indent="0">
              <a:buNone/>
            </a:pPr>
            <a:r>
              <a:rPr lang="en-US" sz="2800" b="1" dirty="0">
                <a:solidFill>
                  <a:srgbClr val="22D3EE"/>
                </a:solidFill>
                <a:latin typeface="Calibri" pitchFamily="34" charset="0"/>
                <a:ea typeface="Calibri" pitchFamily="34" charset="-122"/>
                <a:cs typeface="Calibri" pitchFamily="34" charset="-120"/>
              </a:rPr>
              <a:t>03</a:t>
            </a:r>
            <a:endParaRPr lang="en-US" sz="2800" dirty="0"/>
          </a:p>
        </p:txBody>
      </p:sp>
      <p:sp>
        <p:nvSpPr>
          <p:cNvPr id="28" name="Text 26"/>
          <p:cNvSpPr/>
          <p:nvPr/>
        </p:nvSpPr>
        <p:spPr>
          <a:xfrm>
            <a:off x="6446520" y="2880360"/>
            <a:ext cx="2240280" cy="457200"/>
          </a:xfrm>
          <a:prstGeom prst="rect">
            <a:avLst/>
          </a:prstGeom>
          <a:noFill/>
          <a:ln/>
        </p:spPr>
        <p:txBody>
          <a:bodyPr wrap="square" lIns="0" tIns="0" rIns="0" bIns="0" rtlCol="0" anchor="ctr"/>
          <a:lstStyle/>
          <a:p>
            <a:pPr marL="0" indent="0">
              <a:buNone/>
            </a:pPr>
            <a:r>
              <a:rPr lang="en-US" sz="1600" b="1" dirty="0">
                <a:solidFill>
                  <a:srgbClr val="F8FAFC"/>
                </a:solidFill>
                <a:latin typeface="Courier New" pitchFamily="34" charset="0"/>
                <a:ea typeface="Courier New" pitchFamily="34" charset="-122"/>
                <a:cs typeface="Courier New" pitchFamily="34" charset="-120"/>
              </a:rPr>
              <a:t>nn.Module</a:t>
            </a:r>
            <a:endParaRPr lang="en-US" sz="1600" dirty="0"/>
          </a:p>
        </p:txBody>
      </p:sp>
      <p:sp>
        <p:nvSpPr>
          <p:cNvPr id="29" name="Shape 27"/>
          <p:cNvSpPr/>
          <p:nvPr/>
        </p:nvSpPr>
        <p:spPr>
          <a:xfrm>
            <a:off x="6446520" y="3429000"/>
            <a:ext cx="365760" cy="27432"/>
          </a:xfrm>
          <a:prstGeom prst="rect">
            <a:avLst/>
          </a:prstGeom>
          <a:solidFill>
            <a:srgbClr val="22D3EE"/>
          </a:solidFill>
          <a:ln w="12700">
            <a:solidFill>
              <a:srgbClr val="333333"/>
            </a:solidFill>
            <a:prstDash val="solid"/>
          </a:ln>
        </p:spPr>
        <p:txBody>
          <a:bodyPr/>
          <a:lstStyle/>
          <a:p>
            <a:endParaRPr lang="en-IN"/>
          </a:p>
        </p:txBody>
      </p:sp>
      <p:sp>
        <p:nvSpPr>
          <p:cNvPr id="30" name="Text 28"/>
          <p:cNvSpPr/>
          <p:nvPr/>
        </p:nvSpPr>
        <p:spPr>
          <a:xfrm>
            <a:off x="6446520" y="3611880"/>
            <a:ext cx="2240280" cy="210312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The base class for any model. Subclass it, define layers in __init__, write forward(), done.</a:t>
            </a:r>
            <a:endParaRPr lang="en-US" sz="1300" dirty="0"/>
          </a:p>
        </p:txBody>
      </p:sp>
      <p:sp>
        <p:nvSpPr>
          <p:cNvPr id="31" name="Shape 29"/>
          <p:cNvSpPr/>
          <p:nvPr/>
        </p:nvSpPr>
        <p:spPr>
          <a:xfrm>
            <a:off x="9052560" y="1874520"/>
            <a:ext cx="2697480" cy="393192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32" name="Text 30"/>
          <p:cNvSpPr/>
          <p:nvPr/>
        </p:nvSpPr>
        <p:spPr>
          <a:xfrm>
            <a:off x="9281160" y="2057400"/>
            <a:ext cx="1371600" cy="640080"/>
          </a:xfrm>
          <a:prstGeom prst="rect">
            <a:avLst/>
          </a:prstGeom>
          <a:noFill/>
          <a:ln/>
        </p:spPr>
        <p:txBody>
          <a:bodyPr wrap="square" lIns="0" tIns="0" rIns="0" bIns="0" rtlCol="0" anchor="ctr"/>
          <a:lstStyle/>
          <a:p>
            <a:pPr marL="0" indent="0">
              <a:buNone/>
            </a:pPr>
            <a:r>
              <a:rPr lang="en-US" sz="2800" b="1" dirty="0">
                <a:solidFill>
                  <a:srgbClr val="E879F9"/>
                </a:solidFill>
                <a:latin typeface="Calibri" pitchFamily="34" charset="0"/>
                <a:ea typeface="Calibri" pitchFamily="34" charset="-122"/>
                <a:cs typeface="Calibri" pitchFamily="34" charset="-120"/>
              </a:rPr>
              <a:t>04</a:t>
            </a:r>
            <a:endParaRPr lang="en-US" sz="2800" dirty="0"/>
          </a:p>
        </p:txBody>
      </p:sp>
      <p:sp>
        <p:nvSpPr>
          <p:cNvPr id="33" name="Text 31"/>
          <p:cNvSpPr/>
          <p:nvPr/>
        </p:nvSpPr>
        <p:spPr>
          <a:xfrm>
            <a:off x="9281160" y="2880360"/>
            <a:ext cx="2240280" cy="457200"/>
          </a:xfrm>
          <a:prstGeom prst="rect">
            <a:avLst/>
          </a:prstGeom>
          <a:noFill/>
          <a:ln/>
        </p:spPr>
        <p:txBody>
          <a:bodyPr wrap="square" lIns="0" tIns="0" rIns="0" bIns="0" rtlCol="0" anchor="ctr"/>
          <a:lstStyle/>
          <a:p>
            <a:pPr marL="0" indent="0">
              <a:buNone/>
            </a:pPr>
            <a:r>
              <a:rPr lang="en-US" sz="1600" b="1" dirty="0">
                <a:solidFill>
                  <a:srgbClr val="F8FAFC"/>
                </a:solidFill>
                <a:latin typeface="Courier New" pitchFamily="34" charset="0"/>
                <a:ea typeface="Courier New" pitchFamily="34" charset="-122"/>
                <a:cs typeface="Courier New" pitchFamily="34" charset="-120"/>
              </a:rPr>
              <a:t>DataLoader</a:t>
            </a:r>
            <a:endParaRPr lang="en-US" sz="1600" dirty="0"/>
          </a:p>
        </p:txBody>
      </p:sp>
      <p:sp>
        <p:nvSpPr>
          <p:cNvPr id="34" name="Shape 32"/>
          <p:cNvSpPr/>
          <p:nvPr/>
        </p:nvSpPr>
        <p:spPr>
          <a:xfrm>
            <a:off x="9281160" y="3429000"/>
            <a:ext cx="365760" cy="27432"/>
          </a:xfrm>
          <a:prstGeom prst="rect">
            <a:avLst/>
          </a:prstGeom>
          <a:solidFill>
            <a:srgbClr val="E879F9"/>
          </a:solidFill>
          <a:ln w="12700">
            <a:solidFill>
              <a:srgbClr val="333333"/>
            </a:solidFill>
            <a:prstDash val="solid"/>
          </a:ln>
        </p:spPr>
        <p:txBody>
          <a:bodyPr/>
          <a:lstStyle/>
          <a:p>
            <a:endParaRPr lang="en-IN"/>
          </a:p>
        </p:txBody>
      </p:sp>
      <p:sp>
        <p:nvSpPr>
          <p:cNvPr id="35" name="Text 33"/>
          <p:cNvSpPr/>
          <p:nvPr/>
        </p:nvSpPr>
        <p:spPr>
          <a:xfrm>
            <a:off x="9281160" y="3611880"/>
            <a:ext cx="2240280" cy="210312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Wraps a Dataset and feeds your model in shuffled, batched chunks. Multi-worker by default.</a:t>
            </a:r>
            <a:endParaRPr lang="en-US" sz="1300" dirty="0"/>
          </a:p>
        </p:txBody>
      </p:sp>
      <p:sp>
        <p:nvSpPr>
          <p:cNvPr id="36" name="Text 34"/>
          <p:cNvSpPr/>
          <p:nvPr/>
        </p:nvSpPr>
        <p:spPr>
          <a:xfrm>
            <a:off x="548640" y="6035040"/>
            <a:ext cx="10972800" cy="365760"/>
          </a:xfrm>
          <a:prstGeom prst="rect">
            <a:avLst/>
          </a:prstGeom>
          <a:noFill/>
          <a:ln/>
        </p:spPr>
        <p:txBody>
          <a:bodyPr wrap="square" lIns="0" tIns="0" rIns="0" bIns="0" rtlCol="0" anchor="ctr"/>
          <a:lstStyle/>
          <a:p>
            <a:pPr marL="0" indent="0" algn="ctr">
              <a:buNone/>
            </a:pPr>
            <a:r>
              <a:rPr lang="en-US" sz="1400" i="1" dirty="0">
                <a:solidFill>
                  <a:srgbClr val="22D3EE"/>
                </a:solidFill>
                <a:latin typeface="Calibri" pitchFamily="34" charset="0"/>
                <a:ea typeface="Calibri" pitchFamily="34" charset="-122"/>
                <a:cs typeface="Calibri" pitchFamily="34" charset="-120"/>
              </a:rPr>
              <a:t>Master these four and you can read 90% of PyTorch tutorials and papers.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11247120" y="137160"/>
            <a:ext cx="365760" cy="182880"/>
          </a:xfrm>
          <a:prstGeom prst="line">
            <a:avLst/>
          </a:prstGeom>
          <a:noFill/>
          <a:ln w="9525">
            <a:solidFill>
              <a:srgbClr val="22D3EE">
                <a:alpha val="50000"/>
              </a:srgbClr>
            </a:solidFill>
            <a:prstDash val="solid"/>
          </a:ln>
        </p:spPr>
        <p:txBody>
          <a:bodyPr/>
          <a:lstStyle/>
          <a:p>
            <a:endParaRPr lang="en-IN"/>
          </a:p>
        </p:txBody>
      </p:sp>
      <p:sp>
        <p:nvSpPr>
          <p:cNvPr id="3" name="Shape 1"/>
          <p:cNvSpPr/>
          <p:nvPr/>
        </p:nvSpPr>
        <p:spPr>
          <a:xfrm>
            <a:off x="11247120" y="137160"/>
            <a:ext cx="228600" cy="411480"/>
          </a:xfrm>
          <a:prstGeom prst="line">
            <a:avLst/>
          </a:prstGeom>
          <a:noFill/>
          <a:ln w="9525">
            <a:solidFill>
              <a:srgbClr val="22D3EE">
                <a:alpha val="50000"/>
              </a:srgbClr>
            </a:solidFill>
            <a:prstDash val="solid"/>
          </a:ln>
        </p:spPr>
        <p:txBody>
          <a:bodyPr/>
          <a:lstStyle/>
          <a:p>
            <a:endParaRPr lang="en-IN"/>
          </a:p>
        </p:txBody>
      </p:sp>
      <p:sp>
        <p:nvSpPr>
          <p:cNvPr id="4" name="Shape 2"/>
          <p:cNvSpPr/>
          <p:nvPr/>
        </p:nvSpPr>
        <p:spPr>
          <a:xfrm>
            <a:off x="11612880" y="320040"/>
            <a:ext cx="228600" cy="182880"/>
          </a:xfrm>
          <a:prstGeom prst="line">
            <a:avLst/>
          </a:prstGeom>
          <a:noFill/>
          <a:ln w="9525">
            <a:solidFill>
              <a:srgbClr val="22D3EE">
                <a:alpha val="50000"/>
              </a:srgbClr>
            </a:solidFill>
            <a:prstDash val="solid"/>
          </a:ln>
        </p:spPr>
        <p:txBody>
          <a:bodyPr/>
          <a:lstStyle/>
          <a:p>
            <a:endParaRPr lang="en-IN"/>
          </a:p>
        </p:txBody>
      </p:sp>
      <p:sp>
        <p:nvSpPr>
          <p:cNvPr id="5" name="Shape 3"/>
          <p:cNvSpPr/>
          <p:nvPr/>
        </p:nvSpPr>
        <p:spPr>
          <a:xfrm flipV="1">
            <a:off x="11475720" y="502920"/>
            <a:ext cx="365760" cy="45720"/>
          </a:xfrm>
          <a:prstGeom prst="line">
            <a:avLst/>
          </a:prstGeom>
          <a:noFill/>
          <a:ln w="9525">
            <a:solidFill>
              <a:srgbClr val="22D3EE">
                <a:alpha val="50000"/>
              </a:srgbClr>
            </a:solidFill>
            <a:prstDash val="solid"/>
          </a:ln>
        </p:spPr>
        <p:txBody>
          <a:bodyPr/>
          <a:lstStyle/>
          <a:p>
            <a:endParaRPr lang="en-IN"/>
          </a:p>
        </p:txBody>
      </p:sp>
      <p:sp>
        <p:nvSpPr>
          <p:cNvPr id="6" name="Shape 4"/>
          <p:cNvSpPr/>
          <p:nvPr/>
        </p:nvSpPr>
        <p:spPr>
          <a:xfrm>
            <a:off x="11183112" y="73152"/>
            <a:ext cx="128016" cy="128016"/>
          </a:xfrm>
          <a:prstGeom prst="ellipse">
            <a:avLst/>
          </a:prstGeom>
          <a:solidFill>
            <a:srgbClr val="22D3EE"/>
          </a:solidFill>
          <a:ln w="12700">
            <a:solidFill>
              <a:srgbClr val="22D3EE"/>
            </a:solidFill>
            <a:prstDash val="solid"/>
          </a:ln>
        </p:spPr>
        <p:txBody>
          <a:bodyPr/>
          <a:lstStyle/>
          <a:p>
            <a:endParaRPr lang="en-IN"/>
          </a:p>
        </p:txBody>
      </p:sp>
      <p:sp>
        <p:nvSpPr>
          <p:cNvPr id="7" name="Shape 5"/>
          <p:cNvSpPr/>
          <p:nvPr/>
        </p:nvSpPr>
        <p:spPr>
          <a:xfrm>
            <a:off x="11548872" y="256032"/>
            <a:ext cx="128016" cy="128016"/>
          </a:xfrm>
          <a:prstGeom prst="ellipse">
            <a:avLst/>
          </a:prstGeom>
          <a:solidFill>
            <a:srgbClr val="E879F9"/>
          </a:solidFill>
          <a:ln w="12700">
            <a:solidFill>
              <a:srgbClr val="E879F9"/>
            </a:solidFill>
            <a:prstDash val="solid"/>
          </a:ln>
        </p:spPr>
        <p:txBody>
          <a:bodyPr/>
          <a:lstStyle/>
          <a:p>
            <a:endParaRPr lang="en-IN"/>
          </a:p>
        </p:txBody>
      </p:sp>
      <p:sp>
        <p:nvSpPr>
          <p:cNvPr id="8" name="Shape 6"/>
          <p:cNvSpPr/>
          <p:nvPr/>
        </p:nvSpPr>
        <p:spPr>
          <a:xfrm>
            <a:off x="11411712" y="484632"/>
            <a:ext cx="128016" cy="128016"/>
          </a:xfrm>
          <a:prstGeom prst="ellipse">
            <a:avLst/>
          </a:prstGeom>
          <a:solidFill>
            <a:srgbClr val="22D3EE"/>
          </a:solidFill>
          <a:ln w="12700">
            <a:solidFill>
              <a:srgbClr val="22D3EE"/>
            </a:solidFill>
            <a:prstDash val="solid"/>
          </a:ln>
        </p:spPr>
        <p:txBody>
          <a:bodyPr/>
          <a:lstStyle/>
          <a:p>
            <a:endParaRPr lang="en-IN"/>
          </a:p>
        </p:txBody>
      </p:sp>
      <p:sp>
        <p:nvSpPr>
          <p:cNvPr id="9" name="Shape 7"/>
          <p:cNvSpPr/>
          <p:nvPr/>
        </p:nvSpPr>
        <p:spPr>
          <a:xfrm>
            <a:off x="11777472" y="438912"/>
            <a:ext cx="128016" cy="128016"/>
          </a:xfrm>
          <a:prstGeom prst="ellipse">
            <a:avLst/>
          </a:prstGeom>
          <a:solidFill>
            <a:srgbClr val="E879F9"/>
          </a:solidFill>
          <a:ln w="12700">
            <a:solidFill>
              <a:srgbClr val="E879F9"/>
            </a:solidFill>
            <a:prstDash val="solid"/>
          </a:ln>
        </p:spPr>
        <p:txBody>
          <a:bodyPr/>
          <a:lstStyle/>
          <a:p>
            <a:endParaRPr lang="en-IN"/>
          </a:p>
        </p:txBody>
      </p:sp>
      <p:sp>
        <p:nvSpPr>
          <p:cNvPr id="10" name="Shape 8"/>
          <p:cNvSpPr/>
          <p:nvPr/>
        </p:nvSpPr>
        <p:spPr>
          <a:xfrm>
            <a:off x="0" y="6693408"/>
            <a:ext cx="12161520" cy="36576"/>
          </a:xfrm>
          <a:prstGeom prst="rect">
            <a:avLst/>
          </a:prstGeom>
          <a:solidFill>
            <a:srgbClr val="22D3EE"/>
          </a:solidFill>
          <a:ln w="12700">
            <a:solidFill>
              <a:srgbClr val="22D3EE"/>
            </a:solidFill>
            <a:prstDash val="solid"/>
          </a:ln>
        </p:spPr>
        <p:txBody>
          <a:bodyPr/>
          <a:lstStyle/>
          <a:p>
            <a:endParaRPr lang="en-IN"/>
          </a:p>
        </p:txBody>
      </p:sp>
      <p:sp>
        <p:nvSpPr>
          <p:cNvPr id="11" name="Text 9"/>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Deep Learning Onboarding  ·  Intern Training</a:t>
            </a:r>
            <a:endParaRPr lang="en-US" sz="1000" dirty="0"/>
          </a:p>
        </p:txBody>
      </p:sp>
      <p:sp>
        <p:nvSpPr>
          <p:cNvPr id="12" name="Text 10"/>
          <p:cNvSpPr/>
          <p:nvPr/>
        </p:nvSpPr>
        <p:spPr>
          <a:xfrm>
            <a:off x="10698480" y="6446520"/>
            <a:ext cx="914400" cy="27432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10 / 13</a:t>
            </a:r>
            <a:endParaRPr lang="en-US" sz="1000" dirty="0"/>
          </a:p>
        </p:txBody>
      </p:sp>
      <p:sp>
        <p:nvSpPr>
          <p:cNvPr id="13" name="Text 11"/>
          <p:cNvSpPr/>
          <p:nvPr/>
        </p:nvSpPr>
        <p:spPr>
          <a:xfrm>
            <a:off x="548640" y="411480"/>
            <a:ext cx="9144000" cy="320040"/>
          </a:xfrm>
          <a:prstGeom prst="rect">
            <a:avLst/>
          </a:prstGeom>
          <a:noFill/>
          <a:ln/>
        </p:spPr>
        <p:txBody>
          <a:bodyPr wrap="square" lIns="0" tIns="0" rIns="0" bIns="0" rtlCol="0" anchor="ctr"/>
          <a:lstStyle/>
          <a:p>
            <a:pPr marL="0" indent="0">
              <a:buNone/>
            </a:pPr>
            <a:r>
              <a:rPr lang="en-US" sz="1100" b="1" kern="0" spc="400" dirty="0">
                <a:solidFill>
                  <a:srgbClr val="22D3EE"/>
                </a:solidFill>
                <a:latin typeface="Calibri" pitchFamily="34" charset="0"/>
                <a:ea typeface="Calibri" pitchFamily="34" charset="-122"/>
                <a:cs typeface="Calibri" pitchFamily="34" charset="-120"/>
              </a:rPr>
              <a:t>PROJECT A</a:t>
            </a:r>
            <a:endParaRPr lang="en-US" sz="1100" dirty="0"/>
          </a:p>
        </p:txBody>
      </p:sp>
      <p:sp>
        <p:nvSpPr>
          <p:cNvPr id="14" name="Text 12"/>
          <p:cNvSpPr/>
          <p:nvPr/>
        </p:nvSpPr>
        <p:spPr>
          <a:xfrm>
            <a:off x="548640" y="713232"/>
            <a:ext cx="10515600" cy="77724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MNIST — your first PyTorch model</a:t>
            </a:r>
            <a:endParaRPr lang="en-US" sz="3200" dirty="0"/>
          </a:p>
        </p:txBody>
      </p:sp>
      <p:sp>
        <p:nvSpPr>
          <p:cNvPr id="15" name="Shape 13"/>
          <p:cNvSpPr/>
          <p:nvPr/>
        </p:nvSpPr>
        <p:spPr>
          <a:xfrm>
            <a:off x="548640" y="1481328"/>
            <a:ext cx="548640" cy="54864"/>
          </a:xfrm>
          <a:prstGeom prst="rect">
            <a:avLst/>
          </a:prstGeom>
          <a:solidFill>
            <a:srgbClr val="E879F9"/>
          </a:solidFill>
          <a:ln w="12700">
            <a:solidFill>
              <a:srgbClr val="E879F9"/>
            </a:solidFill>
            <a:prstDash val="solid"/>
          </a:ln>
        </p:spPr>
        <p:txBody>
          <a:bodyPr/>
          <a:lstStyle/>
          <a:p>
            <a:endParaRPr lang="en-IN"/>
          </a:p>
        </p:txBody>
      </p:sp>
      <p:sp>
        <p:nvSpPr>
          <p:cNvPr id="16" name="Shape 14"/>
          <p:cNvSpPr/>
          <p:nvPr/>
        </p:nvSpPr>
        <p:spPr>
          <a:xfrm>
            <a:off x="548640" y="1874520"/>
            <a:ext cx="4572000" cy="420624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17" name="Text 15"/>
          <p:cNvSpPr/>
          <p:nvPr/>
        </p:nvSpPr>
        <p:spPr>
          <a:xfrm>
            <a:off x="777240" y="2011680"/>
            <a:ext cx="4114800" cy="320040"/>
          </a:xfrm>
          <a:prstGeom prst="rect">
            <a:avLst/>
          </a:prstGeom>
          <a:noFill/>
          <a:ln/>
        </p:spPr>
        <p:txBody>
          <a:bodyPr wrap="square" lIns="0" tIns="0" rIns="0" bIns="0" rtlCol="0" anchor="ctr"/>
          <a:lstStyle/>
          <a:p>
            <a:pPr marL="0" indent="0">
              <a:buNone/>
            </a:pPr>
            <a:r>
              <a:rPr lang="en-US" sz="1200" b="1" kern="0" spc="300" dirty="0">
                <a:solidFill>
                  <a:srgbClr val="22D3EE"/>
                </a:solidFill>
                <a:latin typeface="Calibri" pitchFamily="34" charset="0"/>
                <a:ea typeface="Calibri" pitchFamily="34" charset="-122"/>
                <a:cs typeface="Calibri" pitchFamily="34" charset="-120"/>
              </a:rPr>
              <a:t>The task</a:t>
            </a:r>
            <a:endParaRPr lang="en-US" sz="1200" dirty="0"/>
          </a:p>
        </p:txBody>
      </p:sp>
      <p:sp>
        <p:nvSpPr>
          <p:cNvPr id="18" name="Text 16"/>
          <p:cNvSpPr/>
          <p:nvPr/>
        </p:nvSpPr>
        <p:spPr>
          <a:xfrm>
            <a:off x="777240" y="2331720"/>
            <a:ext cx="4114800" cy="640080"/>
          </a:xfrm>
          <a:prstGeom prst="rect">
            <a:avLst/>
          </a:prstGeom>
          <a:noFill/>
          <a:ln/>
        </p:spPr>
        <p:txBody>
          <a:bodyPr wrap="square" lIns="0" tIns="0" rIns="0" bIns="0" rtlCol="0" anchor="ctr"/>
          <a:lstStyle/>
          <a:p>
            <a:pPr marL="0" indent="0">
              <a:buNone/>
            </a:pPr>
            <a:r>
              <a:rPr lang="en-US" sz="1400" dirty="0">
                <a:solidFill>
                  <a:srgbClr val="F8FAFC"/>
                </a:solidFill>
                <a:latin typeface="Calibri" pitchFamily="34" charset="0"/>
                <a:ea typeface="Calibri" pitchFamily="34" charset="-122"/>
                <a:cs typeface="Calibri" pitchFamily="34" charset="-120"/>
              </a:rPr>
              <a:t>Classify 28×28 grayscale images of handwritten digits 0–9.</a:t>
            </a:r>
            <a:endParaRPr lang="en-US" sz="1400" dirty="0"/>
          </a:p>
        </p:txBody>
      </p:sp>
      <p:sp>
        <p:nvSpPr>
          <p:cNvPr id="19" name="Text 17"/>
          <p:cNvSpPr/>
          <p:nvPr/>
        </p:nvSpPr>
        <p:spPr>
          <a:xfrm>
            <a:off x="777240" y="3017520"/>
            <a:ext cx="4114800" cy="320040"/>
          </a:xfrm>
          <a:prstGeom prst="rect">
            <a:avLst/>
          </a:prstGeom>
          <a:noFill/>
          <a:ln/>
        </p:spPr>
        <p:txBody>
          <a:bodyPr wrap="square" lIns="0" tIns="0" rIns="0" bIns="0" rtlCol="0" anchor="ctr"/>
          <a:lstStyle/>
          <a:p>
            <a:pPr marL="0" indent="0">
              <a:buNone/>
            </a:pPr>
            <a:r>
              <a:rPr lang="en-US" sz="1200" b="1" kern="0" spc="300" dirty="0">
                <a:solidFill>
                  <a:srgbClr val="E879F9"/>
                </a:solidFill>
                <a:latin typeface="Calibri" pitchFamily="34" charset="0"/>
                <a:ea typeface="Calibri" pitchFamily="34" charset="-122"/>
                <a:cs typeface="Calibri" pitchFamily="34" charset="-120"/>
              </a:rPr>
              <a:t>Why it's perfect for day 1</a:t>
            </a:r>
            <a:endParaRPr lang="en-US" sz="1200" dirty="0"/>
          </a:p>
        </p:txBody>
      </p:sp>
      <p:sp>
        <p:nvSpPr>
          <p:cNvPr id="20" name="Text 18"/>
          <p:cNvSpPr/>
          <p:nvPr/>
        </p:nvSpPr>
        <p:spPr>
          <a:xfrm>
            <a:off x="777240" y="3383280"/>
            <a:ext cx="4206240" cy="22860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94A3B8"/>
                </a:solidFill>
                <a:latin typeface="Calibri" pitchFamily="34" charset="0"/>
                <a:ea typeface="Calibri" pitchFamily="34" charset="-122"/>
                <a:cs typeface="Calibri" pitchFamily="34" charset="-120"/>
              </a:rPr>
              <a:t>Tiny dataset, trains in minutes on a laptop.</a:t>
            </a:r>
            <a:endParaRPr lang="en-US" sz="1200" dirty="0"/>
          </a:p>
          <a:p>
            <a:pPr marL="342900" indent="-342900">
              <a:spcAft>
                <a:spcPts val="400"/>
              </a:spcAft>
              <a:buSzPct val="100000"/>
              <a:buChar char="●"/>
            </a:pPr>
            <a:r>
              <a:rPr lang="en-US" sz="1200" dirty="0">
                <a:solidFill>
                  <a:srgbClr val="94A3B8"/>
                </a:solidFill>
                <a:latin typeface="Calibri" pitchFamily="34" charset="0"/>
                <a:ea typeface="Calibri" pitchFamily="34" charset="-122"/>
                <a:cs typeface="Calibri" pitchFamily="34" charset="-120"/>
              </a:rPr>
              <a:t>Built into TorchVision — one line to download.</a:t>
            </a:r>
            <a:endParaRPr lang="en-US" sz="1200" dirty="0"/>
          </a:p>
          <a:p>
            <a:pPr marL="342900" indent="-342900">
              <a:spcAft>
                <a:spcPts val="400"/>
              </a:spcAft>
              <a:buSzPct val="100000"/>
              <a:buChar char="●"/>
            </a:pPr>
            <a:r>
              <a:rPr lang="en-US" sz="1200" dirty="0">
                <a:solidFill>
                  <a:srgbClr val="94A3B8"/>
                </a:solidFill>
                <a:latin typeface="Calibri" pitchFamily="34" charset="0"/>
                <a:ea typeface="Calibri" pitchFamily="34" charset="-122"/>
                <a:cs typeface="Calibri" pitchFamily="34" charset="-120"/>
              </a:rPr>
              <a:t>A small CNN hits ~99% accuracy.</a:t>
            </a:r>
            <a:endParaRPr lang="en-US" sz="1200" dirty="0"/>
          </a:p>
          <a:p>
            <a:pPr marL="342900" indent="-342900">
              <a:spcAft>
                <a:spcPts val="400"/>
              </a:spcAft>
              <a:buSzPct val="100000"/>
              <a:buChar char="●"/>
            </a:pPr>
            <a:r>
              <a:rPr lang="en-US" sz="1200" dirty="0">
                <a:solidFill>
                  <a:srgbClr val="94A3B8"/>
                </a:solidFill>
                <a:latin typeface="Calibri" pitchFamily="34" charset="0"/>
                <a:ea typeface="Calibri" pitchFamily="34" charset="-122"/>
                <a:cs typeface="Calibri" pitchFamily="34" charset="-120"/>
              </a:rPr>
              <a:t>Every concept transfers to bigger vision tasks.</a:t>
            </a:r>
            <a:endParaRPr lang="en-US" sz="1200" dirty="0"/>
          </a:p>
        </p:txBody>
      </p:sp>
      <p:sp>
        <p:nvSpPr>
          <p:cNvPr id="21" name="Shape 19"/>
          <p:cNvSpPr/>
          <p:nvPr/>
        </p:nvSpPr>
        <p:spPr>
          <a:xfrm>
            <a:off x="5349240" y="1874520"/>
            <a:ext cx="6263640" cy="4206240"/>
          </a:xfrm>
          <a:prstGeom prst="rect">
            <a:avLst/>
          </a:prstGeom>
          <a:solidFill>
            <a:srgbClr val="0A0F1F"/>
          </a:solidFill>
          <a:ln w="12700">
            <a:solidFill>
              <a:srgbClr val="22D3EE"/>
            </a:solidFill>
            <a:prstDash val="solid"/>
          </a:ln>
          <a:effectLst>
            <a:outerShdw blurRad="228600" dist="50800" dir="5400000" algn="bl" rotWithShape="0">
              <a:srgbClr val="000000">
                <a:alpha val="45000"/>
              </a:srgbClr>
            </a:outerShdw>
          </a:effectLst>
        </p:spPr>
        <p:txBody>
          <a:bodyPr/>
          <a:lstStyle/>
          <a:p>
            <a:endParaRPr lang="en-IN"/>
          </a:p>
        </p:txBody>
      </p:sp>
      <p:sp>
        <p:nvSpPr>
          <p:cNvPr id="22" name="Shape 20"/>
          <p:cNvSpPr/>
          <p:nvPr/>
        </p:nvSpPr>
        <p:spPr>
          <a:xfrm>
            <a:off x="5532120" y="2011680"/>
            <a:ext cx="137160" cy="137160"/>
          </a:xfrm>
          <a:prstGeom prst="ellipse">
            <a:avLst/>
          </a:prstGeom>
          <a:solidFill>
            <a:srgbClr val="FF6B6B"/>
          </a:solidFill>
          <a:ln w="12700">
            <a:solidFill>
              <a:srgbClr val="333333"/>
            </a:solidFill>
            <a:prstDash val="solid"/>
          </a:ln>
        </p:spPr>
        <p:txBody>
          <a:bodyPr/>
          <a:lstStyle/>
          <a:p>
            <a:endParaRPr lang="en-IN"/>
          </a:p>
        </p:txBody>
      </p:sp>
      <p:sp>
        <p:nvSpPr>
          <p:cNvPr id="23" name="Shape 21"/>
          <p:cNvSpPr/>
          <p:nvPr/>
        </p:nvSpPr>
        <p:spPr>
          <a:xfrm>
            <a:off x="5760720" y="2011680"/>
            <a:ext cx="137160" cy="137160"/>
          </a:xfrm>
          <a:prstGeom prst="ellipse">
            <a:avLst/>
          </a:prstGeom>
          <a:solidFill>
            <a:srgbClr val="FFD166"/>
          </a:solidFill>
          <a:ln w="12700">
            <a:solidFill>
              <a:srgbClr val="333333"/>
            </a:solidFill>
            <a:prstDash val="solid"/>
          </a:ln>
        </p:spPr>
        <p:txBody>
          <a:bodyPr/>
          <a:lstStyle/>
          <a:p>
            <a:endParaRPr lang="en-IN"/>
          </a:p>
        </p:txBody>
      </p:sp>
      <p:sp>
        <p:nvSpPr>
          <p:cNvPr id="24" name="Shape 22"/>
          <p:cNvSpPr/>
          <p:nvPr/>
        </p:nvSpPr>
        <p:spPr>
          <a:xfrm>
            <a:off x="5989320" y="2011680"/>
            <a:ext cx="137160" cy="137160"/>
          </a:xfrm>
          <a:prstGeom prst="ellipse">
            <a:avLst/>
          </a:prstGeom>
          <a:solidFill>
            <a:srgbClr val="06D6A0"/>
          </a:solidFill>
          <a:ln w="12700">
            <a:solidFill>
              <a:srgbClr val="333333"/>
            </a:solidFill>
            <a:prstDash val="solid"/>
          </a:ln>
        </p:spPr>
        <p:txBody>
          <a:bodyPr/>
          <a:lstStyle/>
          <a:p>
            <a:endParaRPr lang="en-IN"/>
          </a:p>
        </p:txBody>
      </p:sp>
      <p:sp>
        <p:nvSpPr>
          <p:cNvPr id="25" name="Text 23"/>
          <p:cNvSpPr/>
          <p:nvPr/>
        </p:nvSpPr>
        <p:spPr>
          <a:xfrm>
            <a:off x="6263640" y="1947672"/>
            <a:ext cx="4114800" cy="228600"/>
          </a:xfrm>
          <a:prstGeom prst="rect">
            <a:avLst/>
          </a:prstGeom>
          <a:noFill/>
          <a:ln/>
        </p:spPr>
        <p:txBody>
          <a:bodyPr wrap="square" lIns="0" tIns="0" rIns="0" bIns="0" rtlCol="0" anchor="ctr"/>
          <a:lstStyle/>
          <a:p>
            <a:pPr marL="0" indent="0">
              <a:buNone/>
            </a:pPr>
            <a:r>
              <a:rPr lang="en-US" sz="1000" dirty="0">
                <a:solidFill>
                  <a:srgbClr val="94A3B8"/>
                </a:solidFill>
                <a:latin typeface="Courier New" pitchFamily="34" charset="0"/>
                <a:ea typeface="Courier New" pitchFamily="34" charset="-122"/>
                <a:cs typeface="Courier New" pitchFamily="34" charset="-120"/>
              </a:rPr>
              <a:t>mnist_cnn.py</a:t>
            </a:r>
            <a:endParaRPr lang="en-US" sz="1000" dirty="0"/>
          </a:p>
        </p:txBody>
      </p:sp>
      <p:sp>
        <p:nvSpPr>
          <p:cNvPr id="26" name="Text 24"/>
          <p:cNvSpPr/>
          <p:nvPr/>
        </p:nvSpPr>
        <p:spPr>
          <a:xfrm>
            <a:off x="5486400" y="2331720"/>
            <a:ext cx="6035040" cy="3657600"/>
          </a:xfrm>
          <a:prstGeom prst="rect">
            <a:avLst/>
          </a:prstGeom>
          <a:noFill/>
          <a:ln/>
        </p:spPr>
        <p:txBody>
          <a:bodyPr wrap="square" lIns="0" tIns="0" rIns="0" bIns="0" rtlCol="0" anchor="ctr"/>
          <a:lstStyle/>
          <a:p>
            <a:pPr marL="0" indent="0">
              <a:buNone/>
            </a:pPr>
            <a:r>
              <a:rPr lang="en-US" sz="1100" dirty="0">
                <a:solidFill>
                  <a:srgbClr val="E879F9"/>
                </a:solidFill>
                <a:latin typeface="Courier New" pitchFamily="34" charset="0"/>
                <a:ea typeface="Courier New" pitchFamily="34" charset="-122"/>
                <a:cs typeface="Courier New" pitchFamily="34" charset="-120"/>
              </a:rPr>
              <a:t>import </a:t>
            </a:r>
            <a:r>
              <a:rPr lang="en-US" sz="1100" dirty="0">
                <a:solidFill>
                  <a:srgbClr val="E2E8F0"/>
                </a:solidFill>
                <a:latin typeface="Courier New" pitchFamily="34" charset="0"/>
                <a:ea typeface="Courier New" pitchFamily="34" charset="-122"/>
                <a:cs typeface="Courier New" pitchFamily="34" charset="-120"/>
              </a:rPr>
              <a:t>torch, torch.nn </a:t>
            </a:r>
            <a:r>
              <a:rPr lang="en-US" sz="1100" dirty="0">
                <a:solidFill>
                  <a:srgbClr val="E879F9"/>
                </a:solidFill>
                <a:latin typeface="Courier New" pitchFamily="34" charset="0"/>
                <a:ea typeface="Courier New" pitchFamily="34" charset="-122"/>
                <a:cs typeface="Courier New" pitchFamily="34" charset="-120"/>
              </a:rPr>
              <a:t>as </a:t>
            </a:r>
            <a:r>
              <a:rPr lang="en-US" sz="1100" dirty="0">
                <a:solidFill>
                  <a:srgbClr val="E2E8F0"/>
                </a:solidFill>
                <a:latin typeface="Courier New" pitchFamily="34" charset="0"/>
                <a:ea typeface="Courier New" pitchFamily="34" charset="-122"/>
                <a:cs typeface="Courier New" pitchFamily="34" charset="-120"/>
              </a:rPr>
              <a:t>nn</a:t>
            </a:r>
            <a:endParaRPr lang="en-US" sz="1100" dirty="0"/>
          </a:p>
          <a:p>
            <a:pPr marL="0" indent="0">
              <a:buNone/>
            </a:pPr>
            <a:r>
              <a:rPr lang="en-US" sz="1100" dirty="0">
                <a:solidFill>
                  <a:srgbClr val="E879F9"/>
                </a:solidFill>
                <a:latin typeface="Courier New" pitchFamily="34" charset="0"/>
                <a:ea typeface="Courier New" pitchFamily="34" charset="-122"/>
                <a:cs typeface="Courier New" pitchFamily="34" charset="-120"/>
              </a:rPr>
              <a:t>from </a:t>
            </a:r>
            <a:r>
              <a:rPr lang="en-US" sz="1100" dirty="0">
                <a:solidFill>
                  <a:srgbClr val="E2E8F0"/>
                </a:solidFill>
                <a:latin typeface="Courier New" pitchFamily="34" charset="0"/>
                <a:ea typeface="Courier New" pitchFamily="34" charset="-122"/>
                <a:cs typeface="Courier New" pitchFamily="34" charset="-120"/>
              </a:rPr>
              <a:t>torchvision </a:t>
            </a:r>
            <a:r>
              <a:rPr lang="en-US" sz="1100" dirty="0">
                <a:solidFill>
                  <a:srgbClr val="E879F9"/>
                </a:solidFill>
                <a:latin typeface="Courier New" pitchFamily="34" charset="0"/>
                <a:ea typeface="Courier New" pitchFamily="34" charset="-122"/>
                <a:cs typeface="Courier New" pitchFamily="34" charset="-120"/>
              </a:rPr>
              <a:t>import </a:t>
            </a:r>
            <a:r>
              <a:rPr lang="en-US" sz="1100" dirty="0">
                <a:solidFill>
                  <a:srgbClr val="E2E8F0"/>
                </a:solidFill>
                <a:latin typeface="Courier New" pitchFamily="34" charset="0"/>
                <a:ea typeface="Courier New" pitchFamily="34" charset="-122"/>
                <a:cs typeface="Courier New" pitchFamily="34" charset="-120"/>
              </a:rPr>
              <a:t>datasets, transforms</a:t>
            </a:r>
            <a:endParaRPr lang="en-US" sz="1100" dirty="0"/>
          </a:p>
          <a:p>
            <a:pPr marL="0" indent="0">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rgbClr val="E879F9"/>
                </a:solidFill>
                <a:latin typeface="Courier New" pitchFamily="34" charset="0"/>
                <a:ea typeface="Courier New" pitchFamily="34" charset="-122"/>
                <a:cs typeface="Courier New" pitchFamily="34" charset="-120"/>
              </a:rPr>
              <a:t>class </a:t>
            </a:r>
            <a:r>
              <a:rPr lang="en-US" sz="1100" dirty="0">
                <a:solidFill>
                  <a:srgbClr val="22D3EE"/>
                </a:solidFill>
                <a:latin typeface="Courier New" pitchFamily="34" charset="0"/>
                <a:ea typeface="Courier New" pitchFamily="34" charset="-122"/>
                <a:cs typeface="Courier New" pitchFamily="34" charset="-120"/>
              </a:rPr>
              <a:t>DigitNet</a:t>
            </a:r>
            <a:r>
              <a:rPr lang="en-US" sz="1100" dirty="0">
                <a:solidFill>
                  <a:srgbClr val="E2E8F0"/>
                </a:solidFill>
                <a:latin typeface="Courier New" pitchFamily="34" charset="0"/>
                <a:ea typeface="Courier New" pitchFamily="34" charset="-122"/>
                <a:cs typeface="Courier New" pitchFamily="34" charset="-120"/>
              </a:rPr>
              <a:t>(nn.Module):</a:t>
            </a:r>
            <a:endParaRPr lang="en-US" sz="1100" dirty="0"/>
          </a:p>
          <a:p>
            <a:pPr marL="0" indent="0">
              <a:buNone/>
            </a:pPr>
            <a:r>
              <a:rPr lang="en-US" sz="1100" dirty="0">
                <a:solidFill>
                  <a:srgbClr val="E879F9"/>
                </a:solidFill>
                <a:latin typeface="Courier New" pitchFamily="34" charset="0"/>
                <a:ea typeface="Courier New" pitchFamily="34" charset="-122"/>
                <a:cs typeface="Courier New" pitchFamily="34" charset="-120"/>
              </a:rPr>
              <a:t>    def </a:t>
            </a:r>
            <a:r>
              <a:rPr lang="en-US" sz="1100" dirty="0">
                <a:solidFill>
                  <a:srgbClr val="22D3EE"/>
                </a:solidFill>
                <a:latin typeface="Courier New" pitchFamily="34" charset="0"/>
                <a:ea typeface="Courier New" pitchFamily="34" charset="-122"/>
                <a:cs typeface="Courier New" pitchFamily="34" charset="-120"/>
              </a:rPr>
              <a:t>__init__</a:t>
            </a:r>
            <a:r>
              <a:rPr lang="en-US" sz="1100" dirty="0">
                <a:solidFill>
                  <a:srgbClr val="E2E8F0"/>
                </a:solidFill>
                <a:latin typeface="Courier New" pitchFamily="34" charset="0"/>
                <a:ea typeface="Courier New" pitchFamily="34" charset="-122"/>
                <a:cs typeface="Courier New" pitchFamily="34" charset="-120"/>
              </a:rPr>
              <a:t>(self):</a:t>
            </a:r>
            <a:endParaRPr lang="en-US" sz="1100" dirty="0"/>
          </a:p>
          <a:p>
            <a:pPr marL="0" indent="0">
              <a:buNone/>
            </a:pPr>
            <a:r>
              <a:rPr lang="en-US" sz="1100" dirty="0">
                <a:solidFill>
                  <a:srgbClr val="E2E8F0"/>
                </a:solidFill>
                <a:latin typeface="Courier New" pitchFamily="34" charset="0"/>
                <a:ea typeface="Courier New" pitchFamily="34" charset="-122"/>
                <a:cs typeface="Courier New" pitchFamily="34" charset="-120"/>
              </a:rPr>
              <a:t>        super().__init__()</a:t>
            </a:r>
            <a:endParaRPr lang="en-US" sz="1100" dirty="0"/>
          </a:p>
          <a:p>
            <a:pPr marL="0" indent="0">
              <a:buNone/>
            </a:pPr>
            <a:r>
              <a:rPr lang="en-US" sz="1100" dirty="0">
                <a:solidFill>
                  <a:srgbClr val="E2E8F0"/>
                </a:solidFill>
                <a:latin typeface="Courier New" pitchFamily="34" charset="0"/>
                <a:ea typeface="Courier New" pitchFamily="34" charset="-122"/>
                <a:cs typeface="Courier New" pitchFamily="34" charset="-120"/>
              </a:rPr>
              <a:t>        self.net = nn.Sequential(</a:t>
            </a:r>
            <a:endParaRPr lang="en-US" sz="1100" dirty="0"/>
          </a:p>
          <a:p>
            <a:pPr marL="0" indent="0">
              <a:buNone/>
            </a:pPr>
            <a:r>
              <a:rPr lang="en-US" sz="1100" dirty="0">
                <a:solidFill>
                  <a:srgbClr val="E2E8F0"/>
                </a:solidFill>
                <a:latin typeface="Courier New" pitchFamily="34" charset="0"/>
                <a:ea typeface="Courier New" pitchFamily="34" charset="-122"/>
                <a:cs typeface="Courier New" pitchFamily="34" charset="-120"/>
              </a:rPr>
              <a:t>            nn.Conv2d(</a:t>
            </a:r>
            <a:r>
              <a:rPr lang="en-US" sz="1100" dirty="0">
                <a:solidFill>
                  <a:srgbClr val="22D3EE"/>
                </a:solidFill>
                <a:latin typeface="Courier New" pitchFamily="34" charset="0"/>
                <a:ea typeface="Courier New" pitchFamily="34" charset="-122"/>
                <a:cs typeface="Courier New" pitchFamily="34" charset="-120"/>
              </a:rPr>
              <a:t>1</a:t>
            </a:r>
            <a:r>
              <a:rPr lang="en-US" sz="1100" dirty="0">
                <a:solidFill>
                  <a:srgbClr val="E2E8F0"/>
                </a:solidFill>
                <a:latin typeface="Courier New" pitchFamily="34" charset="0"/>
                <a:ea typeface="Courier New" pitchFamily="34" charset="-122"/>
                <a:cs typeface="Courier New" pitchFamily="34" charset="-120"/>
              </a:rPr>
              <a:t>, </a:t>
            </a:r>
            <a:r>
              <a:rPr lang="en-US" sz="1100" dirty="0">
                <a:solidFill>
                  <a:srgbClr val="22D3EE"/>
                </a:solidFill>
                <a:latin typeface="Courier New" pitchFamily="34" charset="0"/>
                <a:ea typeface="Courier New" pitchFamily="34" charset="-122"/>
                <a:cs typeface="Courier New" pitchFamily="34" charset="-120"/>
              </a:rPr>
              <a:t>32</a:t>
            </a:r>
            <a:r>
              <a:rPr lang="en-US" sz="1100" dirty="0">
                <a:solidFill>
                  <a:srgbClr val="E2E8F0"/>
                </a:solidFill>
                <a:latin typeface="Courier New" pitchFamily="34" charset="0"/>
                <a:ea typeface="Courier New" pitchFamily="34" charset="-122"/>
                <a:cs typeface="Courier New" pitchFamily="34" charset="-120"/>
              </a:rPr>
              <a:t>, </a:t>
            </a:r>
            <a:r>
              <a:rPr lang="en-US" sz="1100" dirty="0">
                <a:solidFill>
                  <a:srgbClr val="22D3EE"/>
                </a:solidFill>
                <a:latin typeface="Courier New" pitchFamily="34" charset="0"/>
                <a:ea typeface="Courier New" pitchFamily="34" charset="-122"/>
                <a:cs typeface="Courier New" pitchFamily="34" charset="-120"/>
              </a:rPr>
              <a:t>3</a:t>
            </a:r>
            <a:r>
              <a:rPr lang="en-US" sz="1100" dirty="0">
                <a:solidFill>
                  <a:srgbClr val="E2E8F0"/>
                </a:solidFill>
                <a:latin typeface="Courier New" pitchFamily="34" charset="0"/>
                <a:ea typeface="Courier New" pitchFamily="34" charset="-122"/>
                <a:cs typeface="Courier New" pitchFamily="34" charset="-120"/>
              </a:rPr>
              <a:t>), nn.ReLU(),</a:t>
            </a:r>
            <a:endParaRPr lang="en-US" sz="1100" dirty="0"/>
          </a:p>
          <a:p>
            <a:pPr marL="0" indent="0">
              <a:buNone/>
            </a:pPr>
            <a:r>
              <a:rPr lang="en-US" sz="1100" dirty="0">
                <a:solidFill>
                  <a:srgbClr val="E2E8F0"/>
                </a:solidFill>
                <a:latin typeface="Courier New" pitchFamily="34" charset="0"/>
                <a:ea typeface="Courier New" pitchFamily="34" charset="-122"/>
                <a:cs typeface="Courier New" pitchFamily="34" charset="-120"/>
              </a:rPr>
              <a:t>            nn.MaxPool2d(</a:t>
            </a:r>
            <a:r>
              <a:rPr lang="en-US" sz="1100" dirty="0">
                <a:solidFill>
                  <a:srgbClr val="22D3EE"/>
                </a:solidFill>
                <a:latin typeface="Courier New" pitchFamily="34" charset="0"/>
                <a:ea typeface="Courier New" pitchFamily="34" charset="-122"/>
                <a:cs typeface="Courier New" pitchFamily="34" charset="-120"/>
              </a:rPr>
              <a:t>2</a:t>
            </a:r>
            <a:r>
              <a:rPr lang="en-US" sz="1100" dirty="0">
                <a:solidFill>
                  <a:srgbClr val="E2E8F0"/>
                </a:solidFill>
                <a:latin typeface="Courier New" pitchFamily="34" charset="0"/>
                <a:ea typeface="Courier New" pitchFamily="34" charset="-122"/>
                <a:cs typeface="Courier New" pitchFamily="34" charset="-120"/>
              </a:rPr>
              <a:t>), nn.Flatten(),</a:t>
            </a:r>
            <a:endParaRPr lang="en-US" sz="1100" dirty="0"/>
          </a:p>
          <a:p>
            <a:pPr marL="0" indent="0">
              <a:buNone/>
            </a:pPr>
            <a:r>
              <a:rPr lang="en-US" sz="1100" dirty="0">
                <a:solidFill>
                  <a:srgbClr val="E2E8F0"/>
                </a:solidFill>
                <a:latin typeface="Courier New" pitchFamily="34" charset="0"/>
                <a:ea typeface="Courier New" pitchFamily="34" charset="-122"/>
                <a:cs typeface="Courier New" pitchFamily="34" charset="-120"/>
              </a:rPr>
              <a:t>            nn.Linear(</a:t>
            </a:r>
            <a:r>
              <a:rPr lang="en-US" sz="1100" dirty="0">
                <a:solidFill>
                  <a:srgbClr val="22D3EE"/>
                </a:solidFill>
                <a:latin typeface="Courier New" pitchFamily="34" charset="0"/>
                <a:ea typeface="Courier New" pitchFamily="34" charset="-122"/>
                <a:cs typeface="Courier New" pitchFamily="34" charset="-120"/>
              </a:rPr>
              <a:t>32*13*13</a:t>
            </a:r>
            <a:r>
              <a:rPr lang="en-US" sz="1100" dirty="0">
                <a:solidFill>
                  <a:srgbClr val="E2E8F0"/>
                </a:solidFill>
                <a:latin typeface="Courier New" pitchFamily="34" charset="0"/>
                <a:ea typeface="Courier New" pitchFamily="34" charset="-122"/>
                <a:cs typeface="Courier New" pitchFamily="34" charset="-120"/>
              </a:rPr>
              <a:t>, </a:t>
            </a:r>
            <a:r>
              <a:rPr lang="en-US" sz="1100" dirty="0">
                <a:solidFill>
                  <a:srgbClr val="22D3EE"/>
                </a:solidFill>
                <a:latin typeface="Courier New" pitchFamily="34" charset="0"/>
                <a:ea typeface="Courier New" pitchFamily="34" charset="-122"/>
                <a:cs typeface="Courier New" pitchFamily="34" charset="-120"/>
              </a:rPr>
              <a:t>10</a:t>
            </a:r>
            <a:r>
              <a:rPr lang="en-US" sz="1100" dirty="0">
                <a:solidFill>
                  <a:srgbClr val="E2E8F0"/>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rgbClr val="E879F9"/>
                </a:solidFill>
                <a:latin typeface="Courier New" pitchFamily="34" charset="0"/>
                <a:ea typeface="Courier New" pitchFamily="34" charset="-122"/>
                <a:cs typeface="Courier New" pitchFamily="34" charset="-120"/>
              </a:rPr>
              <a:t>    def </a:t>
            </a:r>
            <a:r>
              <a:rPr lang="en-US" sz="1100" dirty="0">
                <a:solidFill>
                  <a:srgbClr val="22D3EE"/>
                </a:solidFill>
                <a:latin typeface="Courier New" pitchFamily="34" charset="0"/>
                <a:ea typeface="Courier New" pitchFamily="34" charset="-122"/>
                <a:cs typeface="Courier New" pitchFamily="34" charset="-120"/>
              </a:rPr>
              <a:t>forward</a:t>
            </a:r>
            <a:r>
              <a:rPr lang="en-US" sz="1100" dirty="0">
                <a:solidFill>
                  <a:srgbClr val="E2E8F0"/>
                </a:solidFill>
                <a:latin typeface="Courier New" pitchFamily="34" charset="0"/>
                <a:ea typeface="Courier New" pitchFamily="34" charset="-122"/>
                <a:cs typeface="Courier New" pitchFamily="34" charset="-120"/>
              </a:rPr>
              <a:t>(self, x): </a:t>
            </a:r>
            <a:r>
              <a:rPr lang="en-US" sz="1100" dirty="0">
                <a:solidFill>
                  <a:srgbClr val="E879F9"/>
                </a:solidFill>
                <a:latin typeface="Courier New" pitchFamily="34" charset="0"/>
                <a:ea typeface="Courier New" pitchFamily="34" charset="-122"/>
                <a:cs typeface="Courier New" pitchFamily="34" charset="-120"/>
              </a:rPr>
              <a:t>return </a:t>
            </a:r>
            <a:r>
              <a:rPr lang="en-US" sz="1100" dirty="0">
                <a:solidFill>
                  <a:srgbClr val="E2E8F0"/>
                </a:solidFill>
                <a:latin typeface="Courier New" pitchFamily="34" charset="0"/>
                <a:ea typeface="Courier New" pitchFamily="34" charset="-122"/>
                <a:cs typeface="Courier New" pitchFamily="34" charset="-120"/>
              </a:rPr>
              <a:t>self.net(x)</a:t>
            </a:r>
            <a:endParaRPr lang="en-US" sz="1100" dirty="0"/>
          </a:p>
          <a:p>
            <a:pPr marL="0" indent="0">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rgbClr val="34D399"/>
                </a:solidFill>
                <a:latin typeface="Courier New" pitchFamily="34" charset="0"/>
                <a:ea typeface="Courier New" pitchFamily="34" charset="-122"/>
                <a:cs typeface="Courier New" pitchFamily="34" charset="-120"/>
              </a:rPr>
              <a:t># train: standard loop — model(x), loss, backward, step</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11247120" y="137160"/>
            <a:ext cx="365760" cy="182880"/>
          </a:xfrm>
          <a:prstGeom prst="line">
            <a:avLst/>
          </a:prstGeom>
          <a:noFill/>
          <a:ln w="9525">
            <a:solidFill>
              <a:srgbClr val="22D3EE">
                <a:alpha val="50000"/>
              </a:srgbClr>
            </a:solidFill>
            <a:prstDash val="solid"/>
          </a:ln>
        </p:spPr>
        <p:txBody>
          <a:bodyPr/>
          <a:lstStyle/>
          <a:p>
            <a:endParaRPr lang="en-IN"/>
          </a:p>
        </p:txBody>
      </p:sp>
      <p:sp>
        <p:nvSpPr>
          <p:cNvPr id="3" name="Shape 1"/>
          <p:cNvSpPr/>
          <p:nvPr/>
        </p:nvSpPr>
        <p:spPr>
          <a:xfrm>
            <a:off x="11247120" y="137160"/>
            <a:ext cx="228600" cy="411480"/>
          </a:xfrm>
          <a:prstGeom prst="line">
            <a:avLst/>
          </a:prstGeom>
          <a:noFill/>
          <a:ln w="9525">
            <a:solidFill>
              <a:srgbClr val="22D3EE">
                <a:alpha val="50000"/>
              </a:srgbClr>
            </a:solidFill>
            <a:prstDash val="solid"/>
          </a:ln>
        </p:spPr>
        <p:txBody>
          <a:bodyPr/>
          <a:lstStyle/>
          <a:p>
            <a:endParaRPr lang="en-IN"/>
          </a:p>
        </p:txBody>
      </p:sp>
      <p:sp>
        <p:nvSpPr>
          <p:cNvPr id="4" name="Shape 2"/>
          <p:cNvSpPr/>
          <p:nvPr/>
        </p:nvSpPr>
        <p:spPr>
          <a:xfrm>
            <a:off x="11612880" y="320040"/>
            <a:ext cx="228600" cy="182880"/>
          </a:xfrm>
          <a:prstGeom prst="line">
            <a:avLst/>
          </a:prstGeom>
          <a:noFill/>
          <a:ln w="9525">
            <a:solidFill>
              <a:srgbClr val="22D3EE">
                <a:alpha val="50000"/>
              </a:srgbClr>
            </a:solidFill>
            <a:prstDash val="solid"/>
          </a:ln>
        </p:spPr>
        <p:txBody>
          <a:bodyPr/>
          <a:lstStyle/>
          <a:p>
            <a:endParaRPr lang="en-IN"/>
          </a:p>
        </p:txBody>
      </p:sp>
      <p:sp>
        <p:nvSpPr>
          <p:cNvPr id="5" name="Shape 3"/>
          <p:cNvSpPr/>
          <p:nvPr/>
        </p:nvSpPr>
        <p:spPr>
          <a:xfrm flipV="1">
            <a:off x="11475720" y="502920"/>
            <a:ext cx="365760" cy="45720"/>
          </a:xfrm>
          <a:prstGeom prst="line">
            <a:avLst/>
          </a:prstGeom>
          <a:noFill/>
          <a:ln w="9525">
            <a:solidFill>
              <a:srgbClr val="22D3EE">
                <a:alpha val="50000"/>
              </a:srgbClr>
            </a:solidFill>
            <a:prstDash val="solid"/>
          </a:ln>
        </p:spPr>
        <p:txBody>
          <a:bodyPr/>
          <a:lstStyle/>
          <a:p>
            <a:endParaRPr lang="en-IN"/>
          </a:p>
        </p:txBody>
      </p:sp>
      <p:sp>
        <p:nvSpPr>
          <p:cNvPr id="6" name="Shape 4"/>
          <p:cNvSpPr/>
          <p:nvPr/>
        </p:nvSpPr>
        <p:spPr>
          <a:xfrm>
            <a:off x="11183112" y="73152"/>
            <a:ext cx="128016" cy="128016"/>
          </a:xfrm>
          <a:prstGeom prst="ellipse">
            <a:avLst/>
          </a:prstGeom>
          <a:solidFill>
            <a:srgbClr val="22D3EE"/>
          </a:solidFill>
          <a:ln w="12700">
            <a:solidFill>
              <a:srgbClr val="22D3EE"/>
            </a:solidFill>
            <a:prstDash val="solid"/>
          </a:ln>
        </p:spPr>
        <p:txBody>
          <a:bodyPr/>
          <a:lstStyle/>
          <a:p>
            <a:endParaRPr lang="en-IN"/>
          </a:p>
        </p:txBody>
      </p:sp>
      <p:sp>
        <p:nvSpPr>
          <p:cNvPr id="7" name="Shape 5"/>
          <p:cNvSpPr/>
          <p:nvPr/>
        </p:nvSpPr>
        <p:spPr>
          <a:xfrm>
            <a:off x="11548872" y="256032"/>
            <a:ext cx="128016" cy="128016"/>
          </a:xfrm>
          <a:prstGeom prst="ellipse">
            <a:avLst/>
          </a:prstGeom>
          <a:solidFill>
            <a:srgbClr val="E879F9"/>
          </a:solidFill>
          <a:ln w="12700">
            <a:solidFill>
              <a:srgbClr val="E879F9"/>
            </a:solidFill>
            <a:prstDash val="solid"/>
          </a:ln>
        </p:spPr>
        <p:txBody>
          <a:bodyPr/>
          <a:lstStyle/>
          <a:p>
            <a:endParaRPr lang="en-IN"/>
          </a:p>
        </p:txBody>
      </p:sp>
      <p:sp>
        <p:nvSpPr>
          <p:cNvPr id="8" name="Shape 6"/>
          <p:cNvSpPr/>
          <p:nvPr/>
        </p:nvSpPr>
        <p:spPr>
          <a:xfrm>
            <a:off x="11411712" y="484632"/>
            <a:ext cx="128016" cy="128016"/>
          </a:xfrm>
          <a:prstGeom prst="ellipse">
            <a:avLst/>
          </a:prstGeom>
          <a:solidFill>
            <a:srgbClr val="22D3EE"/>
          </a:solidFill>
          <a:ln w="12700">
            <a:solidFill>
              <a:srgbClr val="22D3EE"/>
            </a:solidFill>
            <a:prstDash val="solid"/>
          </a:ln>
        </p:spPr>
        <p:txBody>
          <a:bodyPr/>
          <a:lstStyle/>
          <a:p>
            <a:endParaRPr lang="en-IN"/>
          </a:p>
        </p:txBody>
      </p:sp>
      <p:sp>
        <p:nvSpPr>
          <p:cNvPr id="9" name="Shape 7"/>
          <p:cNvSpPr/>
          <p:nvPr/>
        </p:nvSpPr>
        <p:spPr>
          <a:xfrm>
            <a:off x="11777472" y="438912"/>
            <a:ext cx="128016" cy="128016"/>
          </a:xfrm>
          <a:prstGeom prst="ellipse">
            <a:avLst/>
          </a:prstGeom>
          <a:solidFill>
            <a:srgbClr val="E879F9"/>
          </a:solidFill>
          <a:ln w="12700">
            <a:solidFill>
              <a:srgbClr val="E879F9"/>
            </a:solidFill>
            <a:prstDash val="solid"/>
          </a:ln>
        </p:spPr>
        <p:txBody>
          <a:bodyPr/>
          <a:lstStyle/>
          <a:p>
            <a:endParaRPr lang="en-IN"/>
          </a:p>
        </p:txBody>
      </p:sp>
      <p:sp>
        <p:nvSpPr>
          <p:cNvPr id="10" name="Shape 8"/>
          <p:cNvSpPr/>
          <p:nvPr/>
        </p:nvSpPr>
        <p:spPr>
          <a:xfrm>
            <a:off x="0" y="6693408"/>
            <a:ext cx="12161520" cy="36576"/>
          </a:xfrm>
          <a:prstGeom prst="rect">
            <a:avLst/>
          </a:prstGeom>
          <a:solidFill>
            <a:srgbClr val="22D3EE"/>
          </a:solidFill>
          <a:ln w="12700">
            <a:solidFill>
              <a:srgbClr val="22D3EE"/>
            </a:solidFill>
            <a:prstDash val="solid"/>
          </a:ln>
        </p:spPr>
        <p:txBody>
          <a:bodyPr/>
          <a:lstStyle/>
          <a:p>
            <a:endParaRPr lang="en-IN"/>
          </a:p>
        </p:txBody>
      </p:sp>
      <p:sp>
        <p:nvSpPr>
          <p:cNvPr id="11" name="Text 9"/>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Deep Learning Onboarding  ·  Intern Training</a:t>
            </a:r>
            <a:endParaRPr lang="en-US" sz="1000" dirty="0"/>
          </a:p>
        </p:txBody>
      </p:sp>
      <p:sp>
        <p:nvSpPr>
          <p:cNvPr id="12" name="Text 10"/>
          <p:cNvSpPr/>
          <p:nvPr/>
        </p:nvSpPr>
        <p:spPr>
          <a:xfrm>
            <a:off x="10698480" y="6446520"/>
            <a:ext cx="914400" cy="27432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11 / 13</a:t>
            </a:r>
            <a:endParaRPr lang="en-US" sz="1000" dirty="0"/>
          </a:p>
        </p:txBody>
      </p:sp>
      <p:sp>
        <p:nvSpPr>
          <p:cNvPr id="13" name="Text 11"/>
          <p:cNvSpPr/>
          <p:nvPr/>
        </p:nvSpPr>
        <p:spPr>
          <a:xfrm>
            <a:off x="548640" y="411480"/>
            <a:ext cx="9144000" cy="320040"/>
          </a:xfrm>
          <a:prstGeom prst="rect">
            <a:avLst/>
          </a:prstGeom>
          <a:noFill/>
          <a:ln/>
        </p:spPr>
        <p:txBody>
          <a:bodyPr wrap="square" lIns="0" tIns="0" rIns="0" bIns="0" rtlCol="0" anchor="ctr"/>
          <a:lstStyle/>
          <a:p>
            <a:pPr marL="0" indent="0">
              <a:buNone/>
            </a:pPr>
            <a:r>
              <a:rPr lang="en-US" sz="1100" b="1" kern="0" spc="400" dirty="0">
                <a:solidFill>
                  <a:srgbClr val="22D3EE"/>
                </a:solidFill>
                <a:latin typeface="Calibri" pitchFamily="34" charset="0"/>
                <a:ea typeface="Calibri" pitchFamily="34" charset="-122"/>
                <a:cs typeface="Calibri" pitchFamily="34" charset="-120"/>
              </a:rPr>
              <a:t>PROJECT B</a:t>
            </a:r>
            <a:endParaRPr lang="en-US" sz="1100" dirty="0"/>
          </a:p>
        </p:txBody>
      </p:sp>
      <p:sp>
        <p:nvSpPr>
          <p:cNvPr id="14" name="Text 12"/>
          <p:cNvSpPr/>
          <p:nvPr/>
        </p:nvSpPr>
        <p:spPr>
          <a:xfrm>
            <a:off x="548640" y="713232"/>
            <a:ext cx="10515600" cy="77724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Sentiment analysis — your first NLP model</a:t>
            </a:r>
            <a:endParaRPr lang="en-US" sz="3200" dirty="0"/>
          </a:p>
        </p:txBody>
      </p:sp>
      <p:sp>
        <p:nvSpPr>
          <p:cNvPr id="15" name="Shape 13"/>
          <p:cNvSpPr/>
          <p:nvPr/>
        </p:nvSpPr>
        <p:spPr>
          <a:xfrm>
            <a:off x="548640" y="1481328"/>
            <a:ext cx="548640" cy="54864"/>
          </a:xfrm>
          <a:prstGeom prst="rect">
            <a:avLst/>
          </a:prstGeom>
          <a:solidFill>
            <a:srgbClr val="E879F9"/>
          </a:solidFill>
          <a:ln w="12700">
            <a:solidFill>
              <a:srgbClr val="E879F9"/>
            </a:solidFill>
            <a:prstDash val="solid"/>
          </a:ln>
        </p:spPr>
        <p:txBody>
          <a:bodyPr/>
          <a:lstStyle/>
          <a:p>
            <a:endParaRPr lang="en-IN"/>
          </a:p>
        </p:txBody>
      </p:sp>
      <p:sp>
        <p:nvSpPr>
          <p:cNvPr id="16" name="Shape 14"/>
          <p:cNvSpPr/>
          <p:nvPr/>
        </p:nvSpPr>
        <p:spPr>
          <a:xfrm>
            <a:off x="548640" y="1874520"/>
            <a:ext cx="4572000" cy="420624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17" name="Text 15"/>
          <p:cNvSpPr/>
          <p:nvPr/>
        </p:nvSpPr>
        <p:spPr>
          <a:xfrm>
            <a:off x="777240" y="2011680"/>
            <a:ext cx="4114800" cy="320040"/>
          </a:xfrm>
          <a:prstGeom prst="rect">
            <a:avLst/>
          </a:prstGeom>
          <a:noFill/>
          <a:ln/>
        </p:spPr>
        <p:txBody>
          <a:bodyPr wrap="square" lIns="0" tIns="0" rIns="0" bIns="0" rtlCol="0" anchor="ctr"/>
          <a:lstStyle/>
          <a:p>
            <a:pPr marL="0" indent="0">
              <a:buNone/>
            </a:pPr>
            <a:r>
              <a:rPr lang="en-US" sz="1200" b="1" kern="0" spc="300" dirty="0">
                <a:solidFill>
                  <a:srgbClr val="22D3EE"/>
                </a:solidFill>
                <a:latin typeface="Calibri" pitchFamily="34" charset="0"/>
                <a:ea typeface="Calibri" pitchFamily="34" charset="-122"/>
                <a:cs typeface="Calibri" pitchFamily="34" charset="-120"/>
              </a:rPr>
              <a:t>The task</a:t>
            </a:r>
            <a:endParaRPr lang="en-US" sz="1200" dirty="0"/>
          </a:p>
        </p:txBody>
      </p:sp>
      <p:sp>
        <p:nvSpPr>
          <p:cNvPr id="18" name="Text 16"/>
          <p:cNvSpPr/>
          <p:nvPr/>
        </p:nvSpPr>
        <p:spPr>
          <a:xfrm>
            <a:off x="777240" y="2331720"/>
            <a:ext cx="4206240" cy="640080"/>
          </a:xfrm>
          <a:prstGeom prst="rect">
            <a:avLst/>
          </a:prstGeom>
          <a:noFill/>
          <a:ln/>
        </p:spPr>
        <p:txBody>
          <a:bodyPr wrap="square" lIns="0" tIns="0" rIns="0" bIns="0" rtlCol="0" anchor="ctr"/>
          <a:lstStyle/>
          <a:p>
            <a:pPr marL="0" indent="0">
              <a:buNone/>
            </a:pPr>
            <a:r>
              <a:rPr lang="en-US" sz="1400" dirty="0">
                <a:solidFill>
                  <a:srgbClr val="F8FAFC"/>
                </a:solidFill>
                <a:latin typeface="Calibri" pitchFamily="34" charset="0"/>
                <a:ea typeface="Calibri" pitchFamily="34" charset="-122"/>
                <a:cs typeface="Calibri" pitchFamily="34" charset="-120"/>
              </a:rPr>
              <a:t>Read a movie review and predict whether it is positive or negative.</a:t>
            </a:r>
            <a:endParaRPr lang="en-US" sz="1400" dirty="0"/>
          </a:p>
        </p:txBody>
      </p:sp>
      <p:sp>
        <p:nvSpPr>
          <p:cNvPr id="19" name="Text 17"/>
          <p:cNvSpPr/>
          <p:nvPr/>
        </p:nvSpPr>
        <p:spPr>
          <a:xfrm>
            <a:off x="777240" y="3063240"/>
            <a:ext cx="4114800" cy="320040"/>
          </a:xfrm>
          <a:prstGeom prst="rect">
            <a:avLst/>
          </a:prstGeom>
          <a:noFill/>
          <a:ln/>
        </p:spPr>
        <p:txBody>
          <a:bodyPr wrap="square" lIns="0" tIns="0" rIns="0" bIns="0" rtlCol="0" anchor="ctr"/>
          <a:lstStyle/>
          <a:p>
            <a:pPr marL="0" indent="0">
              <a:buNone/>
            </a:pPr>
            <a:r>
              <a:rPr lang="en-US" sz="1200" b="1" kern="0" spc="300" dirty="0">
                <a:solidFill>
                  <a:srgbClr val="E879F9"/>
                </a:solidFill>
                <a:latin typeface="Calibri" pitchFamily="34" charset="0"/>
                <a:ea typeface="Calibri" pitchFamily="34" charset="-122"/>
                <a:cs typeface="Calibri" pitchFamily="34" charset="-120"/>
              </a:rPr>
              <a:t>What you'll learn</a:t>
            </a:r>
            <a:endParaRPr lang="en-US" sz="1200" dirty="0"/>
          </a:p>
        </p:txBody>
      </p:sp>
      <p:sp>
        <p:nvSpPr>
          <p:cNvPr id="20" name="Text 18"/>
          <p:cNvSpPr/>
          <p:nvPr/>
        </p:nvSpPr>
        <p:spPr>
          <a:xfrm>
            <a:off x="777240" y="3429000"/>
            <a:ext cx="4206240" cy="22860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94A3B8"/>
                </a:solidFill>
                <a:latin typeface="Calibri" pitchFamily="34" charset="0"/>
                <a:ea typeface="Calibri" pitchFamily="34" charset="-122"/>
                <a:cs typeface="Calibri" pitchFamily="34" charset="-120"/>
              </a:rPr>
              <a:t>Tokenize text into integer IDs.</a:t>
            </a:r>
            <a:endParaRPr lang="en-US" sz="1200" dirty="0"/>
          </a:p>
          <a:p>
            <a:pPr marL="342900" indent="-342900">
              <a:spcAft>
                <a:spcPts val="400"/>
              </a:spcAft>
              <a:buSzPct val="100000"/>
              <a:buChar char="●"/>
            </a:pPr>
            <a:r>
              <a:rPr lang="en-US" sz="1200" dirty="0">
                <a:solidFill>
                  <a:srgbClr val="94A3B8"/>
                </a:solidFill>
                <a:latin typeface="Calibri" pitchFamily="34" charset="0"/>
                <a:ea typeface="Calibri" pitchFamily="34" charset="-122"/>
                <a:cs typeface="Calibri" pitchFamily="34" charset="-120"/>
              </a:rPr>
              <a:t>Use nn.Embedding to turn IDs into vectors.</a:t>
            </a:r>
            <a:endParaRPr lang="en-US" sz="1200" dirty="0"/>
          </a:p>
          <a:p>
            <a:pPr marL="342900" indent="-342900">
              <a:spcAft>
                <a:spcPts val="400"/>
              </a:spcAft>
              <a:buSzPct val="100000"/>
              <a:buChar char="●"/>
            </a:pPr>
            <a:r>
              <a:rPr lang="en-US" sz="1200" dirty="0">
                <a:solidFill>
                  <a:srgbClr val="94A3B8"/>
                </a:solidFill>
                <a:latin typeface="Calibri" pitchFamily="34" charset="0"/>
                <a:ea typeface="Calibri" pitchFamily="34" charset="-122"/>
                <a:cs typeface="Calibri" pitchFamily="34" charset="-120"/>
              </a:rPr>
              <a:t>Average pool over sequence length.</a:t>
            </a:r>
            <a:endParaRPr lang="en-US" sz="1200" dirty="0"/>
          </a:p>
          <a:p>
            <a:pPr marL="342900" indent="-342900">
              <a:spcAft>
                <a:spcPts val="400"/>
              </a:spcAft>
              <a:buSzPct val="100000"/>
              <a:buChar char="●"/>
            </a:pPr>
            <a:r>
              <a:rPr lang="en-US" sz="1200" dirty="0">
                <a:solidFill>
                  <a:srgbClr val="94A3B8"/>
                </a:solidFill>
                <a:latin typeface="Calibri" pitchFamily="34" charset="0"/>
                <a:ea typeface="Calibri" pitchFamily="34" charset="-122"/>
                <a:cs typeface="Calibri" pitchFamily="34" charset="-120"/>
              </a:rPr>
              <a:t>Train with binary cross-entropy on IMDb.</a:t>
            </a:r>
            <a:endParaRPr lang="en-US" sz="1200" dirty="0"/>
          </a:p>
        </p:txBody>
      </p:sp>
      <p:sp>
        <p:nvSpPr>
          <p:cNvPr id="21" name="Shape 19"/>
          <p:cNvSpPr/>
          <p:nvPr/>
        </p:nvSpPr>
        <p:spPr>
          <a:xfrm>
            <a:off x="5349240" y="1874520"/>
            <a:ext cx="6263640" cy="4206240"/>
          </a:xfrm>
          <a:prstGeom prst="rect">
            <a:avLst/>
          </a:prstGeom>
          <a:solidFill>
            <a:srgbClr val="0A0F1F"/>
          </a:solidFill>
          <a:ln w="12700">
            <a:solidFill>
              <a:srgbClr val="E879F9"/>
            </a:solidFill>
            <a:prstDash val="solid"/>
          </a:ln>
          <a:effectLst>
            <a:outerShdw blurRad="228600" dist="50800" dir="5400000" algn="bl" rotWithShape="0">
              <a:srgbClr val="000000">
                <a:alpha val="45000"/>
              </a:srgbClr>
            </a:outerShdw>
          </a:effectLst>
        </p:spPr>
        <p:txBody>
          <a:bodyPr/>
          <a:lstStyle/>
          <a:p>
            <a:endParaRPr lang="en-IN"/>
          </a:p>
        </p:txBody>
      </p:sp>
      <p:sp>
        <p:nvSpPr>
          <p:cNvPr id="22" name="Shape 20"/>
          <p:cNvSpPr/>
          <p:nvPr/>
        </p:nvSpPr>
        <p:spPr>
          <a:xfrm>
            <a:off x="5532120" y="2011680"/>
            <a:ext cx="137160" cy="137160"/>
          </a:xfrm>
          <a:prstGeom prst="ellipse">
            <a:avLst/>
          </a:prstGeom>
          <a:solidFill>
            <a:srgbClr val="FF6B6B"/>
          </a:solidFill>
          <a:ln w="12700">
            <a:solidFill>
              <a:srgbClr val="333333"/>
            </a:solidFill>
            <a:prstDash val="solid"/>
          </a:ln>
        </p:spPr>
        <p:txBody>
          <a:bodyPr/>
          <a:lstStyle/>
          <a:p>
            <a:endParaRPr lang="en-IN"/>
          </a:p>
        </p:txBody>
      </p:sp>
      <p:sp>
        <p:nvSpPr>
          <p:cNvPr id="23" name="Shape 21"/>
          <p:cNvSpPr/>
          <p:nvPr/>
        </p:nvSpPr>
        <p:spPr>
          <a:xfrm>
            <a:off x="5760720" y="2011680"/>
            <a:ext cx="137160" cy="137160"/>
          </a:xfrm>
          <a:prstGeom prst="ellipse">
            <a:avLst/>
          </a:prstGeom>
          <a:solidFill>
            <a:srgbClr val="FFD166"/>
          </a:solidFill>
          <a:ln w="12700">
            <a:solidFill>
              <a:srgbClr val="333333"/>
            </a:solidFill>
            <a:prstDash val="solid"/>
          </a:ln>
        </p:spPr>
        <p:txBody>
          <a:bodyPr/>
          <a:lstStyle/>
          <a:p>
            <a:endParaRPr lang="en-IN"/>
          </a:p>
        </p:txBody>
      </p:sp>
      <p:sp>
        <p:nvSpPr>
          <p:cNvPr id="24" name="Shape 22"/>
          <p:cNvSpPr/>
          <p:nvPr/>
        </p:nvSpPr>
        <p:spPr>
          <a:xfrm>
            <a:off x="5989320" y="2011680"/>
            <a:ext cx="137160" cy="137160"/>
          </a:xfrm>
          <a:prstGeom prst="ellipse">
            <a:avLst/>
          </a:prstGeom>
          <a:solidFill>
            <a:srgbClr val="06D6A0"/>
          </a:solidFill>
          <a:ln w="12700">
            <a:solidFill>
              <a:srgbClr val="333333"/>
            </a:solidFill>
            <a:prstDash val="solid"/>
          </a:ln>
        </p:spPr>
        <p:txBody>
          <a:bodyPr/>
          <a:lstStyle/>
          <a:p>
            <a:endParaRPr lang="en-IN"/>
          </a:p>
        </p:txBody>
      </p:sp>
      <p:sp>
        <p:nvSpPr>
          <p:cNvPr id="25" name="Text 23"/>
          <p:cNvSpPr/>
          <p:nvPr/>
        </p:nvSpPr>
        <p:spPr>
          <a:xfrm>
            <a:off x="6263640" y="1947672"/>
            <a:ext cx="4114800" cy="228600"/>
          </a:xfrm>
          <a:prstGeom prst="rect">
            <a:avLst/>
          </a:prstGeom>
          <a:noFill/>
          <a:ln/>
        </p:spPr>
        <p:txBody>
          <a:bodyPr wrap="square" lIns="0" tIns="0" rIns="0" bIns="0" rtlCol="0" anchor="ctr"/>
          <a:lstStyle/>
          <a:p>
            <a:pPr marL="0" indent="0">
              <a:buNone/>
            </a:pPr>
            <a:r>
              <a:rPr lang="en-US" sz="1000" dirty="0">
                <a:solidFill>
                  <a:srgbClr val="94A3B8"/>
                </a:solidFill>
                <a:latin typeface="Courier New" pitchFamily="34" charset="0"/>
                <a:ea typeface="Courier New" pitchFamily="34" charset="-122"/>
                <a:cs typeface="Courier New" pitchFamily="34" charset="-120"/>
              </a:rPr>
              <a:t>sentiment.py</a:t>
            </a:r>
            <a:endParaRPr lang="en-US" sz="1000" dirty="0"/>
          </a:p>
        </p:txBody>
      </p:sp>
      <p:sp>
        <p:nvSpPr>
          <p:cNvPr id="26" name="Text 24"/>
          <p:cNvSpPr/>
          <p:nvPr/>
        </p:nvSpPr>
        <p:spPr>
          <a:xfrm>
            <a:off x="5486400" y="2331720"/>
            <a:ext cx="6035040" cy="3657600"/>
          </a:xfrm>
          <a:prstGeom prst="rect">
            <a:avLst/>
          </a:prstGeom>
          <a:noFill/>
          <a:ln/>
        </p:spPr>
        <p:txBody>
          <a:bodyPr wrap="square" lIns="0" tIns="0" rIns="0" bIns="0" rtlCol="0" anchor="ctr"/>
          <a:lstStyle/>
          <a:p>
            <a:pPr marL="0" indent="0">
              <a:buNone/>
            </a:pPr>
            <a:r>
              <a:rPr lang="en-US" sz="1100" dirty="0">
                <a:solidFill>
                  <a:srgbClr val="E879F9"/>
                </a:solidFill>
                <a:latin typeface="Courier New" pitchFamily="34" charset="0"/>
                <a:ea typeface="Courier New" pitchFamily="34" charset="-122"/>
                <a:cs typeface="Courier New" pitchFamily="34" charset="-120"/>
              </a:rPr>
              <a:t>import </a:t>
            </a:r>
            <a:r>
              <a:rPr lang="en-US" sz="1100" dirty="0">
                <a:solidFill>
                  <a:srgbClr val="E2E8F0"/>
                </a:solidFill>
                <a:latin typeface="Courier New" pitchFamily="34" charset="0"/>
                <a:ea typeface="Courier New" pitchFamily="34" charset="-122"/>
                <a:cs typeface="Courier New" pitchFamily="34" charset="-120"/>
              </a:rPr>
              <a:t>torch.nn </a:t>
            </a:r>
            <a:r>
              <a:rPr lang="en-US" sz="1100" dirty="0">
                <a:solidFill>
                  <a:srgbClr val="E879F9"/>
                </a:solidFill>
                <a:latin typeface="Courier New" pitchFamily="34" charset="0"/>
                <a:ea typeface="Courier New" pitchFamily="34" charset="-122"/>
                <a:cs typeface="Courier New" pitchFamily="34" charset="-120"/>
              </a:rPr>
              <a:t>as </a:t>
            </a:r>
            <a:r>
              <a:rPr lang="en-US" sz="1100" dirty="0">
                <a:solidFill>
                  <a:srgbClr val="E2E8F0"/>
                </a:solidFill>
                <a:latin typeface="Courier New" pitchFamily="34" charset="0"/>
                <a:ea typeface="Courier New" pitchFamily="34" charset="-122"/>
                <a:cs typeface="Courier New" pitchFamily="34" charset="-120"/>
              </a:rPr>
              <a:t>nn</a:t>
            </a:r>
            <a:endParaRPr lang="en-US" sz="1100" dirty="0"/>
          </a:p>
          <a:p>
            <a:pPr marL="0" indent="0">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rgbClr val="E879F9"/>
                </a:solidFill>
                <a:latin typeface="Courier New" pitchFamily="34" charset="0"/>
                <a:ea typeface="Courier New" pitchFamily="34" charset="-122"/>
                <a:cs typeface="Courier New" pitchFamily="34" charset="-120"/>
              </a:rPr>
              <a:t>class </a:t>
            </a:r>
            <a:r>
              <a:rPr lang="en-US" sz="1100" dirty="0">
                <a:solidFill>
                  <a:srgbClr val="22D3EE"/>
                </a:solidFill>
                <a:latin typeface="Courier New" pitchFamily="34" charset="0"/>
                <a:ea typeface="Courier New" pitchFamily="34" charset="-122"/>
                <a:cs typeface="Courier New" pitchFamily="34" charset="-120"/>
              </a:rPr>
              <a:t>Sentiment</a:t>
            </a:r>
            <a:r>
              <a:rPr lang="en-US" sz="1100" dirty="0">
                <a:solidFill>
                  <a:srgbClr val="E2E8F0"/>
                </a:solidFill>
                <a:latin typeface="Courier New" pitchFamily="34" charset="0"/>
                <a:ea typeface="Courier New" pitchFamily="34" charset="-122"/>
                <a:cs typeface="Courier New" pitchFamily="34" charset="-120"/>
              </a:rPr>
              <a:t>(nn.Module):</a:t>
            </a:r>
            <a:endParaRPr lang="en-US" sz="1100" dirty="0"/>
          </a:p>
          <a:p>
            <a:pPr marL="0" indent="0">
              <a:buNone/>
            </a:pPr>
            <a:r>
              <a:rPr lang="en-US" sz="1100" dirty="0">
                <a:solidFill>
                  <a:srgbClr val="E879F9"/>
                </a:solidFill>
                <a:latin typeface="Courier New" pitchFamily="34" charset="0"/>
                <a:ea typeface="Courier New" pitchFamily="34" charset="-122"/>
                <a:cs typeface="Courier New" pitchFamily="34" charset="-120"/>
              </a:rPr>
              <a:t>    def </a:t>
            </a:r>
            <a:r>
              <a:rPr lang="en-US" sz="1100" dirty="0">
                <a:solidFill>
                  <a:srgbClr val="22D3EE"/>
                </a:solidFill>
                <a:latin typeface="Courier New" pitchFamily="34" charset="0"/>
                <a:ea typeface="Courier New" pitchFamily="34" charset="-122"/>
                <a:cs typeface="Courier New" pitchFamily="34" charset="-120"/>
              </a:rPr>
              <a:t>__init__</a:t>
            </a:r>
            <a:r>
              <a:rPr lang="en-US" sz="1100" dirty="0">
                <a:solidFill>
                  <a:srgbClr val="E2E8F0"/>
                </a:solidFill>
                <a:latin typeface="Courier New" pitchFamily="34" charset="0"/>
                <a:ea typeface="Courier New" pitchFamily="34" charset="-122"/>
                <a:cs typeface="Courier New" pitchFamily="34" charset="-120"/>
              </a:rPr>
              <a:t>(self, vocab, dim=</a:t>
            </a:r>
            <a:r>
              <a:rPr lang="en-US" sz="1100" dirty="0">
                <a:solidFill>
                  <a:srgbClr val="22D3EE"/>
                </a:solidFill>
                <a:latin typeface="Courier New" pitchFamily="34" charset="0"/>
                <a:ea typeface="Courier New" pitchFamily="34" charset="-122"/>
                <a:cs typeface="Courier New" pitchFamily="34" charset="-120"/>
              </a:rPr>
              <a:t>64</a:t>
            </a:r>
            <a:r>
              <a:rPr lang="en-US" sz="1100" dirty="0">
                <a:solidFill>
                  <a:srgbClr val="E2E8F0"/>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E2E8F0"/>
                </a:solidFill>
                <a:latin typeface="Courier New" pitchFamily="34" charset="0"/>
                <a:ea typeface="Courier New" pitchFamily="34" charset="-122"/>
                <a:cs typeface="Courier New" pitchFamily="34" charset="-120"/>
              </a:rPr>
              <a:t>        super().__init__()</a:t>
            </a:r>
            <a:endParaRPr lang="en-US" sz="1100" dirty="0"/>
          </a:p>
          <a:p>
            <a:pPr marL="0" indent="0">
              <a:buNone/>
            </a:pPr>
            <a:r>
              <a:rPr lang="en-US" sz="1100" dirty="0">
                <a:solidFill>
                  <a:srgbClr val="E2E8F0"/>
                </a:solidFill>
                <a:latin typeface="Courier New" pitchFamily="34" charset="0"/>
                <a:ea typeface="Courier New" pitchFamily="34" charset="-122"/>
                <a:cs typeface="Courier New" pitchFamily="34" charset="-120"/>
              </a:rPr>
              <a:t>        self.emb = nn.Embedding(vocab, dim)</a:t>
            </a:r>
            <a:endParaRPr lang="en-US" sz="1100" dirty="0"/>
          </a:p>
          <a:p>
            <a:pPr marL="0" indent="0">
              <a:buNone/>
            </a:pPr>
            <a:r>
              <a:rPr lang="en-US" sz="1100" dirty="0">
                <a:solidFill>
                  <a:srgbClr val="E2E8F0"/>
                </a:solidFill>
                <a:latin typeface="Courier New" pitchFamily="34" charset="0"/>
                <a:ea typeface="Courier New" pitchFamily="34" charset="-122"/>
                <a:cs typeface="Courier New" pitchFamily="34" charset="-120"/>
              </a:rPr>
              <a:t>        self.fc  = nn.Linear(dim, </a:t>
            </a:r>
            <a:r>
              <a:rPr lang="en-US" sz="1100" dirty="0">
                <a:solidFill>
                  <a:srgbClr val="22D3EE"/>
                </a:solidFill>
                <a:latin typeface="Courier New" pitchFamily="34" charset="0"/>
                <a:ea typeface="Courier New" pitchFamily="34" charset="-122"/>
                <a:cs typeface="Courier New" pitchFamily="34" charset="-120"/>
              </a:rPr>
              <a:t>1</a:t>
            </a:r>
            <a:r>
              <a:rPr lang="en-US" sz="1100" dirty="0">
                <a:solidFill>
                  <a:srgbClr val="E2E8F0"/>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E879F9"/>
                </a:solidFill>
                <a:latin typeface="Courier New" pitchFamily="34" charset="0"/>
                <a:ea typeface="Courier New" pitchFamily="34" charset="-122"/>
                <a:cs typeface="Courier New" pitchFamily="34" charset="-120"/>
              </a:rPr>
              <a:t>    def </a:t>
            </a:r>
            <a:r>
              <a:rPr lang="en-US" sz="1100" dirty="0">
                <a:solidFill>
                  <a:srgbClr val="22D3EE"/>
                </a:solidFill>
                <a:latin typeface="Courier New" pitchFamily="34" charset="0"/>
                <a:ea typeface="Courier New" pitchFamily="34" charset="-122"/>
                <a:cs typeface="Courier New" pitchFamily="34" charset="-120"/>
              </a:rPr>
              <a:t>forward</a:t>
            </a:r>
            <a:r>
              <a:rPr lang="en-US" sz="1100" dirty="0">
                <a:solidFill>
                  <a:srgbClr val="E2E8F0"/>
                </a:solidFill>
                <a:latin typeface="Courier New" pitchFamily="34" charset="0"/>
                <a:ea typeface="Courier New" pitchFamily="34" charset="-122"/>
                <a:cs typeface="Courier New" pitchFamily="34" charset="-120"/>
              </a:rPr>
              <a:t>(self, ids):</a:t>
            </a:r>
            <a:endParaRPr lang="en-US" sz="1100" dirty="0"/>
          </a:p>
          <a:p>
            <a:pPr marL="0" indent="0">
              <a:buNone/>
            </a:pPr>
            <a:r>
              <a:rPr lang="en-US" sz="1100" dirty="0">
                <a:solidFill>
                  <a:srgbClr val="E2E8F0"/>
                </a:solidFill>
                <a:latin typeface="Courier New" pitchFamily="34" charset="0"/>
                <a:ea typeface="Courier New" pitchFamily="34" charset="-122"/>
                <a:cs typeface="Courier New" pitchFamily="34" charset="-120"/>
              </a:rPr>
              <a:t>        x = self.emb(ids)      </a:t>
            </a:r>
            <a:r>
              <a:rPr lang="en-US" sz="1100" dirty="0">
                <a:solidFill>
                  <a:srgbClr val="34D399"/>
                </a:solidFill>
                <a:latin typeface="Courier New" pitchFamily="34" charset="0"/>
                <a:ea typeface="Courier New" pitchFamily="34" charset="-122"/>
                <a:cs typeface="Courier New" pitchFamily="34" charset="-120"/>
              </a:rPr>
              <a:t># (B, T, dim)</a:t>
            </a:r>
            <a:endParaRPr lang="en-US" sz="1100" dirty="0"/>
          </a:p>
          <a:p>
            <a:pPr marL="0" indent="0">
              <a:buNone/>
            </a:pPr>
            <a:r>
              <a:rPr lang="en-US" sz="1100" dirty="0">
                <a:solidFill>
                  <a:srgbClr val="E2E8F0"/>
                </a:solidFill>
                <a:latin typeface="Courier New" pitchFamily="34" charset="0"/>
                <a:ea typeface="Courier New" pitchFamily="34" charset="-122"/>
                <a:cs typeface="Courier New" pitchFamily="34" charset="-120"/>
              </a:rPr>
              <a:t>        x = x.mean(dim=</a:t>
            </a:r>
            <a:r>
              <a:rPr lang="en-US" sz="1100" dirty="0">
                <a:solidFill>
                  <a:srgbClr val="22D3EE"/>
                </a:solidFill>
                <a:latin typeface="Courier New" pitchFamily="34" charset="0"/>
                <a:ea typeface="Courier New" pitchFamily="34" charset="-122"/>
                <a:cs typeface="Courier New" pitchFamily="34" charset="-120"/>
              </a:rPr>
              <a:t>1</a:t>
            </a:r>
            <a:r>
              <a:rPr lang="en-US" sz="1100" dirty="0">
                <a:solidFill>
                  <a:srgbClr val="E2E8F0"/>
                </a:solidFill>
                <a:latin typeface="Courier New" pitchFamily="34" charset="0"/>
                <a:ea typeface="Courier New" pitchFamily="34" charset="-122"/>
                <a:cs typeface="Courier New" pitchFamily="34" charset="-120"/>
              </a:rPr>
              <a:t>)        </a:t>
            </a:r>
            <a:r>
              <a:rPr lang="en-US" sz="1100" dirty="0">
                <a:solidFill>
                  <a:srgbClr val="34D399"/>
                </a:solidFill>
                <a:latin typeface="Courier New" pitchFamily="34" charset="0"/>
                <a:ea typeface="Courier New" pitchFamily="34" charset="-122"/>
                <a:cs typeface="Courier New" pitchFamily="34" charset="-120"/>
              </a:rPr>
              <a:t># pool over tokens</a:t>
            </a:r>
            <a:endParaRPr lang="en-US" sz="1100" dirty="0"/>
          </a:p>
          <a:p>
            <a:pPr marL="0" indent="0">
              <a:buNone/>
            </a:pPr>
            <a:r>
              <a:rPr lang="en-US" sz="1100" dirty="0">
                <a:solidFill>
                  <a:srgbClr val="E879F9"/>
                </a:solidFill>
                <a:latin typeface="Courier New" pitchFamily="34" charset="0"/>
                <a:ea typeface="Courier New" pitchFamily="34" charset="-122"/>
                <a:cs typeface="Courier New" pitchFamily="34" charset="-120"/>
              </a:rPr>
              <a:t>        return </a:t>
            </a:r>
            <a:r>
              <a:rPr lang="en-US" sz="1100" dirty="0">
                <a:solidFill>
                  <a:srgbClr val="E2E8F0"/>
                </a:solidFill>
                <a:latin typeface="Courier New" pitchFamily="34" charset="0"/>
                <a:ea typeface="Courier New" pitchFamily="34" charset="-122"/>
                <a:cs typeface="Courier New" pitchFamily="34" charset="-120"/>
              </a:rPr>
              <a:t>self.fc(x).squeeze(-</a:t>
            </a:r>
            <a:r>
              <a:rPr lang="en-US" sz="1100" dirty="0">
                <a:solidFill>
                  <a:srgbClr val="22D3EE"/>
                </a:solidFill>
                <a:latin typeface="Courier New" pitchFamily="34" charset="0"/>
                <a:ea typeface="Courier New" pitchFamily="34" charset="-122"/>
                <a:cs typeface="Courier New" pitchFamily="34" charset="-120"/>
              </a:rPr>
              <a:t>1</a:t>
            </a:r>
            <a:r>
              <a:rPr lang="en-US" sz="1100" dirty="0">
                <a:solidFill>
                  <a:srgbClr val="E2E8F0"/>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rgbClr val="E2E8F0"/>
                </a:solidFill>
                <a:latin typeface="Courier New" pitchFamily="34" charset="0"/>
                <a:ea typeface="Courier New" pitchFamily="34" charset="-122"/>
                <a:cs typeface="Courier New" pitchFamily="34" charset="-120"/>
              </a:rPr>
              <a:t>loss_fn = nn.BCEWithLogitsLoss()</a:t>
            </a:r>
            <a:endParaRPr lang="en-US" sz="1100" dirty="0"/>
          </a:p>
          <a:p>
            <a:pPr marL="0" indent="0">
              <a:buNone/>
            </a:pPr>
            <a:r>
              <a:rPr lang="en-US" sz="1100" dirty="0">
                <a:solidFill>
                  <a:srgbClr val="34D399"/>
                </a:solidFill>
                <a:latin typeface="Courier New" pitchFamily="34" charset="0"/>
                <a:ea typeface="Courier New" pitchFamily="34" charset="-122"/>
                <a:cs typeface="Courier New" pitchFamily="34" charset="-120"/>
              </a:rPr>
              <a:t># train on IMDb reviews → ~85% accuracy</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11247120" y="137160"/>
            <a:ext cx="365760" cy="182880"/>
          </a:xfrm>
          <a:prstGeom prst="line">
            <a:avLst/>
          </a:prstGeom>
          <a:noFill/>
          <a:ln w="9525">
            <a:solidFill>
              <a:srgbClr val="22D3EE">
                <a:alpha val="50000"/>
              </a:srgbClr>
            </a:solidFill>
            <a:prstDash val="solid"/>
          </a:ln>
        </p:spPr>
        <p:txBody>
          <a:bodyPr/>
          <a:lstStyle/>
          <a:p>
            <a:endParaRPr lang="en-IN"/>
          </a:p>
        </p:txBody>
      </p:sp>
      <p:sp>
        <p:nvSpPr>
          <p:cNvPr id="3" name="Shape 1"/>
          <p:cNvSpPr/>
          <p:nvPr/>
        </p:nvSpPr>
        <p:spPr>
          <a:xfrm>
            <a:off x="11247120" y="137160"/>
            <a:ext cx="228600" cy="411480"/>
          </a:xfrm>
          <a:prstGeom prst="line">
            <a:avLst/>
          </a:prstGeom>
          <a:noFill/>
          <a:ln w="9525">
            <a:solidFill>
              <a:srgbClr val="22D3EE">
                <a:alpha val="50000"/>
              </a:srgbClr>
            </a:solidFill>
            <a:prstDash val="solid"/>
          </a:ln>
        </p:spPr>
        <p:txBody>
          <a:bodyPr/>
          <a:lstStyle/>
          <a:p>
            <a:endParaRPr lang="en-IN"/>
          </a:p>
        </p:txBody>
      </p:sp>
      <p:sp>
        <p:nvSpPr>
          <p:cNvPr id="4" name="Shape 2"/>
          <p:cNvSpPr/>
          <p:nvPr/>
        </p:nvSpPr>
        <p:spPr>
          <a:xfrm>
            <a:off x="11612880" y="320040"/>
            <a:ext cx="228600" cy="182880"/>
          </a:xfrm>
          <a:prstGeom prst="line">
            <a:avLst/>
          </a:prstGeom>
          <a:noFill/>
          <a:ln w="9525">
            <a:solidFill>
              <a:srgbClr val="22D3EE">
                <a:alpha val="50000"/>
              </a:srgbClr>
            </a:solidFill>
            <a:prstDash val="solid"/>
          </a:ln>
        </p:spPr>
        <p:txBody>
          <a:bodyPr/>
          <a:lstStyle/>
          <a:p>
            <a:endParaRPr lang="en-IN"/>
          </a:p>
        </p:txBody>
      </p:sp>
      <p:sp>
        <p:nvSpPr>
          <p:cNvPr id="5" name="Shape 3"/>
          <p:cNvSpPr/>
          <p:nvPr/>
        </p:nvSpPr>
        <p:spPr>
          <a:xfrm flipV="1">
            <a:off x="11475720" y="502920"/>
            <a:ext cx="365760" cy="45720"/>
          </a:xfrm>
          <a:prstGeom prst="line">
            <a:avLst/>
          </a:prstGeom>
          <a:noFill/>
          <a:ln w="9525">
            <a:solidFill>
              <a:srgbClr val="22D3EE">
                <a:alpha val="50000"/>
              </a:srgbClr>
            </a:solidFill>
            <a:prstDash val="solid"/>
          </a:ln>
        </p:spPr>
        <p:txBody>
          <a:bodyPr/>
          <a:lstStyle/>
          <a:p>
            <a:endParaRPr lang="en-IN"/>
          </a:p>
        </p:txBody>
      </p:sp>
      <p:sp>
        <p:nvSpPr>
          <p:cNvPr id="6" name="Shape 4"/>
          <p:cNvSpPr/>
          <p:nvPr/>
        </p:nvSpPr>
        <p:spPr>
          <a:xfrm>
            <a:off x="11183112" y="73152"/>
            <a:ext cx="128016" cy="128016"/>
          </a:xfrm>
          <a:prstGeom prst="ellipse">
            <a:avLst/>
          </a:prstGeom>
          <a:solidFill>
            <a:srgbClr val="22D3EE"/>
          </a:solidFill>
          <a:ln w="12700">
            <a:solidFill>
              <a:srgbClr val="22D3EE"/>
            </a:solidFill>
            <a:prstDash val="solid"/>
          </a:ln>
        </p:spPr>
        <p:txBody>
          <a:bodyPr/>
          <a:lstStyle/>
          <a:p>
            <a:endParaRPr lang="en-IN"/>
          </a:p>
        </p:txBody>
      </p:sp>
      <p:sp>
        <p:nvSpPr>
          <p:cNvPr id="7" name="Shape 5"/>
          <p:cNvSpPr/>
          <p:nvPr/>
        </p:nvSpPr>
        <p:spPr>
          <a:xfrm>
            <a:off x="11548872" y="256032"/>
            <a:ext cx="128016" cy="128016"/>
          </a:xfrm>
          <a:prstGeom prst="ellipse">
            <a:avLst/>
          </a:prstGeom>
          <a:solidFill>
            <a:srgbClr val="E879F9"/>
          </a:solidFill>
          <a:ln w="12700">
            <a:solidFill>
              <a:srgbClr val="E879F9"/>
            </a:solidFill>
            <a:prstDash val="solid"/>
          </a:ln>
        </p:spPr>
        <p:txBody>
          <a:bodyPr/>
          <a:lstStyle/>
          <a:p>
            <a:endParaRPr lang="en-IN"/>
          </a:p>
        </p:txBody>
      </p:sp>
      <p:sp>
        <p:nvSpPr>
          <p:cNvPr id="8" name="Shape 6"/>
          <p:cNvSpPr/>
          <p:nvPr/>
        </p:nvSpPr>
        <p:spPr>
          <a:xfrm>
            <a:off x="11411712" y="484632"/>
            <a:ext cx="128016" cy="128016"/>
          </a:xfrm>
          <a:prstGeom prst="ellipse">
            <a:avLst/>
          </a:prstGeom>
          <a:solidFill>
            <a:srgbClr val="22D3EE"/>
          </a:solidFill>
          <a:ln w="12700">
            <a:solidFill>
              <a:srgbClr val="22D3EE"/>
            </a:solidFill>
            <a:prstDash val="solid"/>
          </a:ln>
        </p:spPr>
        <p:txBody>
          <a:bodyPr/>
          <a:lstStyle/>
          <a:p>
            <a:endParaRPr lang="en-IN"/>
          </a:p>
        </p:txBody>
      </p:sp>
      <p:sp>
        <p:nvSpPr>
          <p:cNvPr id="9" name="Shape 7"/>
          <p:cNvSpPr/>
          <p:nvPr/>
        </p:nvSpPr>
        <p:spPr>
          <a:xfrm>
            <a:off x="11777472" y="438912"/>
            <a:ext cx="128016" cy="128016"/>
          </a:xfrm>
          <a:prstGeom prst="ellipse">
            <a:avLst/>
          </a:prstGeom>
          <a:solidFill>
            <a:srgbClr val="E879F9"/>
          </a:solidFill>
          <a:ln w="12700">
            <a:solidFill>
              <a:srgbClr val="E879F9"/>
            </a:solidFill>
            <a:prstDash val="solid"/>
          </a:ln>
        </p:spPr>
        <p:txBody>
          <a:bodyPr/>
          <a:lstStyle/>
          <a:p>
            <a:endParaRPr lang="en-IN"/>
          </a:p>
        </p:txBody>
      </p:sp>
      <p:sp>
        <p:nvSpPr>
          <p:cNvPr id="10" name="Shape 8"/>
          <p:cNvSpPr/>
          <p:nvPr/>
        </p:nvSpPr>
        <p:spPr>
          <a:xfrm>
            <a:off x="0" y="6693408"/>
            <a:ext cx="12161520" cy="36576"/>
          </a:xfrm>
          <a:prstGeom prst="rect">
            <a:avLst/>
          </a:prstGeom>
          <a:solidFill>
            <a:srgbClr val="22D3EE"/>
          </a:solidFill>
          <a:ln w="12700">
            <a:solidFill>
              <a:srgbClr val="22D3EE"/>
            </a:solidFill>
            <a:prstDash val="solid"/>
          </a:ln>
        </p:spPr>
        <p:txBody>
          <a:bodyPr/>
          <a:lstStyle/>
          <a:p>
            <a:endParaRPr lang="en-IN"/>
          </a:p>
        </p:txBody>
      </p:sp>
      <p:sp>
        <p:nvSpPr>
          <p:cNvPr id="11" name="Text 9"/>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Deep Learning Onboarding  ·  Intern Training</a:t>
            </a:r>
            <a:endParaRPr lang="en-US" sz="1000" dirty="0"/>
          </a:p>
        </p:txBody>
      </p:sp>
      <p:sp>
        <p:nvSpPr>
          <p:cNvPr id="12" name="Text 10"/>
          <p:cNvSpPr/>
          <p:nvPr/>
        </p:nvSpPr>
        <p:spPr>
          <a:xfrm>
            <a:off x="10698480" y="6446520"/>
            <a:ext cx="914400" cy="27432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12 / 13</a:t>
            </a:r>
            <a:endParaRPr lang="en-US" sz="1000" dirty="0"/>
          </a:p>
        </p:txBody>
      </p:sp>
      <p:sp>
        <p:nvSpPr>
          <p:cNvPr id="13" name="Text 11"/>
          <p:cNvSpPr/>
          <p:nvPr/>
        </p:nvSpPr>
        <p:spPr>
          <a:xfrm>
            <a:off x="548640" y="411480"/>
            <a:ext cx="9144000" cy="320040"/>
          </a:xfrm>
          <a:prstGeom prst="rect">
            <a:avLst/>
          </a:prstGeom>
          <a:noFill/>
          <a:ln/>
        </p:spPr>
        <p:txBody>
          <a:bodyPr wrap="square" lIns="0" tIns="0" rIns="0" bIns="0" rtlCol="0" anchor="ctr"/>
          <a:lstStyle/>
          <a:p>
            <a:pPr marL="0" indent="0">
              <a:buNone/>
            </a:pPr>
            <a:r>
              <a:rPr lang="en-US" sz="1100" b="1" kern="0" spc="400" dirty="0">
                <a:solidFill>
                  <a:srgbClr val="22D3EE"/>
                </a:solidFill>
                <a:latin typeface="Calibri" pitchFamily="34" charset="0"/>
                <a:ea typeface="Calibri" pitchFamily="34" charset="-122"/>
                <a:cs typeface="Calibri" pitchFamily="34" charset="-120"/>
              </a:rPr>
              <a:t>MODULE 4</a:t>
            </a:r>
            <a:endParaRPr lang="en-US" sz="1100" dirty="0"/>
          </a:p>
        </p:txBody>
      </p:sp>
      <p:sp>
        <p:nvSpPr>
          <p:cNvPr id="14" name="Text 12"/>
          <p:cNvSpPr/>
          <p:nvPr/>
        </p:nvSpPr>
        <p:spPr>
          <a:xfrm>
            <a:off x="548640" y="713232"/>
            <a:ext cx="10515600" cy="77724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Tips for your first weeks</a:t>
            </a:r>
            <a:endParaRPr lang="en-US" sz="3200" dirty="0"/>
          </a:p>
        </p:txBody>
      </p:sp>
      <p:sp>
        <p:nvSpPr>
          <p:cNvPr id="15" name="Shape 13"/>
          <p:cNvSpPr/>
          <p:nvPr/>
        </p:nvSpPr>
        <p:spPr>
          <a:xfrm>
            <a:off x="548640" y="1481328"/>
            <a:ext cx="548640" cy="54864"/>
          </a:xfrm>
          <a:prstGeom prst="rect">
            <a:avLst/>
          </a:prstGeom>
          <a:solidFill>
            <a:srgbClr val="E879F9"/>
          </a:solidFill>
          <a:ln w="12700">
            <a:solidFill>
              <a:srgbClr val="E879F9"/>
            </a:solidFill>
            <a:prstDash val="solid"/>
          </a:ln>
        </p:spPr>
        <p:txBody>
          <a:bodyPr/>
          <a:lstStyle/>
          <a:p>
            <a:endParaRPr lang="en-IN"/>
          </a:p>
        </p:txBody>
      </p:sp>
      <p:sp>
        <p:nvSpPr>
          <p:cNvPr id="16" name="Shape 14"/>
          <p:cNvSpPr/>
          <p:nvPr/>
        </p:nvSpPr>
        <p:spPr>
          <a:xfrm>
            <a:off x="548640" y="1874520"/>
            <a:ext cx="3611880" cy="169164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17" name="Shape 15"/>
          <p:cNvSpPr/>
          <p:nvPr/>
        </p:nvSpPr>
        <p:spPr>
          <a:xfrm>
            <a:off x="777240" y="2103120"/>
            <a:ext cx="411480" cy="411480"/>
          </a:xfrm>
          <a:prstGeom prst="ellipse">
            <a:avLst/>
          </a:prstGeom>
          <a:solidFill>
            <a:srgbClr val="22D3EE"/>
          </a:solidFill>
          <a:ln w="12700">
            <a:solidFill>
              <a:srgbClr val="333333"/>
            </a:solidFill>
            <a:prstDash val="solid"/>
          </a:ln>
        </p:spPr>
        <p:txBody>
          <a:bodyPr/>
          <a:lstStyle/>
          <a:p>
            <a:endParaRPr lang="en-IN"/>
          </a:p>
        </p:txBody>
      </p:sp>
      <p:sp>
        <p:nvSpPr>
          <p:cNvPr id="18" name="Text 16"/>
          <p:cNvSpPr/>
          <p:nvPr/>
        </p:nvSpPr>
        <p:spPr>
          <a:xfrm>
            <a:off x="777240" y="2121408"/>
            <a:ext cx="411480" cy="365760"/>
          </a:xfrm>
          <a:prstGeom prst="rect">
            <a:avLst/>
          </a:prstGeom>
          <a:noFill/>
          <a:ln/>
        </p:spPr>
        <p:txBody>
          <a:bodyPr wrap="square" lIns="0" tIns="0" rIns="0" bIns="0" rtlCol="0" anchor="ctr"/>
          <a:lstStyle/>
          <a:p>
            <a:pPr marL="0" indent="0" algn="ctr">
              <a:buNone/>
            </a:pPr>
            <a:r>
              <a:rPr lang="en-US" sz="1400" b="1" dirty="0">
                <a:solidFill>
                  <a:srgbClr val="0B1020"/>
                </a:solidFill>
                <a:latin typeface="Calibri" pitchFamily="34" charset="0"/>
                <a:ea typeface="Calibri" pitchFamily="34" charset="-122"/>
                <a:cs typeface="Calibri" pitchFamily="34" charset="-120"/>
              </a:rPr>
              <a:t>1</a:t>
            </a:r>
            <a:endParaRPr lang="en-US" sz="1400" dirty="0"/>
          </a:p>
        </p:txBody>
      </p:sp>
      <p:sp>
        <p:nvSpPr>
          <p:cNvPr id="19" name="Text 17"/>
          <p:cNvSpPr/>
          <p:nvPr/>
        </p:nvSpPr>
        <p:spPr>
          <a:xfrm>
            <a:off x="1325880" y="2075688"/>
            <a:ext cx="2697480" cy="365760"/>
          </a:xfrm>
          <a:prstGeom prst="rect">
            <a:avLst/>
          </a:prstGeom>
          <a:noFill/>
          <a:ln/>
        </p:spPr>
        <p:txBody>
          <a:bodyPr wrap="square" lIns="0" tIns="0" rIns="0" bIns="0" rtlCol="0" anchor="ctr"/>
          <a:lstStyle/>
          <a:p>
            <a:pPr marL="0" indent="0">
              <a:buNone/>
            </a:pPr>
            <a:r>
              <a:rPr lang="en-US" sz="1500" b="1" dirty="0">
                <a:solidFill>
                  <a:srgbClr val="F8FAFC"/>
                </a:solidFill>
                <a:latin typeface="Calibri" pitchFamily="34" charset="0"/>
                <a:ea typeface="Calibri" pitchFamily="34" charset="-122"/>
                <a:cs typeface="Calibri" pitchFamily="34" charset="-120"/>
              </a:rPr>
              <a:t>Start tiny</a:t>
            </a:r>
            <a:endParaRPr lang="en-US" sz="1500" dirty="0"/>
          </a:p>
        </p:txBody>
      </p:sp>
      <p:sp>
        <p:nvSpPr>
          <p:cNvPr id="20" name="Text 18"/>
          <p:cNvSpPr/>
          <p:nvPr/>
        </p:nvSpPr>
        <p:spPr>
          <a:xfrm>
            <a:off x="1325880" y="2468880"/>
            <a:ext cx="2697480" cy="100584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Get a 10-line model running end-to-end before you scale up. Overfit one batch first.</a:t>
            </a:r>
            <a:endParaRPr lang="en-US" sz="1150" dirty="0"/>
          </a:p>
        </p:txBody>
      </p:sp>
      <p:sp>
        <p:nvSpPr>
          <p:cNvPr id="21" name="Shape 19"/>
          <p:cNvSpPr/>
          <p:nvPr/>
        </p:nvSpPr>
        <p:spPr>
          <a:xfrm>
            <a:off x="4343400" y="1874520"/>
            <a:ext cx="3611880" cy="169164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22" name="Shape 20"/>
          <p:cNvSpPr/>
          <p:nvPr/>
        </p:nvSpPr>
        <p:spPr>
          <a:xfrm>
            <a:off x="4572000" y="2103120"/>
            <a:ext cx="411480" cy="411480"/>
          </a:xfrm>
          <a:prstGeom prst="ellipse">
            <a:avLst/>
          </a:prstGeom>
          <a:solidFill>
            <a:srgbClr val="E879F9"/>
          </a:solidFill>
          <a:ln w="12700">
            <a:solidFill>
              <a:srgbClr val="333333"/>
            </a:solidFill>
            <a:prstDash val="solid"/>
          </a:ln>
        </p:spPr>
        <p:txBody>
          <a:bodyPr/>
          <a:lstStyle/>
          <a:p>
            <a:endParaRPr lang="en-IN"/>
          </a:p>
        </p:txBody>
      </p:sp>
      <p:sp>
        <p:nvSpPr>
          <p:cNvPr id="23" name="Text 21"/>
          <p:cNvSpPr/>
          <p:nvPr/>
        </p:nvSpPr>
        <p:spPr>
          <a:xfrm>
            <a:off x="4572000" y="2121408"/>
            <a:ext cx="411480" cy="365760"/>
          </a:xfrm>
          <a:prstGeom prst="rect">
            <a:avLst/>
          </a:prstGeom>
          <a:noFill/>
          <a:ln/>
        </p:spPr>
        <p:txBody>
          <a:bodyPr wrap="square" lIns="0" tIns="0" rIns="0" bIns="0" rtlCol="0" anchor="ctr"/>
          <a:lstStyle/>
          <a:p>
            <a:pPr marL="0" indent="0" algn="ctr">
              <a:buNone/>
            </a:pPr>
            <a:r>
              <a:rPr lang="en-US" sz="1400" b="1" dirty="0">
                <a:solidFill>
                  <a:srgbClr val="0B1020"/>
                </a:solidFill>
                <a:latin typeface="Calibri" pitchFamily="34" charset="0"/>
                <a:ea typeface="Calibri" pitchFamily="34" charset="-122"/>
                <a:cs typeface="Calibri" pitchFamily="34" charset="-120"/>
              </a:rPr>
              <a:t>2</a:t>
            </a:r>
            <a:endParaRPr lang="en-US" sz="1400" dirty="0"/>
          </a:p>
        </p:txBody>
      </p:sp>
      <p:sp>
        <p:nvSpPr>
          <p:cNvPr id="24" name="Text 22"/>
          <p:cNvSpPr/>
          <p:nvPr/>
        </p:nvSpPr>
        <p:spPr>
          <a:xfrm>
            <a:off x="5120640" y="2075688"/>
            <a:ext cx="2697480" cy="365760"/>
          </a:xfrm>
          <a:prstGeom prst="rect">
            <a:avLst/>
          </a:prstGeom>
          <a:noFill/>
          <a:ln/>
        </p:spPr>
        <p:txBody>
          <a:bodyPr wrap="square" lIns="0" tIns="0" rIns="0" bIns="0" rtlCol="0" anchor="ctr"/>
          <a:lstStyle/>
          <a:p>
            <a:pPr marL="0" indent="0">
              <a:buNone/>
            </a:pPr>
            <a:r>
              <a:rPr lang="en-US" sz="1500" b="1" dirty="0">
                <a:solidFill>
                  <a:srgbClr val="F8FAFC"/>
                </a:solidFill>
                <a:latin typeface="Calibri" pitchFamily="34" charset="0"/>
                <a:ea typeface="Calibri" pitchFamily="34" charset="-122"/>
                <a:cs typeface="Calibri" pitchFamily="34" charset="-120"/>
              </a:rPr>
              <a:t>Trust the loss curve</a:t>
            </a:r>
            <a:endParaRPr lang="en-US" sz="1500" dirty="0"/>
          </a:p>
        </p:txBody>
      </p:sp>
      <p:sp>
        <p:nvSpPr>
          <p:cNvPr id="25" name="Text 23"/>
          <p:cNvSpPr/>
          <p:nvPr/>
        </p:nvSpPr>
        <p:spPr>
          <a:xfrm>
            <a:off x="5120640" y="2468880"/>
            <a:ext cx="2697480" cy="100584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If loss isn't going down, something is broken. Print shapes, print gradients.</a:t>
            </a:r>
            <a:endParaRPr lang="en-US" sz="1150" dirty="0"/>
          </a:p>
        </p:txBody>
      </p:sp>
      <p:sp>
        <p:nvSpPr>
          <p:cNvPr id="26" name="Shape 24"/>
          <p:cNvSpPr/>
          <p:nvPr/>
        </p:nvSpPr>
        <p:spPr>
          <a:xfrm>
            <a:off x="8138160" y="1874520"/>
            <a:ext cx="3611880" cy="169164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27" name="Shape 25"/>
          <p:cNvSpPr/>
          <p:nvPr/>
        </p:nvSpPr>
        <p:spPr>
          <a:xfrm>
            <a:off x="8366760" y="2103120"/>
            <a:ext cx="411480" cy="411480"/>
          </a:xfrm>
          <a:prstGeom prst="ellipse">
            <a:avLst/>
          </a:prstGeom>
          <a:solidFill>
            <a:srgbClr val="22D3EE"/>
          </a:solidFill>
          <a:ln w="12700">
            <a:solidFill>
              <a:srgbClr val="333333"/>
            </a:solidFill>
            <a:prstDash val="solid"/>
          </a:ln>
        </p:spPr>
        <p:txBody>
          <a:bodyPr/>
          <a:lstStyle/>
          <a:p>
            <a:endParaRPr lang="en-IN"/>
          </a:p>
        </p:txBody>
      </p:sp>
      <p:sp>
        <p:nvSpPr>
          <p:cNvPr id="28" name="Text 26"/>
          <p:cNvSpPr/>
          <p:nvPr/>
        </p:nvSpPr>
        <p:spPr>
          <a:xfrm>
            <a:off x="8366760" y="2121408"/>
            <a:ext cx="411480" cy="365760"/>
          </a:xfrm>
          <a:prstGeom prst="rect">
            <a:avLst/>
          </a:prstGeom>
          <a:noFill/>
          <a:ln/>
        </p:spPr>
        <p:txBody>
          <a:bodyPr wrap="square" lIns="0" tIns="0" rIns="0" bIns="0" rtlCol="0" anchor="ctr"/>
          <a:lstStyle/>
          <a:p>
            <a:pPr marL="0" indent="0" algn="ctr">
              <a:buNone/>
            </a:pPr>
            <a:r>
              <a:rPr lang="en-US" sz="1400" b="1" dirty="0">
                <a:solidFill>
                  <a:srgbClr val="0B1020"/>
                </a:solidFill>
                <a:latin typeface="Calibri" pitchFamily="34" charset="0"/>
                <a:ea typeface="Calibri" pitchFamily="34" charset="-122"/>
                <a:cs typeface="Calibri" pitchFamily="34" charset="-120"/>
              </a:rPr>
              <a:t>3</a:t>
            </a:r>
            <a:endParaRPr lang="en-US" sz="1400" dirty="0"/>
          </a:p>
        </p:txBody>
      </p:sp>
      <p:sp>
        <p:nvSpPr>
          <p:cNvPr id="29" name="Text 27"/>
          <p:cNvSpPr/>
          <p:nvPr/>
        </p:nvSpPr>
        <p:spPr>
          <a:xfrm>
            <a:off x="8915400" y="2075688"/>
            <a:ext cx="2697480" cy="365760"/>
          </a:xfrm>
          <a:prstGeom prst="rect">
            <a:avLst/>
          </a:prstGeom>
          <a:noFill/>
          <a:ln/>
        </p:spPr>
        <p:txBody>
          <a:bodyPr wrap="square" lIns="0" tIns="0" rIns="0" bIns="0" rtlCol="0" anchor="ctr"/>
          <a:lstStyle/>
          <a:p>
            <a:pPr marL="0" indent="0">
              <a:buNone/>
            </a:pPr>
            <a:r>
              <a:rPr lang="en-US" sz="1500" b="1" dirty="0">
                <a:solidFill>
                  <a:srgbClr val="F8FAFC"/>
                </a:solidFill>
                <a:latin typeface="Calibri" pitchFamily="34" charset="0"/>
                <a:ea typeface="Calibri" pitchFamily="34" charset="-122"/>
                <a:cs typeface="Calibri" pitchFamily="34" charset="-120"/>
              </a:rPr>
              <a:t>Version your experiments</a:t>
            </a:r>
            <a:endParaRPr lang="en-US" sz="1500" dirty="0"/>
          </a:p>
        </p:txBody>
      </p:sp>
      <p:sp>
        <p:nvSpPr>
          <p:cNvPr id="30" name="Text 28"/>
          <p:cNvSpPr/>
          <p:nvPr/>
        </p:nvSpPr>
        <p:spPr>
          <a:xfrm>
            <a:off x="8915400" y="2468880"/>
            <a:ext cx="2697480" cy="100584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Log hyperparameters and metrics. Weights &amp; Biases or even a CSV works.</a:t>
            </a:r>
            <a:endParaRPr lang="en-US" sz="1150" dirty="0"/>
          </a:p>
        </p:txBody>
      </p:sp>
      <p:sp>
        <p:nvSpPr>
          <p:cNvPr id="31" name="Shape 29"/>
          <p:cNvSpPr/>
          <p:nvPr/>
        </p:nvSpPr>
        <p:spPr>
          <a:xfrm>
            <a:off x="548640" y="3794760"/>
            <a:ext cx="3611880" cy="169164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32" name="Shape 30"/>
          <p:cNvSpPr/>
          <p:nvPr/>
        </p:nvSpPr>
        <p:spPr>
          <a:xfrm>
            <a:off x="777240" y="4023360"/>
            <a:ext cx="411480" cy="411480"/>
          </a:xfrm>
          <a:prstGeom prst="ellipse">
            <a:avLst/>
          </a:prstGeom>
          <a:solidFill>
            <a:srgbClr val="E879F9"/>
          </a:solidFill>
          <a:ln w="12700">
            <a:solidFill>
              <a:srgbClr val="333333"/>
            </a:solidFill>
            <a:prstDash val="solid"/>
          </a:ln>
        </p:spPr>
        <p:txBody>
          <a:bodyPr/>
          <a:lstStyle/>
          <a:p>
            <a:endParaRPr lang="en-IN"/>
          </a:p>
        </p:txBody>
      </p:sp>
      <p:sp>
        <p:nvSpPr>
          <p:cNvPr id="33" name="Text 31"/>
          <p:cNvSpPr/>
          <p:nvPr/>
        </p:nvSpPr>
        <p:spPr>
          <a:xfrm>
            <a:off x="777240" y="4041648"/>
            <a:ext cx="411480" cy="365760"/>
          </a:xfrm>
          <a:prstGeom prst="rect">
            <a:avLst/>
          </a:prstGeom>
          <a:noFill/>
          <a:ln/>
        </p:spPr>
        <p:txBody>
          <a:bodyPr wrap="square" lIns="0" tIns="0" rIns="0" bIns="0" rtlCol="0" anchor="ctr"/>
          <a:lstStyle/>
          <a:p>
            <a:pPr marL="0" indent="0" algn="ctr">
              <a:buNone/>
            </a:pPr>
            <a:r>
              <a:rPr lang="en-US" sz="1400" b="1" dirty="0">
                <a:solidFill>
                  <a:srgbClr val="0B1020"/>
                </a:solidFill>
                <a:latin typeface="Calibri" pitchFamily="34" charset="0"/>
                <a:ea typeface="Calibri" pitchFamily="34" charset="-122"/>
                <a:cs typeface="Calibri" pitchFamily="34" charset="-120"/>
              </a:rPr>
              <a:t>4</a:t>
            </a:r>
            <a:endParaRPr lang="en-US" sz="1400" dirty="0"/>
          </a:p>
        </p:txBody>
      </p:sp>
      <p:sp>
        <p:nvSpPr>
          <p:cNvPr id="34" name="Text 32"/>
          <p:cNvSpPr/>
          <p:nvPr/>
        </p:nvSpPr>
        <p:spPr>
          <a:xfrm>
            <a:off x="1325880" y="3995928"/>
            <a:ext cx="2697480" cy="365760"/>
          </a:xfrm>
          <a:prstGeom prst="rect">
            <a:avLst/>
          </a:prstGeom>
          <a:noFill/>
          <a:ln/>
        </p:spPr>
        <p:txBody>
          <a:bodyPr wrap="square" lIns="0" tIns="0" rIns="0" bIns="0" rtlCol="0" anchor="ctr"/>
          <a:lstStyle/>
          <a:p>
            <a:pPr marL="0" indent="0">
              <a:buNone/>
            </a:pPr>
            <a:r>
              <a:rPr lang="en-US" sz="1500" b="1" dirty="0">
                <a:solidFill>
                  <a:srgbClr val="F8FAFC"/>
                </a:solidFill>
                <a:latin typeface="Calibri" pitchFamily="34" charset="0"/>
                <a:ea typeface="Calibri" pitchFamily="34" charset="-122"/>
                <a:cs typeface="Calibri" pitchFamily="34" charset="-120"/>
              </a:rPr>
              <a:t>Read the docs</a:t>
            </a:r>
            <a:endParaRPr lang="en-US" sz="1500" dirty="0"/>
          </a:p>
        </p:txBody>
      </p:sp>
      <p:sp>
        <p:nvSpPr>
          <p:cNvPr id="35" name="Text 33"/>
          <p:cNvSpPr/>
          <p:nvPr/>
        </p:nvSpPr>
        <p:spPr>
          <a:xfrm>
            <a:off x="1325880" y="4389120"/>
            <a:ext cx="2697480" cy="100584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PyTorch docs are excellent. Bookmark torch.nn and torch.optim.</a:t>
            </a:r>
            <a:endParaRPr lang="en-US" sz="1150" dirty="0"/>
          </a:p>
        </p:txBody>
      </p:sp>
      <p:sp>
        <p:nvSpPr>
          <p:cNvPr id="36" name="Shape 34"/>
          <p:cNvSpPr/>
          <p:nvPr/>
        </p:nvSpPr>
        <p:spPr>
          <a:xfrm>
            <a:off x="4343400" y="3794760"/>
            <a:ext cx="3611880" cy="169164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37" name="Shape 35"/>
          <p:cNvSpPr/>
          <p:nvPr/>
        </p:nvSpPr>
        <p:spPr>
          <a:xfrm>
            <a:off x="4572000" y="4023360"/>
            <a:ext cx="411480" cy="411480"/>
          </a:xfrm>
          <a:prstGeom prst="ellipse">
            <a:avLst/>
          </a:prstGeom>
          <a:solidFill>
            <a:srgbClr val="22D3EE"/>
          </a:solidFill>
          <a:ln w="12700">
            <a:solidFill>
              <a:srgbClr val="333333"/>
            </a:solidFill>
            <a:prstDash val="solid"/>
          </a:ln>
        </p:spPr>
        <p:txBody>
          <a:bodyPr/>
          <a:lstStyle/>
          <a:p>
            <a:endParaRPr lang="en-IN"/>
          </a:p>
        </p:txBody>
      </p:sp>
      <p:sp>
        <p:nvSpPr>
          <p:cNvPr id="38" name="Text 36"/>
          <p:cNvSpPr/>
          <p:nvPr/>
        </p:nvSpPr>
        <p:spPr>
          <a:xfrm>
            <a:off x="4572000" y="4041648"/>
            <a:ext cx="411480" cy="365760"/>
          </a:xfrm>
          <a:prstGeom prst="rect">
            <a:avLst/>
          </a:prstGeom>
          <a:noFill/>
          <a:ln/>
        </p:spPr>
        <p:txBody>
          <a:bodyPr wrap="square" lIns="0" tIns="0" rIns="0" bIns="0" rtlCol="0" anchor="ctr"/>
          <a:lstStyle/>
          <a:p>
            <a:pPr marL="0" indent="0" algn="ctr">
              <a:buNone/>
            </a:pPr>
            <a:r>
              <a:rPr lang="en-US" sz="1400" b="1" dirty="0">
                <a:solidFill>
                  <a:srgbClr val="0B1020"/>
                </a:solidFill>
                <a:latin typeface="Calibri" pitchFamily="34" charset="0"/>
                <a:ea typeface="Calibri" pitchFamily="34" charset="-122"/>
                <a:cs typeface="Calibri" pitchFamily="34" charset="-120"/>
              </a:rPr>
              <a:t>5</a:t>
            </a:r>
            <a:endParaRPr lang="en-US" sz="1400" dirty="0"/>
          </a:p>
        </p:txBody>
      </p:sp>
      <p:sp>
        <p:nvSpPr>
          <p:cNvPr id="39" name="Text 37"/>
          <p:cNvSpPr/>
          <p:nvPr/>
        </p:nvSpPr>
        <p:spPr>
          <a:xfrm>
            <a:off x="5120640" y="3995928"/>
            <a:ext cx="2697480" cy="365760"/>
          </a:xfrm>
          <a:prstGeom prst="rect">
            <a:avLst/>
          </a:prstGeom>
          <a:noFill/>
          <a:ln/>
        </p:spPr>
        <p:txBody>
          <a:bodyPr wrap="square" lIns="0" tIns="0" rIns="0" bIns="0" rtlCol="0" anchor="ctr"/>
          <a:lstStyle/>
          <a:p>
            <a:pPr marL="0" indent="0">
              <a:buNone/>
            </a:pPr>
            <a:r>
              <a:rPr lang="en-US" sz="1500" b="1" dirty="0">
                <a:solidFill>
                  <a:srgbClr val="F8FAFC"/>
                </a:solidFill>
                <a:latin typeface="Calibri" pitchFamily="34" charset="0"/>
                <a:ea typeface="Calibri" pitchFamily="34" charset="-122"/>
                <a:cs typeface="Calibri" pitchFamily="34" charset="-120"/>
              </a:rPr>
              <a:t>Reuse before reinvent</a:t>
            </a:r>
            <a:endParaRPr lang="en-US" sz="1500" dirty="0"/>
          </a:p>
        </p:txBody>
      </p:sp>
      <p:sp>
        <p:nvSpPr>
          <p:cNvPr id="40" name="Text 38"/>
          <p:cNvSpPr/>
          <p:nvPr/>
        </p:nvSpPr>
        <p:spPr>
          <a:xfrm>
            <a:off x="5120640" y="4389120"/>
            <a:ext cx="2697480" cy="100584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TorchVision, Hugging Face, and Lightning save weeks. Use them shamelessly.</a:t>
            </a:r>
            <a:endParaRPr lang="en-US" sz="1150" dirty="0"/>
          </a:p>
        </p:txBody>
      </p:sp>
      <p:sp>
        <p:nvSpPr>
          <p:cNvPr id="41" name="Shape 39"/>
          <p:cNvSpPr/>
          <p:nvPr/>
        </p:nvSpPr>
        <p:spPr>
          <a:xfrm>
            <a:off x="8138160" y="3794760"/>
            <a:ext cx="3611880" cy="169164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42" name="Shape 40"/>
          <p:cNvSpPr/>
          <p:nvPr/>
        </p:nvSpPr>
        <p:spPr>
          <a:xfrm>
            <a:off x="8366760" y="4023360"/>
            <a:ext cx="411480" cy="411480"/>
          </a:xfrm>
          <a:prstGeom prst="ellipse">
            <a:avLst/>
          </a:prstGeom>
          <a:solidFill>
            <a:srgbClr val="E879F9"/>
          </a:solidFill>
          <a:ln w="12700">
            <a:solidFill>
              <a:srgbClr val="333333"/>
            </a:solidFill>
            <a:prstDash val="solid"/>
          </a:ln>
        </p:spPr>
        <p:txBody>
          <a:bodyPr/>
          <a:lstStyle/>
          <a:p>
            <a:endParaRPr lang="en-IN"/>
          </a:p>
        </p:txBody>
      </p:sp>
      <p:sp>
        <p:nvSpPr>
          <p:cNvPr id="43" name="Text 41"/>
          <p:cNvSpPr/>
          <p:nvPr/>
        </p:nvSpPr>
        <p:spPr>
          <a:xfrm>
            <a:off x="8366760" y="4041648"/>
            <a:ext cx="411480" cy="365760"/>
          </a:xfrm>
          <a:prstGeom prst="rect">
            <a:avLst/>
          </a:prstGeom>
          <a:noFill/>
          <a:ln/>
        </p:spPr>
        <p:txBody>
          <a:bodyPr wrap="square" lIns="0" tIns="0" rIns="0" bIns="0" rtlCol="0" anchor="ctr"/>
          <a:lstStyle/>
          <a:p>
            <a:pPr marL="0" indent="0" algn="ctr">
              <a:buNone/>
            </a:pPr>
            <a:r>
              <a:rPr lang="en-US" sz="1400" b="1" dirty="0">
                <a:solidFill>
                  <a:srgbClr val="0B1020"/>
                </a:solidFill>
                <a:latin typeface="Calibri" pitchFamily="34" charset="0"/>
                <a:ea typeface="Calibri" pitchFamily="34" charset="-122"/>
                <a:cs typeface="Calibri" pitchFamily="34" charset="-120"/>
              </a:rPr>
              <a:t>6</a:t>
            </a:r>
            <a:endParaRPr lang="en-US" sz="1400" dirty="0"/>
          </a:p>
        </p:txBody>
      </p:sp>
      <p:sp>
        <p:nvSpPr>
          <p:cNvPr id="44" name="Text 42"/>
          <p:cNvSpPr/>
          <p:nvPr/>
        </p:nvSpPr>
        <p:spPr>
          <a:xfrm>
            <a:off x="8915400" y="3995928"/>
            <a:ext cx="2697480" cy="365760"/>
          </a:xfrm>
          <a:prstGeom prst="rect">
            <a:avLst/>
          </a:prstGeom>
          <a:noFill/>
          <a:ln/>
        </p:spPr>
        <p:txBody>
          <a:bodyPr wrap="square" lIns="0" tIns="0" rIns="0" bIns="0" rtlCol="0" anchor="ctr"/>
          <a:lstStyle/>
          <a:p>
            <a:pPr marL="0" indent="0">
              <a:buNone/>
            </a:pPr>
            <a:r>
              <a:rPr lang="en-US" sz="1500" b="1" dirty="0">
                <a:solidFill>
                  <a:srgbClr val="F8FAFC"/>
                </a:solidFill>
                <a:latin typeface="Calibri" pitchFamily="34" charset="0"/>
                <a:ea typeface="Calibri" pitchFamily="34" charset="-122"/>
                <a:cs typeface="Calibri" pitchFamily="34" charset="-120"/>
              </a:rPr>
              <a:t>Ask early</a:t>
            </a:r>
            <a:endParaRPr lang="en-US" sz="1500" dirty="0"/>
          </a:p>
        </p:txBody>
      </p:sp>
      <p:sp>
        <p:nvSpPr>
          <p:cNvPr id="45" name="Text 43"/>
          <p:cNvSpPr/>
          <p:nvPr/>
        </p:nvSpPr>
        <p:spPr>
          <a:xfrm>
            <a:off x="8915400" y="4389120"/>
            <a:ext cx="2697480" cy="100584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Stuck for 30 minutes? Ping your mentor. We've all been there.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11247120" y="137160"/>
            <a:ext cx="365760" cy="182880"/>
          </a:xfrm>
          <a:prstGeom prst="line">
            <a:avLst/>
          </a:prstGeom>
          <a:noFill/>
          <a:ln w="9525">
            <a:solidFill>
              <a:srgbClr val="22D3EE">
                <a:alpha val="50000"/>
              </a:srgbClr>
            </a:solidFill>
            <a:prstDash val="solid"/>
          </a:ln>
        </p:spPr>
        <p:txBody>
          <a:bodyPr/>
          <a:lstStyle/>
          <a:p>
            <a:endParaRPr lang="en-IN"/>
          </a:p>
        </p:txBody>
      </p:sp>
      <p:sp>
        <p:nvSpPr>
          <p:cNvPr id="3" name="Shape 1"/>
          <p:cNvSpPr/>
          <p:nvPr/>
        </p:nvSpPr>
        <p:spPr>
          <a:xfrm>
            <a:off x="11247120" y="137160"/>
            <a:ext cx="228600" cy="411480"/>
          </a:xfrm>
          <a:prstGeom prst="line">
            <a:avLst/>
          </a:prstGeom>
          <a:noFill/>
          <a:ln w="9525">
            <a:solidFill>
              <a:srgbClr val="22D3EE">
                <a:alpha val="50000"/>
              </a:srgbClr>
            </a:solidFill>
            <a:prstDash val="solid"/>
          </a:ln>
        </p:spPr>
        <p:txBody>
          <a:bodyPr/>
          <a:lstStyle/>
          <a:p>
            <a:endParaRPr lang="en-IN"/>
          </a:p>
        </p:txBody>
      </p:sp>
      <p:sp>
        <p:nvSpPr>
          <p:cNvPr id="4" name="Shape 2"/>
          <p:cNvSpPr/>
          <p:nvPr/>
        </p:nvSpPr>
        <p:spPr>
          <a:xfrm>
            <a:off x="11612880" y="320040"/>
            <a:ext cx="228600" cy="182880"/>
          </a:xfrm>
          <a:prstGeom prst="line">
            <a:avLst/>
          </a:prstGeom>
          <a:noFill/>
          <a:ln w="9525">
            <a:solidFill>
              <a:srgbClr val="22D3EE">
                <a:alpha val="50000"/>
              </a:srgbClr>
            </a:solidFill>
            <a:prstDash val="solid"/>
          </a:ln>
        </p:spPr>
        <p:txBody>
          <a:bodyPr/>
          <a:lstStyle/>
          <a:p>
            <a:endParaRPr lang="en-IN"/>
          </a:p>
        </p:txBody>
      </p:sp>
      <p:sp>
        <p:nvSpPr>
          <p:cNvPr id="5" name="Shape 3"/>
          <p:cNvSpPr/>
          <p:nvPr/>
        </p:nvSpPr>
        <p:spPr>
          <a:xfrm flipV="1">
            <a:off x="11475720" y="502920"/>
            <a:ext cx="365760" cy="45720"/>
          </a:xfrm>
          <a:prstGeom prst="line">
            <a:avLst/>
          </a:prstGeom>
          <a:noFill/>
          <a:ln w="9525">
            <a:solidFill>
              <a:srgbClr val="22D3EE">
                <a:alpha val="50000"/>
              </a:srgbClr>
            </a:solidFill>
            <a:prstDash val="solid"/>
          </a:ln>
        </p:spPr>
        <p:txBody>
          <a:bodyPr/>
          <a:lstStyle/>
          <a:p>
            <a:endParaRPr lang="en-IN"/>
          </a:p>
        </p:txBody>
      </p:sp>
      <p:sp>
        <p:nvSpPr>
          <p:cNvPr id="6" name="Shape 4"/>
          <p:cNvSpPr/>
          <p:nvPr/>
        </p:nvSpPr>
        <p:spPr>
          <a:xfrm>
            <a:off x="11183112" y="73152"/>
            <a:ext cx="128016" cy="128016"/>
          </a:xfrm>
          <a:prstGeom prst="ellipse">
            <a:avLst/>
          </a:prstGeom>
          <a:solidFill>
            <a:srgbClr val="22D3EE"/>
          </a:solidFill>
          <a:ln w="12700">
            <a:solidFill>
              <a:srgbClr val="22D3EE"/>
            </a:solidFill>
            <a:prstDash val="solid"/>
          </a:ln>
        </p:spPr>
        <p:txBody>
          <a:bodyPr/>
          <a:lstStyle/>
          <a:p>
            <a:endParaRPr lang="en-IN"/>
          </a:p>
        </p:txBody>
      </p:sp>
      <p:sp>
        <p:nvSpPr>
          <p:cNvPr id="7" name="Shape 5"/>
          <p:cNvSpPr/>
          <p:nvPr/>
        </p:nvSpPr>
        <p:spPr>
          <a:xfrm>
            <a:off x="11548872" y="256032"/>
            <a:ext cx="128016" cy="128016"/>
          </a:xfrm>
          <a:prstGeom prst="ellipse">
            <a:avLst/>
          </a:prstGeom>
          <a:solidFill>
            <a:srgbClr val="E879F9"/>
          </a:solidFill>
          <a:ln w="12700">
            <a:solidFill>
              <a:srgbClr val="E879F9"/>
            </a:solidFill>
            <a:prstDash val="solid"/>
          </a:ln>
        </p:spPr>
        <p:txBody>
          <a:bodyPr/>
          <a:lstStyle/>
          <a:p>
            <a:endParaRPr lang="en-IN"/>
          </a:p>
        </p:txBody>
      </p:sp>
      <p:sp>
        <p:nvSpPr>
          <p:cNvPr id="8" name="Shape 6"/>
          <p:cNvSpPr/>
          <p:nvPr/>
        </p:nvSpPr>
        <p:spPr>
          <a:xfrm>
            <a:off x="11411712" y="484632"/>
            <a:ext cx="128016" cy="128016"/>
          </a:xfrm>
          <a:prstGeom prst="ellipse">
            <a:avLst/>
          </a:prstGeom>
          <a:solidFill>
            <a:srgbClr val="22D3EE"/>
          </a:solidFill>
          <a:ln w="12700">
            <a:solidFill>
              <a:srgbClr val="22D3EE"/>
            </a:solidFill>
            <a:prstDash val="solid"/>
          </a:ln>
        </p:spPr>
        <p:txBody>
          <a:bodyPr/>
          <a:lstStyle/>
          <a:p>
            <a:endParaRPr lang="en-IN"/>
          </a:p>
        </p:txBody>
      </p:sp>
      <p:sp>
        <p:nvSpPr>
          <p:cNvPr id="9" name="Shape 7"/>
          <p:cNvSpPr/>
          <p:nvPr/>
        </p:nvSpPr>
        <p:spPr>
          <a:xfrm>
            <a:off x="11777472" y="438912"/>
            <a:ext cx="128016" cy="128016"/>
          </a:xfrm>
          <a:prstGeom prst="ellipse">
            <a:avLst/>
          </a:prstGeom>
          <a:solidFill>
            <a:srgbClr val="E879F9"/>
          </a:solidFill>
          <a:ln w="12700">
            <a:solidFill>
              <a:srgbClr val="E879F9"/>
            </a:solidFill>
            <a:prstDash val="solid"/>
          </a:ln>
        </p:spPr>
        <p:txBody>
          <a:bodyPr/>
          <a:lstStyle/>
          <a:p>
            <a:endParaRPr lang="en-IN"/>
          </a:p>
        </p:txBody>
      </p:sp>
      <p:sp>
        <p:nvSpPr>
          <p:cNvPr id="10" name="Shape 8"/>
          <p:cNvSpPr/>
          <p:nvPr/>
        </p:nvSpPr>
        <p:spPr>
          <a:xfrm>
            <a:off x="0" y="6693408"/>
            <a:ext cx="12161520" cy="36576"/>
          </a:xfrm>
          <a:prstGeom prst="rect">
            <a:avLst/>
          </a:prstGeom>
          <a:solidFill>
            <a:srgbClr val="22D3EE"/>
          </a:solidFill>
          <a:ln w="12700">
            <a:solidFill>
              <a:srgbClr val="22D3EE"/>
            </a:solidFill>
            <a:prstDash val="solid"/>
          </a:ln>
        </p:spPr>
        <p:txBody>
          <a:bodyPr/>
          <a:lstStyle/>
          <a:p>
            <a:endParaRPr lang="en-IN"/>
          </a:p>
        </p:txBody>
      </p:sp>
      <p:sp>
        <p:nvSpPr>
          <p:cNvPr id="11" name="Text 9"/>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Deep Learning Onboarding  ·  Intern Training</a:t>
            </a:r>
            <a:endParaRPr lang="en-US" sz="1000" dirty="0"/>
          </a:p>
        </p:txBody>
      </p:sp>
      <p:sp>
        <p:nvSpPr>
          <p:cNvPr id="12" name="Text 10"/>
          <p:cNvSpPr/>
          <p:nvPr/>
        </p:nvSpPr>
        <p:spPr>
          <a:xfrm>
            <a:off x="10698480" y="6446520"/>
            <a:ext cx="914400" cy="27432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13 / 13</a:t>
            </a:r>
            <a:endParaRPr lang="en-US" sz="1000" dirty="0"/>
          </a:p>
        </p:txBody>
      </p:sp>
      <p:sp>
        <p:nvSpPr>
          <p:cNvPr id="13" name="Text 11"/>
          <p:cNvSpPr/>
          <p:nvPr/>
        </p:nvSpPr>
        <p:spPr>
          <a:xfrm>
            <a:off x="548640" y="411480"/>
            <a:ext cx="9144000" cy="320040"/>
          </a:xfrm>
          <a:prstGeom prst="rect">
            <a:avLst/>
          </a:prstGeom>
          <a:noFill/>
          <a:ln/>
        </p:spPr>
        <p:txBody>
          <a:bodyPr wrap="square" lIns="0" tIns="0" rIns="0" bIns="0" rtlCol="0" anchor="ctr"/>
          <a:lstStyle/>
          <a:p>
            <a:pPr marL="0" indent="0">
              <a:buNone/>
            </a:pPr>
            <a:r>
              <a:rPr lang="en-US" sz="1100" b="1" kern="0" spc="400" dirty="0">
                <a:solidFill>
                  <a:srgbClr val="22D3EE"/>
                </a:solidFill>
                <a:latin typeface="Calibri" pitchFamily="34" charset="0"/>
                <a:ea typeface="Calibri" pitchFamily="34" charset="-122"/>
                <a:cs typeface="Calibri" pitchFamily="34" charset="-120"/>
              </a:rPr>
              <a:t>WRAP-UP</a:t>
            </a:r>
            <a:endParaRPr lang="en-US" sz="1100" dirty="0"/>
          </a:p>
        </p:txBody>
      </p:sp>
      <p:sp>
        <p:nvSpPr>
          <p:cNvPr id="14" name="Text 12"/>
          <p:cNvSpPr/>
          <p:nvPr/>
        </p:nvSpPr>
        <p:spPr>
          <a:xfrm>
            <a:off x="548640" y="713232"/>
            <a:ext cx="10515600" cy="77724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Resources &amp; next steps</a:t>
            </a:r>
            <a:endParaRPr lang="en-US" sz="3200" dirty="0"/>
          </a:p>
        </p:txBody>
      </p:sp>
      <p:sp>
        <p:nvSpPr>
          <p:cNvPr id="15" name="Shape 13"/>
          <p:cNvSpPr/>
          <p:nvPr/>
        </p:nvSpPr>
        <p:spPr>
          <a:xfrm>
            <a:off x="548640" y="1481328"/>
            <a:ext cx="548640" cy="54864"/>
          </a:xfrm>
          <a:prstGeom prst="rect">
            <a:avLst/>
          </a:prstGeom>
          <a:solidFill>
            <a:srgbClr val="E879F9"/>
          </a:solidFill>
          <a:ln w="12700">
            <a:solidFill>
              <a:srgbClr val="E879F9"/>
            </a:solidFill>
            <a:prstDash val="solid"/>
          </a:ln>
        </p:spPr>
        <p:txBody>
          <a:bodyPr/>
          <a:lstStyle/>
          <a:p>
            <a:endParaRPr lang="en-IN"/>
          </a:p>
        </p:txBody>
      </p:sp>
      <p:sp>
        <p:nvSpPr>
          <p:cNvPr id="16" name="Shape 14"/>
          <p:cNvSpPr/>
          <p:nvPr/>
        </p:nvSpPr>
        <p:spPr>
          <a:xfrm>
            <a:off x="548640" y="1874520"/>
            <a:ext cx="5486400" cy="4206240"/>
          </a:xfrm>
          <a:prstGeom prst="rect">
            <a:avLst/>
          </a:prstGeom>
          <a:solidFill>
            <a:srgbClr val="121A33"/>
          </a:solidFill>
          <a:ln w="12700">
            <a:solidFill>
              <a:srgbClr val="1B2547"/>
            </a:solidFill>
            <a:prstDash val="solid"/>
          </a:ln>
          <a:effectLst>
            <a:outerShdw blurRad="228600" dist="50800" dir="5400000" algn="bl" rotWithShape="0">
              <a:srgbClr val="000000">
                <a:alpha val="45000"/>
              </a:srgbClr>
            </a:outerShdw>
          </a:effectLst>
        </p:spPr>
        <p:txBody>
          <a:bodyPr/>
          <a:lstStyle/>
          <a:p>
            <a:endParaRPr lang="en-IN"/>
          </a:p>
        </p:txBody>
      </p:sp>
      <p:sp>
        <p:nvSpPr>
          <p:cNvPr id="17" name="Text 15"/>
          <p:cNvSpPr/>
          <p:nvPr/>
        </p:nvSpPr>
        <p:spPr>
          <a:xfrm>
            <a:off x="777240" y="2011680"/>
            <a:ext cx="5029200" cy="365760"/>
          </a:xfrm>
          <a:prstGeom prst="rect">
            <a:avLst/>
          </a:prstGeom>
          <a:noFill/>
          <a:ln/>
        </p:spPr>
        <p:txBody>
          <a:bodyPr wrap="square" lIns="0" tIns="0" rIns="0" bIns="0" rtlCol="0" anchor="ctr"/>
          <a:lstStyle/>
          <a:p>
            <a:pPr marL="0" indent="0">
              <a:buNone/>
            </a:pPr>
            <a:r>
              <a:rPr lang="en-US" sz="1200" b="1" kern="0" spc="400" dirty="0">
                <a:solidFill>
                  <a:srgbClr val="22D3EE"/>
                </a:solidFill>
                <a:latin typeface="Calibri" pitchFamily="34" charset="0"/>
                <a:ea typeface="Calibri" pitchFamily="34" charset="-122"/>
                <a:cs typeface="Calibri" pitchFamily="34" charset="-120"/>
              </a:rPr>
              <a:t>KEEP LEARNING</a:t>
            </a:r>
            <a:endParaRPr lang="en-US" sz="1200" dirty="0"/>
          </a:p>
        </p:txBody>
      </p:sp>
      <p:sp>
        <p:nvSpPr>
          <p:cNvPr id="18" name="Shape 16"/>
          <p:cNvSpPr/>
          <p:nvPr/>
        </p:nvSpPr>
        <p:spPr>
          <a:xfrm>
            <a:off x="777240" y="2514600"/>
            <a:ext cx="54864" cy="502920"/>
          </a:xfrm>
          <a:prstGeom prst="rect">
            <a:avLst/>
          </a:prstGeom>
          <a:solidFill>
            <a:srgbClr val="22D3EE"/>
          </a:solidFill>
          <a:ln w="12700">
            <a:solidFill>
              <a:srgbClr val="333333"/>
            </a:solidFill>
            <a:prstDash val="solid"/>
          </a:ln>
        </p:spPr>
        <p:txBody>
          <a:bodyPr/>
          <a:lstStyle/>
          <a:p>
            <a:endParaRPr lang="en-IN"/>
          </a:p>
        </p:txBody>
      </p:sp>
      <p:sp>
        <p:nvSpPr>
          <p:cNvPr id="19" name="Text 17"/>
          <p:cNvSpPr/>
          <p:nvPr/>
        </p:nvSpPr>
        <p:spPr>
          <a:xfrm>
            <a:off x="960120" y="2468880"/>
            <a:ext cx="4937760" cy="292608"/>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PyTorch Official Tutorials</a:t>
            </a:r>
            <a:endParaRPr lang="en-US" sz="1300" dirty="0"/>
          </a:p>
        </p:txBody>
      </p:sp>
      <p:sp>
        <p:nvSpPr>
          <p:cNvPr id="20" name="Text 18"/>
          <p:cNvSpPr/>
          <p:nvPr/>
        </p:nvSpPr>
        <p:spPr>
          <a:xfrm>
            <a:off x="960120" y="2761488"/>
            <a:ext cx="4937760" cy="3657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pytorch.org/tutorials — start with the 60-min blitz.</a:t>
            </a:r>
            <a:endParaRPr lang="en-US" sz="1100" dirty="0"/>
          </a:p>
        </p:txBody>
      </p:sp>
      <p:sp>
        <p:nvSpPr>
          <p:cNvPr id="21" name="Shape 19"/>
          <p:cNvSpPr/>
          <p:nvPr/>
        </p:nvSpPr>
        <p:spPr>
          <a:xfrm>
            <a:off x="777240" y="3172968"/>
            <a:ext cx="54864" cy="502920"/>
          </a:xfrm>
          <a:prstGeom prst="rect">
            <a:avLst/>
          </a:prstGeom>
          <a:solidFill>
            <a:srgbClr val="E879F9"/>
          </a:solidFill>
          <a:ln w="12700">
            <a:solidFill>
              <a:srgbClr val="333333"/>
            </a:solidFill>
            <a:prstDash val="solid"/>
          </a:ln>
        </p:spPr>
        <p:txBody>
          <a:bodyPr/>
          <a:lstStyle/>
          <a:p>
            <a:endParaRPr lang="en-IN"/>
          </a:p>
        </p:txBody>
      </p:sp>
      <p:sp>
        <p:nvSpPr>
          <p:cNvPr id="22" name="Text 20"/>
          <p:cNvSpPr/>
          <p:nvPr/>
        </p:nvSpPr>
        <p:spPr>
          <a:xfrm>
            <a:off x="960120" y="3127248"/>
            <a:ext cx="4937760" cy="292608"/>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Dive into Deep Learning (d2l.ai)</a:t>
            </a:r>
            <a:endParaRPr lang="en-US" sz="1300" dirty="0"/>
          </a:p>
        </p:txBody>
      </p:sp>
      <p:sp>
        <p:nvSpPr>
          <p:cNvPr id="23" name="Text 21"/>
          <p:cNvSpPr/>
          <p:nvPr/>
        </p:nvSpPr>
        <p:spPr>
          <a:xfrm>
            <a:off x="960120" y="3419856"/>
            <a:ext cx="4937760" cy="3657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Free book with runnable PyTorch notebooks.</a:t>
            </a:r>
            <a:endParaRPr lang="en-US" sz="1100" dirty="0"/>
          </a:p>
        </p:txBody>
      </p:sp>
      <p:sp>
        <p:nvSpPr>
          <p:cNvPr id="24" name="Shape 22"/>
          <p:cNvSpPr/>
          <p:nvPr/>
        </p:nvSpPr>
        <p:spPr>
          <a:xfrm>
            <a:off x="777240" y="3831336"/>
            <a:ext cx="54864" cy="502920"/>
          </a:xfrm>
          <a:prstGeom prst="rect">
            <a:avLst/>
          </a:prstGeom>
          <a:solidFill>
            <a:srgbClr val="22D3EE"/>
          </a:solidFill>
          <a:ln w="12700">
            <a:solidFill>
              <a:srgbClr val="333333"/>
            </a:solidFill>
            <a:prstDash val="solid"/>
          </a:ln>
        </p:spPr>
        <p:txBody>
          <a:bodyPr/>
          <a:lstStyle/>
          <a:p>
            <a:endParaRPr lang="en-IN"/>
          </a:p>
        </p:txBody>
      </p:sp>
      <p:sp>
        <p:nvSpPr>
          <p:cNvPr id="25" name="Text 23"/>
          <p:cNvSpPr/>
          <p:nvPr/>
        </p:nvSpPr>
        <p:spPr>
          <a:xfrm>
            <a:off x="960120" y="3785616"/>
            <a:ext cx="4937760" cy="292608"/>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fast.ai Practical DL course</a:t>
            </a:r>
            <a:endParaRPr lang="en-US" sz="1300" dirty="0"/>
          </a:p>
        </p:txBody>
      </p:sp>
      <p:sp>
        <p:nvSpPr>
          <p:cNvPr id="26" name="Text 24"/>
          <p:cNvSpPr/>
          <p:nvPr/>
        </p:nvSpPr>
        <p:spPr>
          <a:xfrm>
            <a:off x="960120" y="4078224"/>
            <a:ext cx="4937760" cy="3657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Top-down, code-first, project-driven.</a:t>
            </a:r>
            <a:endParaRPr lang="en-US" sz="1100" dirty="0"/>
          </a:p>
        </p:txBody>
      </p:sp>
      <p:sp>
        <p:nvSpPr>
          <p:cNvPr id="27" name="Shape 25"/>
          <p:cNvSpPr/>
          <p:nvPr/>
        </p:nvSpPr>
        <p:spPr>
          <a:xfrm>
            <a:off x="777240" y="4489704"/>
            <a:ext cx="54864" cy="502920"/>
          </a:xfrm>
          <a:prstGeom prst="rect">
            <a:avLst/>
          </a:prstGeom>
          <a:solidFill>
            <a:srgbClr val="E879F9"/>
          </a:solidFill>
          <a:ln w="12700">
            <a:solidFill>
              <a:srgbClr val="333333"/>
            </a:solidFill>
            <a:prstDash val="solid"/>
          </a:ln>
        </p:spPr>
        <p:txBody>
          <a:bodyPr/>
          <a:lstStyle/>
          <a:p>
            <a:endParaRPr lang="en-IN"/>
          </a:p>
        </p:txBody>
      </p:sp>
      <p:sp>
        <p:nvSpPr>
          <p:cNvPr id="28" name="Text 26"/>
          <p:cNvSpPr/>
          <p:nvPr/>
        </p:nvSpPr>
        <p:spPr>
          <a:xfrm>
            <a:off x="960120" y="4443984"/>
            <a:ext cx="4937760" cy="292608"/>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3Blue1Brown — Neural Networks</a:t>
            </a:r>
            <a:endParaRPr lang="en-US" sz="1300" dirty="0"/>
          </a:p>
        </p:txBody>
      </p:sp>
      <p:sp>
        <p:nvSpPr>
          <p:cNvPr id="29" name="Text 27"/>
          <p:cNvSpPr/>
          <p:nvPr/>
        </p:nvSpPr>
        <p:spPr>
          <a:xfrm>
            <a:off x="960120" y="4736592"/>
            <a:ext cx="4937760" cy="3657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The best visual intuition for backprop.</a:t>
            </a:r>
            <a:endParaRPr lang="en-US" sz="1100" dirty="0"/>
          </a:p>
        </p:txBody>
      </p:sp>
      <p:sp>
        <p:nvSpPr>
          <p:cNvPr id="30" name="Shape 28"/>
          <p:cNvSpPr/>
          <p:nvPr/>
        </p:nvSpPr>
        <p:spPr>
          <a:xfrm>
            <a:off x="777240" y="5148072"/>
            <a:ext cx="54864" cy="502920"/>
          </a:xfrm>
          <a:prstGeom prst="rect">
            <a:avLst/>
          </a:prstGeom>
          <a:solidFill>
            <a:srgbClr val="22D3EE"/>
          </a:solidFill>
          <a:ln w="12700">
            <a:solidFill>
              <a:srgbClr val="333333"/>
            </a:solidFill>
            <a:prstDash val="solid"/>
          </a:ln>
        </p:spPr>
        <p:txBody>
          <a:bodyPr/>
          <a:lstStyle/>
          <a:p>
            <a:endParaRPr lang="en-IN"/>
          </a:p>
        </p:txBody>
      </p:sp>
      <p:sp>
        <p:nvSpPr>
          <p:cNvPr id="31" name="Text 29"/>
          <p:cNvSpPr/>
          <p:nvPr/>
        </p:nvSpPr>
        <p:spPr>
          <a:xfrm>
            <a:off x="960120" y="5102352"/>
            <a:ext cx="4937760" cy="292608"/>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Papers With Code</a:t>
            </a:r>
            <a:endParaRPr lang="en-US" sz="1300" dirty="0"/>
          </a:p>
        </p:txBody>
      </p:sp>
      <p:sp>
        <p:nvSpPr>
          <p:cNvPr id="32" name="Text 30"/>
          <p:cNvSpPr/>
          <p:nvPr/>
        </p:nvSpPr>
        <p:spPr>
          <a:xfrm>
            <a:off x="960120" y="5394960"/>
            <a:ext cx="4937760" cy="3657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Find a topic, find the SOTA paper and its code.</a:t>
            </a:r>
            <a:endParaRPr lang="en-US" sz="1100" dirty="0"/>
          </a:p>
        </p:txBody>
      </p:sp>
      <p:sp>
        <p:nvSpPr>
          <p:cNvPr id="33" name="Shape 31"/>
          <p:cNvSpPr/>
          <p:nvPr/>
        </p:nvSpPr>
        <p:spPr>
          <a:xfrm>
            <a:off x="6217920" y="1874520"/>
            <a:ext cx="5394960" cy="4206240"/>
          </a:xfrm>
          <a:prstGeom prst="rect">
            <a:avLst/>
          </a:prstGeom>
          <a:solidFill>
            <a:srgbClr val="1B2547"/>
          </a:solidFill>
          <a:ln w="12700">
            <a:solidFill>
              <a:srgbClr val="E879F9"/>
            </a:solidFill>
            <a:prstDash val="solid"/>
          </a:ln>
          <a:effectLst>
            <a:outerShdw blurRad="228600" dist="50800" dir="5400000" algn="bl" rotWithShape="0">
              <a:srgbClr val="000000">
                <a:alpha val="45000"/>
              </a:srgbClr>
            </a:outerShdw>
          </a:effectLst>
        </p:spPr>
        <p:txBody>
          <a:bodyPr/>
          <a:lstStyle/>
          <a:p>
            <a:endParaRPr lang="en-IN"/>
          </a:p>
        </p:txBody>
      </p:sp>
      <p:sp>
        <p:nvSpPr>
          <p:cNvPr id="34" name="Text 32"/>
          <p:cNvSpPr/>
          <p:nvPr/>
        </p:nvSpPr>
        <p:spPr>
          <a:xfrm>
            <a:off x="6446520" y="2011680"/>
            <a:ext cx="5029200" cy="365760"/>
          </a:xfrm>
          <a:prstGeom prst="rect">
            <a:avLst/>
          </a:prstGeom>
          <a:noFill/>
          <a:ln/>
        </p:spPr>
        <p:txBody>
          <a:bodyPr wrap="square" lIns="0" tIns="0" rIns="0" bIns="0" rtlCol="0" anchor="ctr"/>
          <a:lstStyle/>
          <a:p>
            <a:pPr marL="0" indent="0">
              <a:buNone/>
            </a:pPr>
            <a:r>
              <a:rPr lang="en-US" sz="1200" b="1" kern="0" spc="400" dirty="0">
                <a:solidFill>
                  <a:srgbClr val="E879F9"/>
                </a:solidFill>
                <a:latin typeface="Calibri" pitchFamily="34" charset="0"/>
                <a:ea typeface="Calibri" pitchFamily="34" charset="-122"/>
                <a:cs typeface="Calibri" pitchFamily="34" charset="-120"/>
              </a:rPr>
              <a:t>YOUR FIRST WEEK</a:t>
            </a:r>
            <a:endParaRPr lang="en-US" sz="1200" dirty="0"/>
          </a:p>
        </p:txBody>
      </p:sp>
      <p:sp>
        <p:nvSpPr>
          <p:cNvPr id="35" name="Text 33"/>
          <p:cNvSpPr/>
          <p:nvPr/>
        </p:nvSpPr>
        <p:spPr>
          <a:xfrm>
            <a:off x="6446520" y="2514600"/>
            <a:ext cx="5029200" cy="3474720"/>
          </a:xfrm>
          <a:prstGeom prst="rect">
            <a:avLst/>
          </a:prstGeom>
          <a:noFill/>
          <a:ln/>
        </p:spPr>
        <p:txBody>
          <a:bodyPr wrap="square" lIns="0" tIns="0" rIns="0" bIns="0" rtlCol="0" anchor="ctr"/>
          <a:lstStyle/>
          <a:p>
            <a:pPr marL="0" indent="0">
              <a:buNone/>
            </a:pPr>
            <a:r>
              <a:rPr lang="en-US" sz="1300" b="1" dirty="0">
                <a:solidFill>
                  <a:srgbClr val="E879F9"/>
                </a:solidFill>
                <a:latin typeface="Calibri" pitchFamily="34" charset="0"/>
                <a:ea typeface="Calibri" pitchFamily="34" charset="-122"/>
                <a:cs typeface="Calibri" pitchFamily="34" charset="-120"/>
              </a:rPr>
              <a:t>1.  </a:t>
            </a:r>
            <a:r>
              <a:rPr lang="en-US" sz="1300" dirty="0">
                <a:solidFill>
                  <a:srgbClr val="F8FAFC"/>
                </a:solidFill>
                <a:latin typeface="Calibri" pitchFamily="34" charset="0"/>
                <a:ea typeface="Calibri" pitchFamily="34" charset="-122"/>
                <a:cs typeface="Calibri" pitchFamily="34" charset="-120"/>
              </a:rPr>
              <a:t>Set up your dev environment and install PyTorch.</a:t>
            </a:r>
            <a:endParaRPr lang="en-US" sz="1300" dirty="0"/>
          </a:p>
          <a:p>
            <a:pPr marL="0" indent="0">
              <a:buNone/>
            </a:pPr>
            <a:r>
              <a:rPr lang="en-US" sz="1300" b="1" dirty="0">
                <a:solidFill>
                  <a:srgbClr val="E879F9"/>
                </a:solidFill>
                <a:latin typeface="Calibri" pitchFamily="34" charset="0"/>
                <a:ea typeface="Calibri" pitchFamily="34" charset="-122"/>
                <a:cs typeface="Calibri" pitchFamily="34" charset="-120"/>
              </a:rPr>
              <a:t>2.  </a:t>
            </a:r>
            <a:r>
              <a:rPr lang="en-US" sz="1300" dirty="0">
                <a:solidFill>
                  <a:srgbClr val="F8FAFC"/>
                </a:solidFill>
                <a:latin typeface="Calibri" pitchFamily="34" charset="0"/>
                <a:ea typeface="Calibri" pitchFamily="34" charset="-122"/>
                <a:cs typeface="Calibri" pitchFamily="34" charset="-120"/>
              </a:rPr>
              <a:t>Clone the intern-starter repo from GitHub.</a:t>
            </a:r>
            <a:endParaRPr lang="en-US" sz="1300" dirty="0"/>
          </a:p>
          <a:p>
            <a:pPr marL="0" indent="0">
              <a:buNone/>
            </a:pPr>
            <a:r>
              <a:rPr lang="en-US" sz="1300" b="1" dirty="0">
                <a:solidFill>
                  <a:srgbClr val="E879F9"/>
                </a:solidFill>
                <a:latin typeface="Calibri" pitchFamily="34" charset="0"/>
                <a:ea typeface="Calibri" pitchFamily="34" charset="-122"/>
                <a:cs typeface="Calibri" pitchFamily="34" charset="-120"/>
              </a:rPr>
              <a:t>3.  </a:t>
            </a:r>
            <a:r>
              <a:rPr lang="en-US" sz="1300" dirty="0">
                <a:solidFill>
                  <a:srgbClr val="F8FAFC"/>
                </a:solidFill>
                <a:latin typeface="Calibri" pitchFamily="34" charset="0"/>
                <a:ea typeface="Calibri" pitchFamily="34" charset="-122"/>
                <a:cs typeface="Calibri" pitchFamily="34" charset="-120"/>
              </a:rPr>
              <a:t>Run the MNIST notebook end-to-end.</a:t>
            </a:r>
            <a:endParaRPr lang="en-US" sz="1300" dirty="0"/>
          </a:p>
          <a:p>
            <a:pPr marL="0" indent="0">
              <a:buNone/>
            </a:pPr>
            <a:r>
              <a:rPr lang="en-US" sz="1300" b="1" dirty="0">
                <a:solidFill>
                  <a:srgbClr val="E879F9"/>
                </a:solidFill>
                <a:latin typeface="Calibri" pitchFamily="34" charset="0"/>
                <a:ea typeface="Calibri" pitchFamily="34" charset="-122"/>
                <a:cs typeface="Calibri" pitchFamily="34" charset="-120"/>
              </a:rPr>
              <a:t>4.  </a:t>
            </a:r>
            <a:r>
              <a:rPr lang="en-US" sz="1300" dirty="0">
                <a:solidFill>
                  <a:srgbClr val="F8FAFC"/>
                </a:solidFill>
                <a:latin typeface="Calibri" pitchFamily="34" charset="0"/>
                <a:ea typeface="Calibri" pitchFamily="34" charset="-122"/>
                <a:cs typeface="Calibri" pitchFamily="34" charset="-120"/>
              </a:rPr>
              <a:t>Run the sentiment notebook end-to-end.</a:t>
            </a:r>
            <a:endParaRPr lang="en-US" sz="1300" dirty="0"/>
          </a:p>
          <a:p>
            <a:pPr marL="0" indent="0">
              <a:buNone/>
            </a:pPr>
            <a:r>
              <a:rPr lang="en-US" sz="1300" b="1" dirty="0">
                <a:solidFill>
                  <a:srgbClr val="E879F9"/>
                </a:solidFill>
                <a:latin typeface="Calibri" pitchFamily="34" charset="0"/>
                <a:ea typeface="Calibri" pitchFamily="34" charset="-122"/>
                <a:cs typeface="Calibri" pitchFamily="34" charset="-120"/>
              </a:rPr>
              <a:t>5.  </a:t>
            </a:r>
            <a:r>
              <a:rPr lang="en-US" sz="1300" dirty="0">
                <a:solidFill>
                  <a:srgbClr val="F8FAFC"/>
                </a:solidFill>
                <a:latin typeface="Calibri" pitchFamily="34" charset="0"/>
                <a:ea typeface="Calibri" pitchFamily="34" charset="-122"/>
                <a:cs typeface="Calibri" pitchFamily="34" charset="-120"/>
              </a:rPr>
              <a:t>Pick one tweak (architecture, data, optimizer) and report your numbers.</a:t>
            </a:r>
            <a:endParaRPr lang="en-US" sz="1300" dirty="0"/>
          </a:p>
          <a:p>
            <a:pPr marL="0" indent="0">
              <a:buNone/>
            </a:pPr>
            <a:r>
              <a:rPr lang="en-US" sz="1300" b="1" dirty="0">
                <a:solidFill>
                  <a:srgbClr val="E879F9"/>
                </a:solidFill>
                <a:latin typeface="Calibri" pitchFamily="34" charset="0"/>
                <a:ea typeface="Calibri" pitchFamily="34" charset="-122"/>
                <a:cs typeface="Calibri" pitchFamily="34" charset="-120"/>
              </a:rPr>
              <a:t>6.  </a:t>
            </a:r>
            <a:r>
              <a:rPr lang="en-US" sz="1300" dirty="0">
                <a:solidFill>
                  <a:srgbClr val="F8FAFC"/>
                </a:solidFill>
                <a:latin typeface="Calibri" pitchFamily="34" charset="0"/>
                <a:ea typeface="Calibri" pitchFamily="34" charset="-122"/>
                <a:cs typeface="Calibri" pitchFamily="34" charset="-120"/>
              </a:rPr>
              <a:t>Schedule a 1:1 with your mentor by Friday.</a:t>
            </a:r>
            <a:endParaRPr lang="en-US" sz="1300" dirty="0"/>
          </a:p>
        </p:txBody>
      </p:sp>
      <p:sp>
        <p:nvSpPr>
          <p:cNvPr id="36" name="Text 34"/>
          <p:cNvSpPr/>
          <p:nvPr/>
        </p:nvSpPr>
        <p:spPr>
          <a:xfrm>
            <a:off x="548640" y="6172200"/>
            <a:ext cx="11064240" cy="274320"/>
          </a:xfrm>
          <a:prstGeom prst="rect">
            <a:avLst/>
          </a:prstGeom>
          <a:noFill/>
          <a:ln/>
        </p:spPr>
        <p:txBody>
          <a:bodyPr wrap="square" lIns="0" tIns="0" rIns="0" bIns="0" rtlCol="0" anchor="ctr"/>
          <a:lstStyle/>
          <a:p>
            <a:pPr marL="0" indent="0" algn="ctr">
              <a:buNone/>
            </a:pPr>
            <a:r>
              <a:rPr lang="en-US" sz="1300" b="1" i="1" dirty="0">
                <a:solidFill>
                  <a:srgbClr val="22D3EE"/>
                </a:solidFill>
                <a:latin typeface="Calibri" pitchFamily="34" charset="0"/>
                <a:ea typeface="Calibri" pitchFamily="34" charset="-122"/>
                <a:cs typeface="Calibri" pitchFamily="34" charset="-120"/>
              </a:rPr>
              <a:t>Welcome to the team — go build something cool.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216</TotalTime>
  <Words>3045</Words>
  <Application>Microsoft Office PowerPoint</Application>
  <PresentationFormat>Widescreen</PresentationFormat>
  <Paragraphs>263</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Venkata Prasad KAPPA</dc:creator>
  <cp:lastModifiedBy>Venkata Prasad KAPPA</cp:lastModifiedBy>
  <cp:revision>1</cp:revision>
  <dcterms:created xsi:type="dcterms:W3CDTF">2026-06-09T04:00:13Z</dcterms:created>
  <dcterms:modified xsi:type="dcterms:W3CDTF">2026-06-09T07:36:45Z</dcterms:modified>
</cp:coreProperties>
</file>