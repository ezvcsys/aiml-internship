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3721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3716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0" y="31089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import pandas as pd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df = pd.read_csv('data.csv')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df.head()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df.describe()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09728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Pandas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Basics to Deep Dive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guide for Python developers exploring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with the pandas library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  |  python  |  data science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Pandas?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the go-to Python library for data manipulation and analysis. It provides high-performance, easy-to-use data structures and tools for working with structured data — making it indispensable for any data workflow.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54864" cy="594360"/>
          </a:xfrm>
          <a:prstGeom prst="rect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587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&amp; Efficient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optimized C code for high-performance operations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54864" cy="594360"/>
          </a:xfrm>
          <a:prstGeom prst="rect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3319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Flexible I/O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CSV, Excel, SQL, JSON, Parquet and more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54864" cy="594360"/>
          </a:xfrm>
          <a:prstGeom prst="rect">
            <a:avLst/>
          </a:prstGeom>
          <a:solidFill>
            <a:srgbClr val="FAB38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Rich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methods for filtering, grouping, merging, and reshaping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0" y="1188720"/>
            <a:ext cx="3657600" cy="3474720"/>
          </a:xfrm>
          <a:prstGeom prst="roundRect">
            <a:avLst>
              <a:gd name="adj" fmla="val 2632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166360" y="12984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321808" y="12984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477256" y="12984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166360" y="1508760"/>
            <a:ext cx="33832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pandas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 convention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check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print(pd.__version__)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2.2.0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Your data journey starts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pd.read_csv('dataset.csv')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Data Structures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has two primary data structures that handle virtually all use cases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labeled array capable of holding any data type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68680" y="25603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005840" y="26700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1161288" y="26700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316736" y="26700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05840" y="2880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pd.Series(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[10, 20, 30, 40],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index=['a','b','c','d']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print(s['b'])  # 20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print(s.mean()) # 25.0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63440" y="1463040"/>
            <a:ext cx="3840480" cy="3291840"/>
          </a:xfrm>
          <a:prstGeom prst="roundRect">
            <a:avLst>
              <a:gd name="adj" fmla="val 277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6459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892040" y="2103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Two-dimensional labeled data structure with columns of potentially different types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892040" y="256032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029200" y="26700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5184648" y="26700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340096" y="26700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5029200" y="2880360"/>
            <a:ext cx="3108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'name': ['Alice','Bob'],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'age': [25, 30],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'city': ['NY','LA']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 # (2, 3)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Creating DataFrames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ways to create a DataFrame from various sources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Dictionary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89280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32688" y="189280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88136" y="189280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'col1': [1, 2, 3],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'col2': ['a','b','c']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pd.DataFrame(data)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CSV File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7830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520440" y="189280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75888" y="189280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831336" y="189280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20440" y="21031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Read CSV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'data.csv',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index_col=0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Records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78308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263640" y="189280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419088" y="189280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574536" y="189280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63640" y="21031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 =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{'a': 1, 'b': 2},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{'a': 3, 'b': 4}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pd.DataFrame(records)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520440"/>
            <a:ext cx="8046720" cy="1280160"/>
          </a:xfrm>
          <a:prstGeom prst="roundRect">
            <a:avLst>
              <a:gd name="adj" fmla="val 7143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14400" y="3611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 I/O Formats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pd.read_excel('file.xlsx')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88036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8036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pd.read_json('file.json')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pd.read_sql(query, conn)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12280" y="39776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Parquet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4206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pd.read_parquet('f.parquet')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Exploring Your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49808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df.head(5)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 rows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2852928" y="12344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52928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rows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&amp; columns count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0" y="205740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852928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52928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data types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49808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type summary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0" y="292608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852928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52928" y="3291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49808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df.columns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37947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852928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df.value_counts()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52928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values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0" y="118872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166360" y="12984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321808" y="12984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477256" y="12984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166360" y="1508760"/>
            <a:ext cx="33832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pd.read_csv('sales.csv')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Quick overview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(1000, 8)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print(df.dtypes)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product    object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price     float64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qty         int64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price    qty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mean   29.99   5.2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std    12.41   3.1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Indexing &amp; Selection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Label-Based: .loc[]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77240" y="148132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932688" y="148132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088136" y="148132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by label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df.loc[0, 'name']         # Single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df.loc[0:3, ['name','age']] # Slice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df.loc[df['age'] &gt; 25]    # Conditional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Position-Based: .iloc[]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3840480" cy="1097280"/>
          </a:xfrm>
          <a:prstGeom prst="roundRect">
            <a:avLst>
              <a:gd name="adj" fmla="val 8333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83480" y="148132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38928" y="148132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94376" y="148132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83480" y="1691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Select by position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df.iloc[0, 1]          # Row 0, Col 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df.iloc[0:5, 0:3]     # First 5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df.iloc[:, -1]         # Last column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 Selection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3017520"/>
            <a:ext cx="8046720" cy="1417320"/>
          </a:xfrm>
          <a:prstGeom prst="roundRect">
            <a:avLst>
              <a:gd name="adj" fmla="val 6452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77240" y="31272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932688" y="31272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1088136" y="31272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77240" y="33375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column (returns Series)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                     # or df.name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columns (returns DataFrame)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df[['name', 'age', 'city']]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indexing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(df['age'] &gt; 25) &amp; (df['city'] == 'NY')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 = df[mask]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Filtering &amp; Querying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Conditions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77240" y="157276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932688" y="157276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088136" y="157276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condition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senior = df[df['age'] &gt;= 30]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conditions (use &amp; | ~)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df[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(df['dept'] == 'Sales')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(df['salary'] &gt; 50000)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.query() Method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46320" y="14630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83480" y="157276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38928" y="157276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94376" y="157276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83480" y="17830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Cleaner syntax for filtering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df.query(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'dept == "Sales" and salary &gt; 50000'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variables with @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min_sal = 50000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df.query('salary &gt; @min_sal')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Useful Filtering Methods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37033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77240" y="38130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932688" y="38130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1088136" y="38130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7724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df['col'].isin(['A','B','C'])    # Match against a list of values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df['col'].between(10, 50)        # Range check (inclusive)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df['col'].str.contains('pattern') # String pattern matching (regex supported)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Manipulation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Adding &amp; Modifying Columns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57276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32688" y="157276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88136" y="157276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New column from calculation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df['total'] = df['price'] * df['qty']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Apply a function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df['grade'] = df['score'].apply(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lambda x: 'A' if x &gt; 90 else 'B'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Sorting &amp; Renaming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983480" y="157276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138928" y="157276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294376" y="157276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83480" y="178308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df.sort_values('price',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ascending=False)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Rename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'old_name': 'new_name'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Dropping &amp; Transforming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77240" y="38130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32688" y="38130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088136" y="38130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4023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df.drop(columns=['temp_col'])             # Drop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df.drop_duplicates(subset=['email'])       # Remove duplicate rows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 = df['name'].str.upper()        # Transform string values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Handling Missing Data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 is inevitable in real-world datasets. Pandas uses NaN (Not a Number) to represent missing values and provides robust tools to handle them.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E2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Detect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77240" y="207568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932688" y="207568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1088136" y="207568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Check for nulls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Percentage missing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df.isnull().mean()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* 100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9184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291840" y="196596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3429000" y="207568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584448" y="207568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739896" y="207568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429000" y="228600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Fill with value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df.fillna(0)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fill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method='ffill')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943600" y="19659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080760" y="207568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236208" y="207568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391656" y="207568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080760" y="22860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rows with NaN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Drop if all NaN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how='all')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3566160"/>
            <a:ext cx="8046720" cy="1097280"/>
          </a:xfrm>
          <a:prstGeom prst="roundRect">
            <a:avLst>
              <a:gd name="adj" fmla="val 8333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9144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Guide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14400" y="3886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A6E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5% missing → </a:t>
            </a: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safely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5-30% missing → </a:t>
            </a: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with mean/median/mode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3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30% missing → </a:t>
            </a: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dropping the column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GroupBy Operations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51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Split-Apply-Combine Pattern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data by key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17520" y="14630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017520" y="1481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01752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aggregation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14630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394960" y="1481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394960" y="1783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results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8892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166360" y="15544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40080" y="23317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77240" y="24414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32688" y="24414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1088136" y="24414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77240" y="265176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groupby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df.groupby('dept')['salary'].mean()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aggregations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df.groupby('dept').agg({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'salary': ['mean', 'max'],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'bonus': 'sum'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by multiple columns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df.groupby(['dept','year']).sum()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46320" y="233172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983480" y="244144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138928" y="244144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294376" y="244144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983480" y="265176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aggregation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salary_range(x):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x.max() - x.min()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df.groupby('dept')['salary']\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.agg(salary_range)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Transform (broadcast back)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df['dept_avg'] = df.groupby(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'dept')['salary'].transform(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'mean')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Merging &amp; Joining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0972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0080" y="1115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rows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743200" y="10972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2743200" y="1115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74320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left + matching right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0972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4846320" y="1115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84632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 + matching left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49440" y="109728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949440" y="11155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949440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from both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20116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777240" y="212140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932688" y="212140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1088136" y="212140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77240" y="23317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on a common column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merged = pd.merge(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orders, customers,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on='customer_id',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how='left'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Merge on different column names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pd.merge(df1, df2, left_on='id',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right_on='user_id')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846320" y="20116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983480" y="212140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5138928" y="212140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294376" y="212140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983480" y="2331720"/>
            <a:ext cx="3566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Concatenate DataFrames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= pd.concat(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[df1, df2, df3],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ignore_index=True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Join on index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df1.join(df2, how='inner')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40080" y="393192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91440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</a:t>
            </a: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the shape of your merged DataFrame. Unexpected row multiplication usually means duplicate keys in your join columns. Use </a:t>
            </a: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validate='one_to_one'</a:t>
            </a: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catch this early.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Tables &amp; Reshaping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Tables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77240" y="157276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932688" y="157276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088136" y="157276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3657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pivot table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 = df.pivot_table(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values='revenue',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index='region',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columns='quarter',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aggfunc='sum',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fill_value=0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Melt (Wide to Long)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46320" y="1463040"/>
            <a:ext cx="3840480" cy="1920240"/>
          </a:xfrm>
          <a:prstGeom prst="roundRect">
            <a:avLst>
              <a:gd name="adj" fmla="val 4762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83480" y="157276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38928" y="157276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94376" y="157276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83480" y="178308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Unpivot a DataFrame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long_df = pd.melt(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id_vars=['name'],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value_vars=['Q1','Q2','Q3'],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var_name='quarter',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value_name='sales'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3520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&amp; Unstack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" y="3840480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77240" y="395020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932688" y="395020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1088136" y="395020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7724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df.stack()        # Columns → rows (creates MultiIndex)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df.unstack()      # Rows → columns (reverse of stack)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df.set_index(['a','b']).unstack('b')  # Custom reshaping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&amp; DateTime Ops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411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BA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Accessor (.str)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777240" y="157276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932688" y="157276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088136" y="157276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7240" y="1783080"/>
            <a:ext cx="36576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Common string operations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df['name'].str.lower()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df['name'].str.upper()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df['name'].str.strip()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df['name'].str.replace('old','new')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df['name'].str.contains('pattern')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df['name'].str.split('_')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with regex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df['email'].str.extract(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r'@(\w+\.\w+)')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 Accessor (.dt)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846320" y="146304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1111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983480" y="1572768"/>
            <a:ext cx="109728" cy="109728"/>
          </a:xfrm>
          <a:prstGeom prst="ellipse">
            <a:avLst/>
          </a:prstGeom>
          <a:solidFill>
            <a:srgbClr val="F38B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138928" y="1572768"/>
            <a:ext cx="109728" cy="109728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94376" y="1572768"/>
            <a:ext cx="109728" cy="109728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83480" y="1783080"/>
            <a:ext cx="3566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to datetime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df['date'] = pd.to_datetime(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df['date'])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components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df['date'].dt.year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df['date'].dt.month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df['date'].dt.day_name()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Time-based filtering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recent = df[df['date'] &gt;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'2025-01-01']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40080" y="3931920"/>
            <a:ext cx="8046720" cy="777240"/>
          </a:xfrm>
          <a:prstGeom prst="roundRect">
            <a:avLst>
              <a:gd name="adj" fmla="val 11765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14400" y="39776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E2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Tip: </a:t>
            </a: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datetime as index with </a:t>
            </a: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df.set_index('date')</a:t>
            </a:r>
            <a:r>
              <a:rPr lang="en-US" sz="12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unlock powerful resampling: </a:t>
            </a:r>
            <a:r>
              <a:rPr lang="en-US" sz="12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df.resample('M').mean()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Tips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Vectorized Operations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Slow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417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range(len(df)):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df.loc[i,'new'] = df.loc[i,'a'] *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1417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Fast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32120" y="14173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df['new'] = df['a'] *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 Data Types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Slow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4592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int64 uses 8 bytes/value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df['age'].dtype  # int64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Fast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32120" y="2697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df['age'] = df['age'].astype('int8')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Reduces memory by 87%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8046720" cy="1143000"/>
          </a:xfrm>
          <a:prstGeom prst="roundRect">
            <a:avLst>
              <a:gd name="adj" fmla="val 6400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8680" y="37033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Categorical for Repeats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✗ Slow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4592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String column with few unique 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df['status'].memory_usage()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3977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Fast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3212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df['status'] = df['status'].astype(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'category')  # 90%+ memory savings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A2A3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Exploring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a vast library.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BAC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makes fluent.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657600" y="457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3657600" y="1051560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3794760" y="1197864"/>
            <a:ext cx="182880" cy="182880"/>
          </a:xfrm>
          <a:prstGeom prst="ellipse">
            <a:avLst/>
          </a:prstGeom>
          <a:solidFill>
            <a:srgbClr val="89B4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114800" y="10698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and DataFrame are the building blocks of all pandas operations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0" y="1645920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794760" y="1792224"/>
            <a:ext cx="182880" cy="182880"/>
          </a:xfrm>
          <a:prstGeom prst="ellipse">
            <a:avLst/>
          </a:prstGeom>
          <a:solidFill>
            <a:srgbClr val="FAB38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114800" y="166420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.loc for labels and .iloc for positions — never mix them up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0" y="2240280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3794760" y="2386584"/>
            <a:ext cx="182880" cy="182880"/>
          </a:xfrm>
          <a:prstGeom prst="ellipse">
            <a:avLst/>
          </a:prstGeom>
          <a:solidFill>
            <a:srgbClr val="94E2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114800" y="22585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follows split-apply-combine for powerful aggregations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0" y="2834640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3794760" y="2980944"/>
            <a:ext cx="182880" cy="182880"/>
          </a:xfrm>
          <a:prstGeom prst="ellipse">
            <a:avLst/>
          </a:prstGeom>
          <a:solidFill>
            <a:srgbClr val="F9E2A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4114800" y="28529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handle missing data before analysis or modeling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0" y="3429000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3794760" y="3575304"/>
            <a:ext cx="182880" cy="182880"/>
          </a:xfrm>
          <a:prstGeom prst="ellipse">
            <a:avLst/>
          </a:prstGeom>
          <a:solidFill>
            <a:srgbClr val="A6E3A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114800" y="344728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are orders of magnitude faster than loops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0" y="4023360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3132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3794760" y="4169664"/>
            <a:ext cx="182880" cy="182880"/>
          </a:xfrm>
          <a:prstGeom prst="ellipse">
            <a:avLst/>
          </a:prstGeom>
          <a:solidFill>
            <a:srgbClr val="CBA6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114800" y="404164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merge type — inner, left, right, or outer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657600" y="4572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7600" y="4800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C2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pandas.pydata.org  |  kaggle.com/learn/pandas  |  realpython.com/pandas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</TotalTime>
  <Words>2028</Words>
  <Application>Microsoft Office PowerPoint</Application>
  <PresentationFormat>On-screen Show (16:9)</PresentationFormat>
  <Paragraphs>361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1</cp:revision>
  <dcterms:created xsi:type="dcterms:W3CDTF">2026-05-19T03:06:01Z</dcterms:created>
  <dcterms:modified xsi:type="dcterms:W3CDTF">2026-05-20T08:02:34Z</dcterms:modified>
</cp:coreProperties>
</file>